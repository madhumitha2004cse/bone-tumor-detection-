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sldIdLst>
    <p:sldId id="488" r:id="rId2"/>
    <p:sldId id="481" r:id="rId3"/>
    <p:sldId id="257" r:id="rId4"/>
    <p:sldId id="259" r:id="rId5"/>
    <p:sldId id="482" r:id="rId6"/>
    <p:sldId id="483" r:id="rId7"/>
    <p:sldId id="484" r:id="rId8"/>
    <p:sldId id="485" r:id="rId9"/>
    <p:sldId id="264" r:id="rId10"/>
    <p:sldId id="486" r:id="rId11"/>
    <p:sldId id="487" r:id="rId12"/>
    <p:sldId id="268" r:id="rId13"/>
  </p:sldIdLst>
  <p:sldSz cx="10333038" cy="7237413"/>
  <p:notesSz cx="6858000" cy="9144000"/>
  <p:defaultTextStyle>
    <a:defPPr>
      <a:defRPr lang="en-US"/>
    </a:defPPr>
    <a:lvl1pPr marL="0" algn="l" defTabSz="502006" rtl="0" eaLnBrk="1" latinLnBrk="0" hangingPunct="1">
      <a:defRPr sz="2000" kern="1200">
        <a:solidFill>
          <a:schemeClr val="tx1"/>
        </a:solidFill>
        <a:latin typeface="+mn-lt"/>
        <a:ea typeface="+mn-ea"/>
        <a:cs typeface="+mn-cs"/>
      </a:defRPr>
    </a:lvl1pPr>
    <a:lvl2pPr marL="502006" algn="l" defTabSz="502006" rtl="0" eaLnBrk="1" latinLnBrk="0" hangingPunct="1">
      <a:defRPr sz="2000" kern="1200">
        <a:solidFill>
          <a:schemeClr val="tx1"/>
        </a:solidFill>
        <a:latin typeface="+mn-lt"/>
        <a:ea typeface="+mn-ea"/>
        <a:cs typeface="+mn-cs"/>
      </a:defRPr>
    </a:lvl2pPr>
    <a:lvl3pPr marL="1004011" algn="l" defTabSz="502006" rtl="0" eaLnBrk="1" latinLnBrk="0" hangingPunct="1">
      <a:defRPr sz="2000" kern="1200">
        <a:solidFill>
          <a:schemeClr val="tx1"/>
        </a:solidFill>
        <a:latin typeface="+mn-lt"/>
        <a:ea typeface="+mn-ea"/>
        <a:cs typeface="+mn-cs"/>
      </a:defRPr>
    </a:lvl3pPr>
    <a:lvl4pPr marL="1506017" algn="l" defTabSz="502006" rtl="0" eaLnBrk="1" latinLnBrk="0" hangingPunct="1">
      <a:defRPr sz="2000" kern="1200">
        <a:solidFill>
          <a:schemeClr val="tx1"/>
        </a:solidFill>
        <a:latin typeface="+mn-lt"/>
        <a:ea typeface="+mn-ea"/>
        <a:cs typeface="+mn-cs"/>
      </a:defRPr>
    </a:lvl4pPr>
    <a:lvl5pPr marL="2008022" algn="l" defTabSz="502006" rtl="0" eaLnBrk="1" latinLnBrk="0" hangingPunct="1">
      <a:defRPr sz="2000" kern="1200">
        <a:solidFill>
          <a:schemeClr val="tx1"/>
        </a:solidFill>
        <a:latin typeface="+mn-lt"/>
        <a:ea typeface="+mn-ea"/>
        <a:cs typeface="+mn-cs"/>
      </a:defRPr>
    </a:lvl5pPr>
    <a:lvl6pPr marL="2510028" algn="l" defTabSz="502006" rtl="0" eaLnBrk="1" latinLnBrk="0" hangingPunct="1">
      <a:defRPr sz="2000" kern="1200">
        <a:solidFill>
          <a:schemeClr val="tx1"/>
        </a:solidFill>
        <a:latin typeface="+mn-lt"/>
        <a:ea typeface="+mn-ea"/>
        <a:cs typeface="+mn-cs"/>
      </a:defRPr>
    </a:lvl6pPr>
    <a:lvl7pPr marL="3012034" algn="l" defTabSz="502006" rtl="0" eaLnBrk="1" latinLnBrk="0" hangingPunct="1">
      <a:defRPr sz="2000" kern="1200">
        <a:solidFill>
          <a:schemeClr val="tx1"/>
        </a:solidFill>
        <a:latin typeface="+mn-lt"/>
        <a:ea typeface="+mn-ea"/>
        <a:cs typeface="+mn-cs"/>
      </a:defRPr>
    </a:lvl7pPr>
    <a:lvl8pPr marL="3514039" algn="l" defTabSz="502006" rtl="0" eaLnBrk="1" latinLnBrk="0" hangingPunct="1">
      <a:defRPr sz="2000" kern="1200">
        <a:solidFill>
          <a:schemeClr val="tx1"/>
        </a:solidFill>
        <a:latin typeface="+mn-lt"/>
        <a:ea typeface="+mn-ea"/>
        <a:cs typeface="+mn-cs"/>
      </a:defRPr>
    </a:lvl8pPr>
    <a:lvl9pPr marL="4016045" algn="l" defTabSz="502006"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280">
          <p15:clr>
            <a:srgbClr val="A4A3A4"/>
          </p15:clr>
        </p15:guide>
        <p15:guide id="4" pos="325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1440" y="67"/>
      </p:cViewPr>
      <p:guideLst>
        <p:guide orient="horz" pos="2160"/>
        <p:guide pos="2880"/>
        <p:guide orient="horz" pos="2280"/>
        <p:guide pos="325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618843" y="379809"/>
            <a:ext cx="8369761" cy="1553631"/>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618843" y="1952417"/>
            <a:ext cx="8369761" cy="1849561"/>
          </a:xfrm>
        </p:spPr>
        <p:txBody>
          <a:bodyPr tIns="0"/>
          <a:lstStyle>
            <a:lvl1pPr marL="30120" indent="0" algn="l">
              <a:buNone/>
              <a:defRPr sz="2900">
                <a:solidFill>
                  <a:schemeClr val="tx2">
                    <a:shade val="30000"/>
                    <a:satMod val="150000"/>
                  </a:schemeClr>
                </a:solidFill>
              </a:defRPr>
            </a:lvl1pPr>
            <a:lvl2pPr marL="502006" indent="0" algn="ctr">
              <a:buNone/>
            </a:lvl2pPr>
            <a:lvl3pPr marL="1004011" indent="0" algn="ctr">
              <a:buNone/>
            </a:lvl3pPr>
            <a:lvl4pPr marL="1506017" indent="0" algn="ctr">
              <a:buNone/>
            </a:lvl4pPr>
            <a:lvl5pPr marL="2008022" indent="0" algn="ctr">
              <a:buNone/>
            </a:lvl5pPr>
            <a:lvl6pPr marL="2510028" indent="0" algn="ctr">
              <a:buNone/>
            </a:lvl6pPr>
            <a:lvl7pPr marL="3012034" indent="0" algn="ctr">
              <a:buNone/>
            </a:lvl7pPr>
            <a:lvl8pPr marL="3514039" indent="0" algn="ctr">
              <a:buNone/>
            </a:lvl8pPr>
            <a:lvl9pPr marL="4016045"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5BCAD085-E8A6-8845-BD4E-CB4CCA059FC4}" type="datetimeFigureOut">
              <a:rPr lang="en-US" smtClean="0"/>
              <a:t>3/17/2026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
        <p:nvSpPr>
          <p:cNvPr id="8" name="Oval 7"/>
          <p:cNvSpPr/>
          <p:nvPr/>
        </p:nvSpPr>
        <p:spPr>
          <a:xfrm>
            <a:off x="1041251" y="1492020"/>
            <a:ext cx="237660" cy="221947"/>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100401" tIns="50201" rIns="100401" bIns="50201" anchor="ctr"/>
          <a:lstStyle/>
          <a:p>
            <a:pPr algn="ctr" eaLnBrk="1" latinLnBrk="0" hangingPunct="1"/>
            <a:endParaRPr kumimoji="0" lang="en-US"/>
          </a:p>
        </p:txBody>
      </p:sp>
      <p:sp>
        <p:nvSpPr>
          <p:cNvPr id="9" name="Oval 8"/>
          <p:cNvSpPr/>
          <p:nvPr/>
        </p:nvSpPr>
        <p:spPr>
          <a:xfrm>
            <a:off x="1307649" y="1419428"/>
            <a:ext cx="72331" cy="67549"/>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100401" tIns="50201" rIns="100401" bIns="50201"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579745" y="-57"/>
            <a:ext cx="7749779" cy="723747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2" name="Title 1"/>
          <p:cNvSpPr>
            <a:spLocks noGrp="1"/>
          </p:cNvSpPr>
          <p:nvPr>
            <p:ph type="title"/>
          </p:nvPr>
        </p:nvSpPr>
        <p:spPr>
          <a:xfrm>
            <a:off x="2913672" y="2744186"/>
            <a:ext cx="7233127" cy="2412471"/>
          </a:xfrm>
        </p:spPr>
        <p:txBody>
          <a:bodyPr anchor="t"/>
          <a:lstStyle>
            <a:lvl1pPr algn="l">
              <a:lnSpc>
                <a:spcPts val="4941"/>
              </a:lnSpc>
              <a:buNone/>
              <a:defRPr sz="4400" b="1" cap="all"/>
            </a:lvl1pPr>
            <a:extLst/>
          </a:lstStyle>
          <a:p>
            <a:r>
              <a:rPr kumimoji="0" lang="en-US"/>
              <a:t>Click to edit Master title style</a:t>
            </a:r>
          </a:p>
        </p:txBody>
      </p:sp>
      <p:sp>
        <p:nvSpPr>
          <p:cNvPr id="3" name="Text Placeholder 2"/>
          <p:cNvSpPr>
            <a:spLocks noGrp="1"/>
          </p:cNvSpPr>
          <p:nvPr>
            <p:ph type="body" idx="1"/>
          </p:nvPr>
        </p:nvSpPr>
        <p:spPr>
          <a:xfrm>
            <a:off x="2913672" y="1125820"/>
            <a:ext cx="7233127" cy="1593236"/>
          </a:xfrm>
        </p:spPr>
        <p:txBody>
          <a:bodyPr anchor="b"/>
          <a:lstStyle>
            <a:lvl1pPr marL="20080" indent="0">
              <a:lnSpc>
                <a:spcPts val="2525"/>
              </a:lnSpc>
              <a:spcBef>
                <a:spcPts val="0"/>
              </a:spcBef>
              <a:buNone/>
              <a:defRPr sz="2200">
                <a:solidFill>
                  <a:schemeClr val="tx2">
                    <a:shade val="30000"/>
                    <a:satMod val="150000"/>
                  </a:schemeClr>
                </a:solidFill>
              </a:defRPr>
            </a:lvl1pPr>
            <a:lvl2pPr>
              <a:buNone/>
              <a:defRPr sz="2000">
                <a:solidFill>
                  <a:schemeClr val="tx1">
                    <a:tint val="75000"/>
                  </a:schemeClr>
                </a:solidFill>
              </a:defRPr>
            </a:lvl2pPr>
            <a:lvl3pPr>
              <a:buNone/>
              <a:defRPr sz="1800">
                <a:solidFill>
                  <a:schemeClr val="tx1">
                    <a:tint val="75000"/>
                  </a:schemeClr>
                </a:solidFill>
              </a:defRPr>
            </a:lvl3pPr>
            <a:lvl4pPr>
              <a:buNone/>
              <a:defRPr sz="1500">
                <a:solidFill>
                  <a:schemeClr val="tx1">
                    <a:tint val="75000"/>
                  </a:schemeClr>
                </a:solidFill>
              </a:defRPr>
            </a:lvl4pPr>
            <a:lvl5pPr>
              <a:buNone/>
              <a:defRPr sz="15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0" name="Rectangle 9"/>
          <p:cNvSpPr/>
          <p:nvPr/>
        </p:nvSpPr>
        <p:spPr bwMode="invGray">
          <a:xfrm>
            <a:off x="2583259" y="0"/>
            <a:ext cx="86109" cy="723747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8" name="Oval 7"/>
          <p:cNvSpPr/>
          <p:nvPr/>
        </p:nvSpPr>
        <p:spPr>
          <a:xfrm>
            <a:off x="2454798" y="2970375"/>
            <a:ext cx="237660" cy="221947"/>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100401" tIns="50201" rIns="100401" bIns="50201" anchor="ctr"/>
          <a:lstStyle/>
          <a:p>
            <a:pPr algn="ctr" eaLnBrk="1" latinLnBrk="0" hangingPunct="1"/>
            <a:endParaRPr kumimoji="0" lang="en-US"/>
          </a:p>
        </p:txBody>
      </p:sp>
      <p:sp>
        <p:nvSpPr>
          <p:cNvPr id="9" name="Oval 8"/>
          <p:cNvSpPr/>
          <p:nvPr/>
        </p:nvSpPr>
        <p:spPr>
          <a:xfrm>
            <a:off x="2721196" y="2897783"/>
            <a:ext cx="72331" cy="67549"/>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lIns="100401" tIns="50201" rIns="100401" bIns="50201"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22287" y="289496"/>
            <a:ext cx="8473091" cy="1206236"/>
          </a:xfrm>
        </p:spPr>
        <p:txBody>
          <a:bodyPr/>
          <a:lstStyle/>
          <a:p>
            <a:r>
              <a:rPr kumimoji="0" lang="en-US"/>
              <a:t>Click to edit Master title style</a:t>
            </a:r>
          </a:p>
        </p:txBody>
      </p:sp>
      <p:sp>
        <p:nvSpPr>
          <p:cNvPr id="3" name="Content Placeholder 2"/>
          <p:cNvSpPr>
            <a:spLocks noGrp="1"/>
          </p:cNvSpPr>
          <p:nvPr>
            <p:ph sz="half" idx="1"/>
          </p:nvPr>
        </p:nvSpPr>
        <p:spPr>
          <a:xfrm>
            <a:off x="1622287" y="1608314"/>
            <a:ext cx="4133215" cy="4921441"/>
          </a:xfrm>
        </p:spPr>
        <p:txBody>
          <a:bodyPr/>
          <a:lstStyle>
            <a:lvl1pPr>
              <a:defRPr sz="3100"/>
            </a:lvl1pPr>
            <a:lvl2pPr>
              <a:defRPr sz="2600"/>
            </a:lvl2pPr>
            <a:lvl3pPr>
              <a:defRPr sz="22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962163" y="1608314"/>
            <a:ext cx="4133215" cy="4921441"/>
          </a:xfrm>
        </p:spPr>
        <p:txBody>
          <a:bodyPr/>
          <a:lstStyle>
            <a:lvl1pPr>
              <a:defRPr sz="3100"/>
            </a:lvl1pPr>
            <a:lvl2pPr>
              <a:defRPr sz="2600"/>
            </a:lvl2pPr>
            <a:lvl3pPr>
              <a:defRPr sz="22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6652" y="5445827"/>
            <a:ext cx="9299734" cy="1206236"/>
          </a:xfrm>
        </p:spPr>
        <p:txBody>
          <a:bodyPr anchor="ctr"/>
          <a:lstStyle>
            <a:lvl1pPr algn="ctr">
              <a:defRPr sz="4900" b="1" cap="none" baseline="0"/>
            </a:lvl1pPr>
            <a:extLst/>
          </a:lstStyle>
          <a:p>
            <a:r>
              <a:rPr kumimoji="0" lang="en-US"/>
              <a:t>Click to edit Master title style</a:t>
            </a:r>
          </a:p>
        </p:txBody>
      </p:sp>
      <p:sp>
        <p:nvSpPr>
          <p:cNvPr id="3" name="Text Placeholder 2"/>
          <p:cNvSpPr>
            <a:spLocks noGrp="1"/>
          </p:cNvSpPr>
          <p:nvPr>
            <p:ph type="body" idx="1"/>
          </p:nvPr>
        </p:nvSpPr>
        <p:spPr>
          <a:xfrm>
            <a:off x="516652" y="346440"/>
            <a:ext cx="4546537" cy="675492"/>
          </a:xfrm>
          <a:solidFill>
            <a:schemeClr val="bg1"/>
          </a:solidFill>
          <a:ln w="10795">
            <a:solidFill>
              <a:schemeClr val="bg1"/>
            </a:solidFill>
            <a:miter lim="800000"/>
          </a:ln>
        </p:spPr>
        <p:txBody>
          <a:bodyPr anchor="ctr"/>
          <a:lstStyle>
            <a:lvl1pPr marL="70281" indent="0" algn="l">
              <a:lnSpc>
                <a:spcPct val="100000"/>
              </a:lnSpc>
              <a:spcBef>
                <a:spcPts val="110"/>
              </a:spcBef>
              <a:buNone/>
              <a:defRPr sz="2100" b="0">
                <a:solidFill>
                  <a:schemeClr val="tx1"/>
                </a:solidFill>
              </a:defRPr>
            </a:lvl1pPr>
            <a:lvl2pPr>
              <a:buNone/>
              <a:defRPr sz="2200" b="1"/>
            </a:lvl2pPr>
            <a:lvl3pPr>
              <a:buNone/>
              <a:defRPr sz="2000" b="1"/>
            </a:lvl3pPr>
            <a:lvl4pPr>
              <a:buNone/>
              <a:defRPr sz="1800" b="1"/>
            </a:lvl4pPr>
            <a:lvl5pPr>
              <a:buNone/>
              <a:defRPr sz="18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269849" y="346440"/>
            <a:ext cx="4546537" cy="675492"/>
          </a:xfrm>
          <a:solidFill>
            <a:schemeClr val="bg1"/>
          </a:solidFill>
          <a:ln w="10795">
            <a:solidFill>
              <a:schemeClr val="bg1"/>
            </a:solidFill>
            <a:miter lim="800000"/>
          </a:ln>
        </p:spPr>
        <p:txBody>
          <a:bodyPr anchor="ctr"/>
          <a:lstStyle>
            <a:lvl1pPr marL="70281" indent="0" algn="l">
              <a:lnSpc>
                <a:spcPct val="100000"/>
              </a:lnSpc>
              <a:spcBef>
                <a:spcPts val="110"/>
              </a:spcBef>
              <a:buNone/>
              <a:defRPr sz="2100" b="0">
                <a:solidFill>
                  <a:schemeClr val="tx1"/>
                </a:solidFill>
              </a:defRPr>
            </a:lvl1pPr>
            <a:lvl2pPr>
              <a:buNone/>
              <a:defRPr sz="2200" b="1"/>
            </a:lvl2pPr>
            <a:lvl3pPr>
              <a:buNone/>
              <a:defRPr sz="2000" b="1"/>
            </a:lvl3pPr>
            <a:lvl4pPr>
              <a:buNone/>
              <a:defRPr sz="1800" b="1"/>
            </a:lvl4pPr>
            <a:lvl5pPr>
              <a:buNone/>
              <a:defRPr sz="18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516652" y="1022964"/>
            <a:ext cx="4546537" cy="4342448"/>
          </a:xfrm>
          <a:ln w="10795">
            <a:solidFill>
              <a:schemeClr val="bg1"/>
            </a:solidFill>
            <a:prstDash val="dash"/>
            <a:miter lim="800000"/>
          </a:ln>
        </p:spPr>
        <p:txBody>
          <a:bodyPr/>
          <a:lstStyle>
            <a:lvl1pPr marL="431725" indent="-301203">
              <a:lnSpc>
                <a:spcPct val="100000"/>
              </a:lnSpc>
              <a:spcBef>
                <a:spcPts val="769"/>
              </a:spcBef>
              <a:defRPr sz="2600"/>
            </a:lvl1pPr>
            <a:lvl2pPr>
              <a:lnSpc>
                <a:spcPct val="100000"/>
              </a:lnSpc>
              <a:spcBef>
                <a:spcPts val="769"/>
              </a:spcBef>
              <a:defRPr sz="2200"/>
            </a:lvl2pPr>
            <a:lvl3pPr>
              <a:lnSpc>
                <a:spcPct val="100000"/>
              </a:lnSpc>
              <a:spcBef>
                <a:spcPts val="769"/>
              </a:spcBef>
              <a:defRPr sz="2000"/>
            </a:lvl3pPr>
            <a:lvl4pPr>
              <a:lnSpc>
                <a:spcPct val="100000"/>
              </a:lnSpc>
              <a:spcBef>
                <a:spcPts val="769"/>
              </a:spcBef>
              <a:defRPr sz="1800"/>
            </a:lvl4pPr>
            <a:lvl5pPr>
              <a:lnSpc>
                <a:spcPct val="100000"/>
              </a:lnSpc>
              <a:spcBef>
                <a:spcPts val="769"/>
              </a:spcBef>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5269849" y="1022964"/>
            <a:ext cx="4546537" cy="4342448"/>
          </a:xfrm>
          <a:ln w="10795">
            <a:solidFill>
              <a:schemeClr val="bg1"/>
            </a:solidFill>
            <a:prstDash val="dash"/>
            <a:miter lim="800000"/>
          </a:ln>
        </p:spPr>
        <p:txBody>
          <a:bodyPr/>
          <a:lstStyle>
            <a:lvl1pPr marL="431725" indent="-301203">
              <a:lnSpc>
                <a:spcPct val="100000"/>
              </a:lnSpc>
              <a:spcBef>
                <a:spcPts val="769"/>
              </a:spcBef>
              <a:defRPr sz="2600"/>
            </a:lvl1pPr>
            <a:lvl2pPr>
              <a:lnSpc>
                <a:spcPct val="100000"/>
              </a:lnSpc>
              <a:spcBef>
                <a:spcPts val="769"/>
              </a:spcBef>
              <a:defRPr sz="2200"/>
            </a:lvl2pPr>
            <a:lvl3pPr>
              <a:lnSpc>
                <a:spcPct val="100000"/>
              </a:lnSpc>
              <a:spcBef>
                <a:spcPts val="769"/>
              </a:spcBef>
              <a:defRPr sz="2000"/>
            </a:lvl3pPr>
            <a:lvl4pPr>
              <a:lnSpc>
                <a:spcPct val="100000"/>
              </a:lnSpc>
              <a:spcBef>
                <a:spcPts val="769"/>
              </a:spcBef>
              <a:defRPr sz="1800"/>
            </a:lvl4pPr>
            <a:lvl5pPr>
              <a:lnSpc>
                <a:spcPct val="100000"/>
              </a:lnSpc>
              <a:spcBef>
                <a:spcPts val="769"/>
              </a:spcBef>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22287" y="289496"/>
            <a:ext cx="8473091" cy="1206236"/>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146967" y="0"/>
            <a:ext cx="9186071" cy="7237413"/>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5BCAD085-E8A6-8845-BD4E-CB4CCA059FC4}"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
        <p:nvSpPr>
          <p:cNvPr id="6" name="Rectangle 5"/>
          <p:cNvSpPr/>
          <p:nvPr/>
        </p:nvSpPr>
        <p:spPr bwMode="invGray">
          <a:xfrm>
            <a:off x="1146967" y="-57"/>
            <a:ext cx="82664" cy="723747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6652" y="228771"/>
            <a:ext cx="4305433" cy="1226339"/>
          </a:xfrm>
          <a:ln>
            <a:noFill/>
          </a:ln>
        </p:spPr>
        <p:txBody>
          <a:bodyPr anchor="b"/>
          <a:lstStyle>
            <a:lvl1pPr algn="l">
              <a:lnSpc>
                <a:spcPts val="2196"/>
              </a:lnSpc>
              <a:buNone/>
              <a:defRPr sz="2400" b="1" cap="all" baseline="0"/>
            </a:lvl1pPr>
            <a:extLst/>
          </a:lstStyle>
          <a:p>
            <a:r>
              <a:rPr kumimoji="0" lang="en-US"/>
              <a:t>Click to edit Master title style</a:t>
            </a:r>
          </a:p>
        </p:txBody>
      </p:sp>
      <p:sp>
        <p:nvSpPr>
          <p:cNvPr id="3" name="Text Placeholder 2"/>
          <p:cNvSpPr>
            <a:spLocks noGrp="1"/>
          </p:cNvSpPr>
          <p:nvPr>
            <p:ph type="body" idx="2"/>
          </p:nvPr>
        </p:nvSpPr>
        <p:spPr>
          <a:xfrm>
            <a:off x="516652" y="1484803"/>
            <a:ext cx="4305433" cy="737144"/>
          </a:xfrm>
        </p:spPr>
        <p:txBody>
          <a:bodyPr/>
          <a:lstStyle>
            <a:lvl1pPr marL="50201" indent="0">
              <a:lnSpc>
                <a:spcPct val="100000"/>
              </a:lnSpc>
              <a:spcBef>
                <a:spcPts val="0"/>
              </a:spcBef>
              <a:buNone/>
              <a:defRPr sz="1500"/>
            </a:lvl1pPr>
            <a:lvl2pPr>
              <a:buNone/>
              <a:defRPr sz="1300"/>
            </a:lvl2pPr>
            <a:lvl3pPr>
              <a:buNone/>
              <a:defRPr sz="1100"/>
            </a:lvl3pPr>
            <a:lvl4pPr>
              <a:buNone/>
              <a:defRPr sz="1000"/>
            </a:lvl4pPr>
            <a:lvl5pPr>
              <a:buNone/>
              <a:defRPr sz="10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516652" y="2251640"/>
            <a:ext cx="9213626" cy="4213448"/>
          </a:xfrm>
        </p:spPr>
        <p:txBody>
          <a:bodyPr/>
          <a:lstStyle>
            <a:lvl1pPr>
              <a:defRPr sz="3500"/>
            </a:lvl1pPr>
            <a:lvl2pPr>
              <a:defRPr sz="3100"/>
            </a:lvl2pPr>
            <a:lvl3pPr>
              <a:defRPr sz="2600"/>
            </a:lvl3pPr>
            <a:lvl4pPr>
              <a:defRPr sz="2200"/>
            </a:lvl4pPr>
            <a:lvl5pPr>
              <a:defRPr sz="22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52397" y="1125820"/>
            <a:ext cx="3099911" cy="2090808"/>
          </a:xfrm>
        </p:spPr>
        <p:txBody>
          <a:bodyPr anchor="b">
            <a:noAutofit/>
          </a:bodyPr>
          <a:lstStyle>
            <a:lvl1pPr algn="l">
              <a:buNone/>
              <a:defRPr sz="23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5BCAD085-E8A6-8845-BD4E-CB4CCA059FC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8" name="Rectangle 7"/>
          <p:cNvSpPr/>
          <p:nvPr/>
        </p:nvSpPr>
        <p:spPr>
          <a:xfrm>
            <a:off x="861087" y="1125820"/>
            <a:ext cx="5166519" cy="4824942"/>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100401" tIns="301203" rIns="100401" bIns="50201" rtlCol="0" anchor="t">
            <a:normAutofit/>
          </a:bodyPr>
          <a:lstStyle/>
          <a:p>
            <a:pPr marL="0" indent="-311243" algn="l" rtl="0" eaLnBrk="1" latinLnBrk="0" hangingPunct="1">
              <a:lnSpc>
                <a:spcPts val="3294"/>
              </a:lnSpc>
              <a:spcBef>
                <a:spcPts val="659"/>
              </a:spcBef>
              <a:buClr>
                <a:schemeClr val="accent1"/>
              </a:buClr>
              <a:buSzPct val="80000"/>
              <a:buFont typeface="Wingdings 2"/>
              <a:buNone/>
            </a:pPr>
            <a:endParaRPr kumimoji="0" lang="en-US" sz="3500" kern="1200">
              <a:solidFill>
                <a:schemeClr val="tx1"/>
              </a:solidFill>
              <a:latin typeface="+mn-lt"/>
              <a:ea typeface="+mn-ea"/>
              <a:cs typeface="+mn-cs"/>
            </a:endParaRPr>
          </a:p>
        </p:txBody>
      </p:sp>
      <p:sp>
        <p:nvSpPr>
          <p:cNvPr id="3" name="Picture Placeholder 2"/>
          <p:cNvSpPr>
            <a:spLocks noGrp="1"/>
          </p:cNvSpPr>
          <p:nvPr>
            <p:ph type="pic" idx="1"/>
          </p:nvPr>
        </p:nvSpPr>
        <p:spPr>
          <a:xfrm>
            <a:off x="947195" y="1206239"/>
            <a:ext cx="4994302" cy="3708969"/>
          </a:xfrm>
          <a:prstGeom prst="roundRect">
            <a:avLst>
              <a:gd name="adj" fmla="val 783"/>
            </a:avLst>
          </a:prstGeom>
          <a:solidFill>
            <a:schemeClr val="bg2"/>
          </a:solidFill>
          <a:ln w="127000">
            <a:noFill/>
            <a:miter lim="800000"/>
          </a:ln>
          <a:effectLst/>
        </p:spPr>
        <p:txBody>
          <a:bodyPr lIns="100401" tIns="301203" anchor="t"/>
          <a:lstStyle>
            <a:lvl1pPr marL="0" indent="0" algn="l" eaLnBrk="1" latinLnBrk="0" hangingPunct="1">
              <a:buNone/>
              <a:defRPr sz="35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448313" y="1007139"/>
            <a:ext cx="774978" cy="21561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10" name="Flowchart: Process 9"/>
          <p:cNvSpPr/>
          <p:nvPr/>
        </p:nvSpPr>
        <p:spPr>
          <a:xfrm rot="2103354" flipH="1">
            <a:off x="5654318" y="988613"/>
            <a:ext cx="733646" cy="21561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dirty="0"/>
          </a:p>
        </p:txBody>
      </p:sp>
      <p:sp>
        <p:nvSpPr>
          <p:cNvPr id="4" name="Text Placeholder 3"/>
          <p:cNvSpPr>
            <a:spLocks noGrp="1"/>
          </p:cNvSpPr>
          <p:nvPr>
            <p:ph type="body" sz="half" idx="2"/>
          </p:nvPr>
        </p:nvSpPr>
        <p:spPr>
          <a:xfrm>
            <a:off x="947195" y="5066189"/>
            <a:ext cx="4994302" cy="804157"/>
          </a:xfrm>
        </p:spPr>
        <p:txBody>
          <a:bodyPr anchor="ctr"/>
          <a:lstStyle>
            <a:lvl1pPr marL="0" indent="0" algn="l">
              <a:lnSpc>
                <a:spcPts val="1757"/>
              </a:lnSpc>
              <a:spcBef>
                <a:spcPts val="0"/>
              </a:spcBef>
              <a:buNone/>
              <a:defRPr sz="1500">
                <a:solidFill>
                  <a:srgbClr val="777777"/>
                </a:solidFill>
              </a:defRPr>
            </a:lvl1pPr>
            <a:lvl2pPr>
              <a:defRPr sz="1300"/>
            </a:lvl2pPr>
            <a:lvl3pPr>
              <a:defRPr sz="1100"/>
            </a:lvl3pPr>
            <a:lvl4pPr>
              <a:defRPr sz="1000"/>
            </a:lvl4pPr>
            <a:lvl5pPr>
              <a:defRPr sz="10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49778" y="289834"/>
            <a:ext cx="2066608" cy="6175256"/>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291630" y="289835"/>
            <a:ext cx="6285931" cy="617525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922025" y="-861062"/>
            <a:ext cx="1851999" cy="172955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8" name="Oval 7"/>
          <p:cNvSpPr/>
          <p:nvPr/>
        </p:nvSpPr>
        <p:spPr>
          <a:xfrm>
            <a:off x="190769" y="22270"/>
            <a:ext cx="1923535" cy="1796363"/>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11" name="Donut 10"/>
          <p:cNvSpPr/>
          <p:nvPr/>
        </p:nvSpPr>
        <p:spPr>
          <a:xfrm rot="2315675">
            <a:off x="206663" y="1113448"/>
            <a:ext cx="1272099" cy="1163626"/>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12" name="Rectangle 11"/>
          <p:cNvSpPr/>
          <p:nvPr/>
        </p:nvSpPr>
        <p:spPr>
          <a:xfrm>
            <a:off x="1144582" y="-57"/>
            <a:ext cx="9188456" cy="723747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
        <p:nvSpPr>
          <p:cNvPr id="5" name="Title Placeholder 4"/>
          <p:cNvSpPr>
            <a:spLocks noGrp="1"/>
          </p:cNvSpPr>
          <p:nvPr>
            <p:ph type="title"/>
          </p:nvPr>
        </p:nvSpPr>
        <p:spPr>
          <a:xfrm>
            <a:off x="1622287" y="289832"/>
            <a:ext cx="8473091" cy="1206236"/>
          </a:xfrm>
          <a:prstGeom prst="rect">
            <a:avLst/>
          </a:prstGeom>
        </p:spPr>
        <p:txBody>
          <a:bodyPr lIns="100401" tIns="50201" rIns="100401" bIns="50201" anchor="ctr">
            <a:normAutofit/>
          </a:bodyPr>
          <a:lstStyle/>
          <a:p>
            <a:r>
              <a:rPr kumimoji="0" lang="en-US"/>
              <a:t>Click to edit Master title style</a:t>
            </a:r>
          </a:p>
        </p:txBody>
      </p:sp>
      <p:sp>
        <p:nvSpPr>
          <p:cNvPr id="9" name="Text Placeholder 8"/>
          <p:cNvSpPr>
            <a:spLocks noGrp="1"/>
          </p:cNvSpPr>
          <p:nvPr>
            <p:ph type="body" idx="1"/>
          </p:nvPr>
        </p:nvSpPr>
        <p:spPr>
          <a:xfrm>
            <a:off x="1622287" y="1527898"/>
            <a:ext cx="8473091" cy="5066189"/>
          </a:xfrm>
          <a:prstGeom prst="rect">
            <a:avLst/>
          </a:prstGeom>
        </p:spPr>
        <p:txBody>
          <a:bodyPr lIns="100401" tIns="50201" rIns="100401" bIns="50201">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047107" y="6654399"/>
            <a:ext cx="2411042" cy="502598"/>
          </a:xfrm>
          <a:prstGeom prst="rect">
            <a:avLst/>
          </a:prstGeom>
        </p:spPr>
        <p:txBody>
          <a:bodyPr lIns="100401" tIns="50201" rIns="100401" bIns="50201" anchor="b"/>
          <a:lstStyle>
            <a:lvl1pPr algn="r" eaLnBrk="1" latinLnBrk="0" hangingPunct="1">
              <a:defRPr kumimoji="0" sz="1300">
                <a:solidFill>
                  <a:schemeClr val="bg2">
                    <a:shade val="50000"/>
                    <a:satMod val="200000"/>
                  </a:schemeClr>
                </a:solidFill>
              </a:defRPr>
            </a:lvl1pPr>
            <a:extLst/>
          </a:lstStyle>
          <a:p>
            <a:fld id="{5BCAD085-E8A6-8845-BD4E-CB4CCA059FC4}" type="datetimeFigureOut">
              <a:rPr lang="en-US" smtClean="0"/>
              <a:t>3/17/2026</a:t>
            </a:fld>
            <a:endParaRPr lang="en-US"/>
          </a:p>
        </p:txBody>
      </p:sp>
      <p:sp>
        <p:nvSpPr>
          <p:cNvPr id="10" name="Footer Placeholder 9"/>
          <p:cNvSpPr>
            <a:spLocks noGrp="1"/>
          </p:cNvSpPr>
          <p:nvPr>
            <p:ph type="ftr" sz="quarter" idx="3"/>
          </p:nvPr>
        </p:nvSpPr>
        <p:spPr>
          <a:xfrm>
            <a:off x="6458149" y="6654399"/>
            <a:ext cx="3272129" cy="502598"/>
          </a:xfrm>
          <a:prstGeom prst="rect">
            <a:avLst/>
          </a:prstGeom>
        </p:spPr>
        <p:txBody>
          <a:bodyPr lIns="100401" tIns="50201" rIns="100401" bIns="50201" anchor="b"/>
          <a:lstStyle>
            <a:lvl1pPr eaLnBrk="1" latinLnBrk="0" hangingPunct="1">
              <a:defRPr kumimoji="0" sz="13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9733722" y="6654399"/>
            <a:ext cx="516652" cy="502598"/>
          </a:xfrm>
          <a:prstGeom prst="rect">
            <a:avLst/>
          </a:prstGeom>
        </p:spPr>
        <p:txBody>
          <a:bodyPr lIns="100401" tIns="50201" rIns="100401" bIns="50201" anchor="b"/>
          <a:lstStyle>
            <a:lvl1pPr algn="ctr" eaLnBrk="1" latinLnBrk="0" hangingPunct="1">
              <a:defRPr kumimoji="0" sz="1300">
                <a:solidFill>
                  <a:schemeClr val="bg2">
                    <a:shade val="50000"/>
                    <a:satMod val="200000"/>
                  </a:schemeClr>
                </a:solidFill>
                <a:effectLst/>
              </a:defRPr>
            </a:lvl1pPr>
            <a:extLst/>
          </a:lstStyle>
          <a:p>
            <a:fld id="{C1FF6DA9-008F-8B48-92A6-B652298478BF}" type="slidenum">
              <a:rPr lang="en-US" smtClean="0"/>
              <a:t>‹#›</a:t>
            </a:fld>
            <a:endParaRPr lang="en-US"/>
          </a:p>
        </p:txBody>
      </p:sp>
      <p:sp>
        <p:nvSpPr>
          <p:cNvPr id="15" name="Rectangle 14"/>
          <p:cNvSpPr/>
          <p:nvPr/>
        </p:nvSpPr>
        <p:spPr bwMode="invGray">
          <a:xfrm>
            <a:off x="1146967" y="-57"/>
            <a:ext cx="82664" cy="723747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lIns="100401" tIns="50201" rIns="100401" bIns="50201"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rtl="0" eaLnBrk="1" latinLnBrk="0" hangingPunct="1">
        <a:spcBef>
          <a:spcPct val="0"/>
        </a:spcBef>
        <a:buNone/>
        <a:defRPr kumimoji="0" sz="47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401604" indent="-311243" algn="l" rtl="0" eaLnBrk="1" latinLnBrk="0" hangingPunct="1">
        <a:lnSpc>
          <a:spcPct val="100000"/>
        </a:lnSpc>
        <a:spcBef>
          <a:spcPts val="659"/>
        </a:spcBef>
        <a:buClr>
          <a:schemeClr val="accent1"/>
        </a:buClr>
        <a:buSzPct val="80000"/>
        <a:buFont typeface="Wingdings 2"/>
        <a:buChar char=""/>
        <a:defRPr kumimoji="0" sz="3500" kern="1200">
          <a:solidFill>
            <a:schemeClr val="tx1"/>
          </a:solidFill>
          <a:latin typeface="+mn-lt"/>
          <a:ea typeface="+mn-ea"/>
          <a:cs typeface="+mn-cs"/>
        </a:defRPr>
      </a:lvl1pPr>
      <a:lvl2pPr marL="702808" indent="-261043" algn="l" rtl="0" eaLnBrk="1" latinLnBrk="0" hangingPunct="1">
        <a:lnSpc>
          <a:spcPct val="100000"/>
        </a:lnSpc>
        <a:spcBef>
          <a:spcPts val="604"/>
        </a:spcBef>
        <a:buClr>
          <a:schemeClr val="accent1"/>
        </a:buClr>
        <a:buFont typeface="Verdana"/>
        <a:buChar char="◦"/>
        <a:defRPr kumimoji="0" sz="3100" kern="1200">
          <a:solidFill>
            <a:schemeClr val="tx1"/>
          </a:solidFill>
          <a:latin typeface="+mn-lt"/>
          <a:ea typeface="+mn-ea"/>
          <a:cs typeface="+mn-cs"/>
        </a:defRPr>
      </a:lvl2pPr>
      <a:lvl3pPr marL="973891" indent="-251003" algn="l" rtl="0" eaLnBrk="1" latinLnBrk="0" hangingPunct="1">
        <a:lnSpc>
          <a:spcPct val="100000"/>
        </a:lnSpc>
        <a:spcBef>
          <a:spcPct val="20000"/>
        </a:spcBef>
        <a:buClr>
          <a:schemeClr val="accent2"/>
        </a:buClr>
        <a:buFont typeface="Wingdings 2"/>
        <a:buChar char=""/>
        <a:defRPr kumimoji="0" sz="2600" kern="1200">
          <a:solidFill>
            <a:schemeClr val="tx1"/>
          </a:solidFill>
          <a:latin typeface="+mn-lt"/>
          <a:ea typeface="+mn-ea"/>
          <a:cs typeface="+mn-cs"/>
        </a:defRPr>
      </a:lvl3pPr>
      <a:lvl4pPr marL="1204813" indent="-190762" algn="l" rtl="0" eaLnBrk="1" latinLnBrk="0" hangingPunct="1">
        <a:lnSpc>
          <a:spcPct val="100000"/>
        </a:lnSpc>
        <a:spcBef>
          <a:spcPct val="20000"/>
        </a:spcBef>
        <a:buClr>
          <a:schemeClr val="accent3"/>
        </a:buClr>
        <a:buFont typeface="Wingdings 2"/>
        <a:buChar char=""/>
        <a:defRPr kumimoji="0" sz="2200" kern="1200">
          <a:solidFill>
            <a:schemeClr val="tx1"/>
          </a:solidFill>
          <a:latin typeface="+mn-lt"/>
          <a:ea typeface="+mn-ea"/>
          <a:cs typeface="+mn-cs"/>
        </a:defRPr>
      </a:lvl4pPr>
      <a:lvl5pPr marL="1425696" indent="-200802" algn="l" rtl="0" eaLnBrk="1" latinLnBrk="0" hangingPunct="1">
        <a:lnSpc>
          <a:spcPct val="100000"/>
        </a:lnSpc>
        <a:spcBef>
          <a:spcPct val="20000"/>
        </a:spcBef>
        <a:buClr>
          <a:schemeClr val="accent4"/>
        </a:buClr>
        <a:buFont typeface="Wingdings 2"/>
        <a:buChar char=""/>
        <a:defRPr kumimoji="0" sz="2200" kern="1200">
          <a:solidFill>
            <a:schemeClr val="tx1"/>
          </a:solidFill>
          <a:latin typeface="+mn-lt"/>
          <a:ea typeface="+mn-ea"/>
          <a:cs typeface="+mn-cs"/>
        </a:defRPr>
      </a:lvl5pPr>
      <a:lvl6pPr marL="1656618" indent="-200802" algn="l" rtl="0" eaLnBrk="1" latinLnBrk="0" hangingPunct="1">
        <a:lnSpc>
          <a:spcPct val="100000"/>
        </a:lnSpc>
        <a:spcBef>
          <a:spcPct val="20000"/>
        </a:spcBef>
        <a:buClr>
          <a:schemeClr val="accent5"/>
        </a:buClr>
        <a:buFont typeface="Wingdings 2"/>
        <a:buChar char=""/>
        <a:defRPr kumimoji="0" sz="2200" kern="1200">
          <a:solidFill>
            <a:schemeClr val="tx1"/>
          </a:solidFill>
          <a:latin typeface="+mn-lt"/>
          <a:ea typeface="+mn-ea"/>
          <a:cs typeface="+mn-cs"/>
        </a:defRPr>
      </a:lvl6pPr>
      <a:lvl7pPr marL="1887541" indent="-200802" algn="l" rtl="0" eaLnBrk="1" latinLnBrk="0" hangingPunct="1">
        <a:lnSpc>
          <a:spcPct val="100000"/>
        </a:lnSpc>
        <a:spcBef>
          <a:spcPct val="20000"/>
        </a:spcBef>
        <a:buClr>
          <a:schemeClr val="accent6"/>
        </a:buClr>
        <a:buFont typeface="Wingdings 2"/>
        <a:buChar char=""/>
        <a:defRPr kumimoji="0" sz="2200" kern="1200">
          <a:solidFill>
            <a:schemeClr val="tx1"/>
          </a:solidFill>
          <a:latin typeface="+mn-lt"/>
          <a:ea typeface="+mn-ea"/>
          <a:cs typeface="+mn-cs"/>
        </a:defRPr>
      </a:lvl7pPr>
      <a:lvl8pPr marL="2108424" indent="-200802" algn="l" rtl="0" eaLnBrk="1" latinLnBrk="0" hangingPunct="1">
        <a:lnSpc>
          <a:spcPct val="100000"/>
        </a:lnSpc>
        <a:spcBef>
          <a:spcPct val="20000"/>
        </a:spcBef>
        <a:buClr>
          <a:schemeClr val="accent6"/>
        </a:buClr>
        <a:buFont typeface="Wingdings 2"/>
        <a:buChar char=""/>
        <a:defRPr kumimoji="0" sz="2200" kern="1200">
          <a:solidFill>
            <a:schemeClr val="tx1"/>
          </a:solidFill>
          <a:latin typeface="+mn-lt"/>
          <a:ea typeface="+mn-ea"/>
          <a:cs typeface="+mn-cs"/>
        </a:defRPr>
      </a:lvl8pPr>
      <a:lvl9pPr marL="2339346" indent="-200802" algn="l" rtl="0" eaLnBrk="1" latinLnBrk="0" hangingPunct="1">
        <a:lnSpc>
          <a:spcPct val="100000"/>
        </a:lnSpc>
        <a:spcBef>
          <a:spcPct val="20000"/>
        </a:spcBef>
        <a:buClr>
          <a:schemeClr val="accent6"/>
        </a:buClr>
        <a:buFont typeface="Wingdings 2"/>
        <a:buChar char=""/>
        <a:defRPr kumimoji="0" sz="22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502006" algn="l" rtl="0" eaLnBrk="1" latinLnBrk="0" hangingPunct="1">
        <a:defRPr kumimoji="0" kern="1200">
          <a:solidFill>
            <a:schemeClr val="tx1"/>
          </a:solidFill>
          <a:latin typeface="+mn-lt"/>
          <a:ea typeface="+mn-ea"/>
          <a:cs typeface="+mn-cs"/>
        </a:defRPr>
      </a:lvl2pPr>
      <a:lvl3pPr marL="1004011" algn="l" rtl="0" eaLnBrk="1" latinLnBrk="0" hangingPunct="1">
        <a:defRPr kumimoji="0" kern="1200">
          <a:solidFill>
            <a:schemeClr val="tx1"/>
          </a:solidFill>
          <a:latin typeface="+mn-lt"/>
          <a:ea typeface="+mn-ea"/>
          <a:cs typeface="+mn-cs"/>
        </a:defRPr>
      </a:lvl3pPr>
      <a:lvl4pPr marL="1506017" algn="l" rtl="0" eaLnBrk="1" latinLnBrk="0" hangingPunct="1">
        <a:defRPr kumimoji="0" kern="1200">
          <a:solidFill>
            <a:schemeClr val="tx1"/>
          </a:solidFill>
          <a:latin typeface="+mn-lt"/>
          <a:ea typeface="+mn-ea"/>
          <a:cs typeface="+mn-cs"/>
        </a:defRPr>
      </a:lvl4pPr>
      <a:lvl5pPr marL="2008022" algn="l" rtl="0" eaLnBrk="1" latinLnBrk="0" hangingPunct="1">
        <a:defRPr kumimoji="0" kern="1200">
          <a:solidFill>
            <a:schemeClr val="tx1"/>
          </a:solidFill>
          <a:latin typeface="+mn-lt"/>
          <a:ea typeface="+mn-ea"/>
          <a:cs typeface="+mn-cs"/>
        </a:defRPr>
      </a:lvl5pPr>
      <a:lvl6pPr marL="2510028" algn="l" rtl="0" eaLnBrk="1" latinLnBrk="0" hangingPunct="1">
        <a:defRPr kumimoji="0" kern="1200">
          <a:solidFill>
            <a:schemeClr val="tx1"/>
          </a:solidFill>
          <a:latin typeface="+mn-lt"/>
          <a:ea typeface="+mn-ea"/>
          <a:cs typeface="+mn-cs"/>
        </a:defRPr>
      </a:lvl6pPr>
      <a:lvl7pPr marL="3012034" algn="l" rtl="0" eaLnBrk="1" latinLnBrk="0" hangingPunct="1">
        <a:defRPr kumimoji="0" kern="1200">
          <a:solidFill>
            <a:schemeClr val="tx1"/>
          </a:solidFill>
          <a:latin typeface="+mn-lt"/>
          <a:ea typeface="+mn-ea"/>
          <a:cs typeface="+mn-cs"/>
        </a:defRPr>
      </a:lvl7pPr>
      <a:lvl8pPr marL="3514039" algn="l" rtl="0" eaLnBrk="1" latinLnBrk="0" hangingPunct="1">
        <a:defRPr kumimoji="0" kern="1200">
          <a:solidFill>
            <a:schemeClr val="tx1"/>
          </a:solidFill>
          <a:latin typeface="+mn-lt"/>
          <a:ea typeface="+mn-ea"/>
          <a:cs typeface="+mn-cs"/>
        </a:defRPr>
      </a:lvl8pPr>
      <a:lvl9pPr marL="4016045"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30286" y="1874578"/>
            <a:ext cx="7765938" cy="1551353"/>
          </a:xfrm>
        </p:spPr>
        <p:txBody>
          <a:bodyPr>
            <a:noAutofit/>
          </a:bodyPr>
          <a:lstStyle/>
          <a:p>
            <a:pPr algn="ctr"/>
            <a:r>
              <a:rPr lang="en-US" sz="2600" b="1" dirty="0">
                <a:solidFill>
                  <a:schemeClr val="tx1"/>
                </a:solidFill>
                <a:latin typeface="Times New Roman" pitchFamily="18" charset="0"/>
                <a:cs typeface="Times New Roman" pitchFamily="18" charset="0"/>
              </a:rPr>
              <a:t>Explainable AI-Driven Bone Tumor Detection Using Hybrid </a:t>
            </a:r>
            <a:r>
              <a:rPr lang="en-US" sz="2600" b="1" dirty="0" err="1">
                <a:solidFill>
                  <a:schemeClr val="tx1"/>
                </a:solidFill>
                <a:latin typeface="Times New Roman" pitchFamily="18" charset="0"/>
                <a:cs typeface="Times New Roman" pitchFamily="18" charset="0"/>
              </a:rPr>
              <a:t>ResNet</a:t>
            </a:r>
            <a:r>
              <a:rPr lang="en-US" sz="2600" b="1" dirty="0">
                <a:solidFill>
                  <a:schemeClr val="tx1"/>
                </a:solidFill>
                <a:latin typeface="Times New Roman" pitchFamily="18" charset="0"/>
                <a:cs typeface="Times New Roman" pitchFamily="18" charset="0"/>
              </a:rPr>
              <a:t>, </a:t>
            </a:r>
            <a:r>
              <a:rPr lang="en-US" sz="2600" b="1" dirty="0" err="1">
                <a:solidFill>
                  <a:schemeClr val="tx1"/>
                </a:solidFill>
                <a:latin typeface="Times New Roman" pitchFamily="18" charset="0"/>
                <a:cs typeface="Times New Roman" pitchFamily="18" charset="0"/>
              </a:rPr>
              <a:t>EfficientNet</a:t>
            </a:r>
            <a:r>
              <a:rPr lang="en-US" sz="2600" b="1" dirty="0">
                <a:solidFill>
                  <a:schemeClr val="tx1"/>
                </a:solidFill>
                <a:latin typeface="Times New Roman" pitchFamily="18" charset="0"/>
                <a:cs typeface="Times New Roman" pitchFamily="18" charset="0"/>
              </a:rPr>
              <a:t>, and </a:t>
            </a:r>
            <a:r>
              <a:rPr lang="en-US" sz="2600" b="1" dirty="0" err="1">
                <a:solidFill>
                  <a:schemeClr val="tx1"/>
                </a:solidFill>
                <a:latin typeface="Times New Roman" pitchFamily="18" charset="0"/>
                <a:cs typeface="Times New Roman" pitchFamily="18" charset="0"/>
              </a:rPr>
              <a:t>ViT</a:t>
            </a:r>
            <a:r>
              <a:rPr lang="en-US" sz="2600" b="1" dirty="0">
                <a:solidFill>
                  <a:schemeClr val="tx1"/>
                </a:solidFill>
                <a:latin typeface="Times New Roman" pitchFamily="18" charset="0"/>
                <a:cs typeface="Times New Roman" pitchFamily="18" charset="0"/>
              </a:rPr>
              <a:t> Models</a:t>
            </a:r>
          </a:p>
        </p:txBody>
      </p:sp>
      <p:pic>
        <p:nvPicPr>
          <p:cNvPr id="3" name="Image 1"/>
          <p:cNvPicPr/>
          <p:nvPr/>
        </p:nvPicPr>
        <p:blipFill>
          <a:blip r:embed="rId2" cstate="print"/>
          <a:stretch>
            <a:fillRect/>
          </a:stretch>
        </p:blipFill>
        <p:spPr>
          <a:xfrm>
            <a:off x="365599" y="123084"/>
            <a:ext cx="9194984" cy="1519836"/>
          </a:xfrm>
          <a:prstGeom prst="rect">
            <a:avLst/>
          </a:prstGeom>
        </p:spPr>
      </p:pic>
      <p:sp>
        <p:nvSpPr>
          <p:cNvPr id="4" name="TextBox 3"/>
          <p:cNvSpPr txBox="1"/>
          <p:nvPr/>
        </p:nvSpPr>
        <p:spPr>
          <a:xfrm>
            <a:off x="2155772" y="1874576"/>
            <a:ext cx="6346980" cy="409159"/>
          </a:xfrm>
          <a:prstGeom prst="rect">
            <a:avLst/>
          </a:prstGeom>
          <a:noFill/>
        </p:spPr>
        <p:txBody>
          <a:bodyPr wrap="square" lIns="100401" tIns="50201" rIns="100401" bIns="50201" rtlCol="0">
            <a:spAutoFit/>
          </a:bodyPr>
          <a:lstStyle/>
          <a:p>
            <a:r>
              <a:rPr lang="en-US" b="1" dirty="0">
                <a:latin typeface="Times New Roman" pitchFamily="18" charset="0"/>
                <a:cs typeface="Times New Roman" pitchFamily="18" charset="0"/>
              </a:rPr>
              <a:t>Department of Computer Science and Engineering</a:t>
            </a:r>
            <a:endParaRPr lang="en-US" dirty="0">
              <a:latin typeface="Times New Roman" pitchFamily="18" charset="0"/>
              <a:cs typeface="Times New Roman" pitchFamily="18" charset="0"/>
            </a:endParaRPr>
          </a:p>
        </p:txBody>
      </p:sp>
      <p:sp>
        <p:nvSpPr>
          <p:cNvPr id="5" name="TextBox 4"/>
          <p:cNvSpPr txBox="1"/>
          <p:nvPr/>
        </p:nvSpPr>
        <p:spPr>
          <a:xfrm>
            <a:off x="1600199" y="3922675"/>
            <a:ext cx="2778653" cy="2255818"/>
          </a:xfrm>
          <a:prstGeom prst="rect">
            <a:avLst/>
          </a:prstGeom>
          <a:noFill/>
        </p:spPr>
        <p:txBody>
          <a:bodyPr wrap="square" lIns="100401" tIns="50201" rIns="100401" bIns="50201" rtlCol="0">
            <a:spAutoFit/>
          </a:bodyPr>
          <a:lstStyle/>
          <a:p>
            <a:pPr algn="just">
              <a:lnSpc>
                <a:spcPct val="150000"/>
              </a:lnSpc>
            </a:pPr>
            <a:r>
              <a:rPr lang="en-US" b="1" dirty="0">
                <a:latin typeface="Times New Roman" pitchFamily="18" charset="0"/>
                <a:cs typeface="Times New Roman" pitchFamily="18" charset="0"/>
              </a:rPr>
              <a:t>Second Review</a:t>
            </a:r>
          </a:p>
          <a:p>
            <a:pPr algn="just">
              <a:lnSpc>
                <a:spcPct val="150000"/>
              </a:lnSpc>
            </a:pPr>
            <a:r>
              <a:rPr lang="en-US" b="1" dirty="0">
                <a:latin typeface="Times New Roman" pitchFamily="18" charset="0"/>
                <a:cs typeface="Times New Roman" pitchFamily="18" charset="0"/>
              </a:rPr>
              <a:t>Presented by:</a:t>
            </a:r>
          </a:p>
          <a:p>
            <a:pPr algn="just"/>
            <a:r>
              <a:rPr lang="en-US" dirty="0" err="1">
                <a:latin typeface="Times New Roman" pitchFamily="18" charset="0"/>
                <a:cs typeface="Times New Roman" pitchFamily="18" charset="0"/>
              </a:rPr>
              <a:t>Vidhya</a:t>
            </a:r>
            <a:r>
              <a:rPr lang="en-US" dirty="0">
                <a:latin typeface="Times New Roman" pitchFamily="18" charset="0"/>
                <a:cs typeface="Times New Roman" pitchFamily="18" charset="0"/>
              </a:rPr>
              <a:t> G</a:t>
            </a:r>
          </a:p>
          <a:p>
            <a:pPr algn="just"/>
            <a:r>
              <a:rPr lang="en-US" dirty="0" err="1">
                <a:latin typeface="Times New Roman" pitchFamily="18" charset="0"/>
                <a:cs typeface="Times New Roman" pitchFamily="18" charset="0"/>
              </a:rPr>
              <a:t>Madhumitha</a:t>
            </a:r>
            <a:r>
              <a:rPr lang="en-US" dirty="0">
                <a:latin typeface="Times New Roman" pitchFamily="18" charset="0"/>
                <a:cs typeface="Times New Roman" pitchFamily="18" charset="0"/>
              </a:rPr>
              <a:t> R</a:t>
            </a:r>
          </a:p>
          <a:p>
            <a:pPr algn="just"/>
            <a:r>
              <a:rPr lang="en-US" dirty="0" err="1">
                <a:latin typeface="Times New Roman" pitchFamily="18" charset="0"/>
                <a:cs typeface="Times New Roman" pitchFamily="18" charset="0"/>
              </a:rPr>
              <a:t>Shrimathi</a:t>
            </a:r>
            <a:r>
              <a:rPr lang="en-US" dirty="0">
                <a:latin typeface="Times New Roman" pitchFamily="18" charset="0"/>
                <a:cs typeface="Times New Roman" pitchFamily="18" charset="0"/>
              </a:rPr>
              <a:t> K</a:t>
            </a:r>
          </a:p>
          <a:p>
            <a:pPr algn="just"/>
            <a:r>
              <a:rPr lang="en-US" dirty="0" err="1">
                <a:latin typeface="Times New Roman" pitchFamily="18" charset="0"/>
                <a:cs typeface="Times New Roman" pitchFamily="18" charset="0"/>
              </a:rPr>
              <a:t>Shobana</a:t>
            </a:r>
            <a:r>
              <a:rPr lang="en-US" dirty="0">
                <a:latin typeface="Times New Roman" pitchFamily="18" charset="0"/>
                <a:cs typeface="Times New Roman" pitchFamily="18" charset="0"/>
              </a:rPr>
              <a:t> R</a:t>
            </a:r>
          </a:p>
        </p:txBody>
      </p:sp>
      <p:sp>
        <p:nvSpPr>
          <p:cNvPr id="6" name="TextBox 5"/>
          <p:cNvSpPr txBox="1"/>
          <p:nvPr/>
        </p:nvSpPr>
        <p:spPr>
          <a:xfrm>
            <a:off x="6387093" y="4026584"/>
            <a:ext cx="3173490" cy="1640265"/>
          </a:xfrm>
          <a:prstGeom prst="rect">
            <a:avLst/>
          </a:prstGeom>
          <a:noFill/>
        </p:spPr>
        <p:txBody>
          <a:bodyPr wrap="square" lIns="100401" tIns="50201" rIns="100401" bIns="50201" rtlCol="0">
            <a:spAutoFit/>
          </a:bodyPr>
          <a:lstStyle/>
          <a:p>
            <a:r>
              <a:rPr lang="en-US" b="1" dirty="0">
                <a:latin typeface="Times New Roman" pitchFamily="18" charset="0"/>
                <a:cs typeface="Times New Roman" pitchFamily="18" charset="0"/>
              </a:rPr>
              <a:t>Date:  </a:t>
            </a:r>
            <a:r>
              <a:rPr lang="en-US" dirty="0">
                <a:latin typeface="Times New Roman" pitchFamily="18" charset="0"/>
                <a:cs typeface="Times New Roman" pitchFamily="18" charset="0"/>
              </a:rPr>
              <a:t>20/02/26</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Guided By</a:t>
            </a:r>
          </a:p>
          <a:p>
            <a:r>
              <a:rPr lang="en-US" dirty="0">
                <a:latin typeface="Times New Roman" pitchFamily="18" charset="0"/>
                <a:cs typeface="Times New Roman" pitchFamily="18" charset="0"/>
              </a:rPr>
              <a:t>Mrs. </a:t>
            </a:r>
            <a:r>
              <a:rPr lang="en-US" dirty="0" err="1">
                <a:latin typeface="Times New Roman" pitchFamily="18" charset="0"/>
                <a:cs typeface="Times New Roman" pitchFamily="18" charset="0"/>
              </a:rPr>
              <a:t>Bhuvanesawari</a:t>
            </a:r>
            <a:r>
              <a:rPr lang="en-US" dirty="0">
                <a:latin typeface="Times New Roman" pitchFamily="18" charset="0"/>
                <a:cs typeface="Times New Roman" pitchFamily="18" charset="0"/>
              </a:rPr>
              <a:t> R (A/P CSE)</a:t>
            </a:r>
          </a:p>
        </p:txBody>
      </p:sp>
    </p:spTree>
    <p:extLst>
      <p:ext uri="{BB962C8B-B14F-4D97-AF65-F5344CB8AC3E}">
        <p14:creationId xmlns:p14="http://schemas.microsoft.com/office/powerpoint/2010/main" val="4151760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p:txBody>
          <a:bodyPr>
            <a:normAutofit fontScale="85000" lnSpcReduction="10000"/>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Bone tumor detection from medical images is essential for early diagnosis and effective treatment planning. Traditional CNN-based approaches often provide limited interpretability and may struggle to capture complex image features. This project proposes an explainable AI-driven hybrid deep learning framework that integrates ResNet-50, </a:t>
            </a:r>
            <a:r>
              <a:rPr lang="en-US" sz="2400" dirty="0" err="1">
                <a:latin typeface="Times New Roman" panose="02020603050405020304" pitchFamily="18" charset="0"/>
                <a:cs typeface="Times New Roman" panose="02020603050405020304" pitchFamily="18" charset="0"/>
              </a:rPr>
              <a:t>EfficientNet</a:t>
            </a:r>
            <a:r>
              <a:rPr lang="en-US" sz="2400" dirty="0">
                <a:latin typeface="Times New Roman" panose="02020603050405020304" pitchFamily="18" charset="0"/>
                <a:cs typeface="Times New Roman" panose="02020603050405020304" pitchFamily="18" charset="0"/>
              </a:rPr>
              <a:t>, and Vision Transformer (</a:t>
            </a:r>
            <a:r>
              <a:rPr lang="en-US" sz="2400" dirty="0" err="1">
                <a:latin typeface="Times New Roman" panose="02020603050405020304" pitchFamily="18" charset="0"/>
                <a:cs typeface="Times New Roman" panose="02020603050405020304" pitchFamily="18" charset="0"/>
              </a:rPr>
              <a:t>ViT</a:t>
            </a:r>
            <a:r>
              <a:rPr lang="en-US" sz="2400" dirty="0">
                <a:latin typeface="Times New Roman" panose="02020603050405020304" pitchFamily="18" charset="0"/>
                <a:cs typeface="Times New Roman" panose="02020603050405020304" pitchFamily="18" charset="0"/>
              </a:rPr>
              <a:t>) models for improved feature extraction and classification. Advanced preprocessing techniques such as CLAHE and morphological operations are applied to enhance image quality and highlight tumor regions. Grad-CAM visualization is incorporated to provide explainable insights, helping clinicians understand the model’s decision-making process and improving reliability in medical diagnosis.</a:t>
            </a:r>
          </a:p>
        </p:txBody>
      </p:sp>
    </p:spTree>
    <p:extLst>
      <p:ext uri="{BB962C8B-B14F-4D97-AF65-F5344CB8AC3E}">
        <p14:creationId xmlns:p14="http://schemas.microsoft.com/office/powerpoint/2010/main" val="914434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1622286" y="1683761"/>
            <a:ext cx="8473091" cy="5066189"/>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Bone tumors are abnormal growths of bone tissue that can be either benign or malignant, requiring early and accurate diagnosis to improve patient survival rates. Manual analysis of medical images is time-consuming and highly dependent on radiologist expertise, which may lead to diagnostic inconsistencies. Recent advancements in Artificial Intelligence (AI), particularly Deep Learning, have shown promising results in automating medical image analysis. However, many existing models lack transparency and struggle to generalize across diverse datasets. This project introduces an Explainable AI-driven hybrid deep learning framework to enhance accuracy, interpretability, and reliability in bone tumor detection.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dirty="0">
                <a:solidFill>
                  <a:schemeClr val="tx1"/>
                </a:solidFill>
                <a:latin typeface="Times New Roman" panose="02020603050405020304" pitchFamily="18" charset="0"/>
                <a:cs typeface="Times New Roman" panose="02020603050405020304" pitchFamily="18" charset="0"/>
              </a:rPr>
              <a:t>SUMMARY OF LITERATURE</a:t>
            </a:r>
            <a:endParaRPr lang="en-IN" dirty="0">
              <a:solidFill>
                <a:schemeClr val="tx1"/>
              </a:solidFill>
              <a:latin typeface="Times New Roman" panose="02020603050405020304" pitchFamily="18" charset="0"/>
              <a:cs typeface="Times New Roman" panose="02020603050405020304" pitchFamily="18" charset="0"/>
            </a:endParaRPr>
          </a:p>
        </p:txBody>
      </p:sp>
      <p:graphicFrame>
        <p:nvGraphicFramePr>
          <p:cNvPr id="5" name="Content Placeholder 3"/>
          <p:cNvGraphicFramePr>
            <a:graphicFrameLocks/>
          </p:cNvGraphicFramePr>
          <p:nvPr>
            <p:extLst>
              <p:ext uri="{D42A27DB-BD31-4B8C-83A1-F6EECF244321}">
                <p14:modId xmlns:p14="http://schemas.microsoft.com/office/powerpoint/2010/main" val="2648548220"/>
              </p:ext>
            </p:extLst>
          </p:nvPr>
        </p:nvGraphicFramePr>
        <p:xfrm>
          <a:off x="1347761" y="1669143"/>
          <a:ext cx="7986990" cy="4726884"/>
        </p:xfrm>
        <a:graphic>
          <a:graphicData uri="http://schemas.openxmlformats.org/drawingml/2006/table">
            <a:tbl>
              <a:tblPr>
                <a:tableStyleId>{616DA210-FB5B-4158-B5E0-FEB733F419BA}</a:tableStyleId>
              </a:tblPr>
              <a:tblGrid>
                <a:gridCol w="661573">
                  <a:extLst>
                    <a:ext uri="{9D8B030D-6E8A-4147-A177-3AD203B41FA5}">
                      <a16:colId xmlns:a16="http://schemas.microsoft.com/office/drawing/2014/main" val="20000"/>
                    </a:ext>
                  </a:extLst>
                </a:gridCol>
                <a:gridCol w="2533223">
                  <a:extLst>
                    <a:ext uri="{9D8B030D-6E8A-4147-A177-3AD203B41FA5}">
                      <a16:colId xmlns:a16="http://schemas.microsoft.com/office/drawing/2014/main" val="20001"/>
                    </a:ext>
                  </a:extLst>
                </a:gridCol>
                <a:gridCol w="1374897">
                  <a:extLst>
                    <a:ext uri="{9D8B030D-6E8A-4147-A177-3AD203B41FA5}">
                      <a16:colId xmlns:a16="http://schemas.microsoft.com/office/drawing/2014/main" val="20002"/>
                    </a:ext>
                  </a:extLst>
                </a:gridCol>
                <a:gridCol w="1127343">
                  <a:extLst>
                    <a:ext uri="{9D8B030D-6E8A-4147-A177-3AD203B41FA5}">
                      <a16:colId xmlns:a16="http://schemas.microsoft.com/office/drawing/2014/main" val="20003"/>
                    </a:ext>
                  </a:extLst>
                </a:gridCol>
                <a:gridCol w="2289954">
                  <a:extLst>
                    <a:ext uri="{9D8B030D-6E8A-4147-A177-3AD203B41FA5}">
                      <a16:colId xmlns:a16="http://schemas.microsoft.com/office/drawing/2014/main" val="20004"/>
                    </a:ext>
                  </a:extLst>
                </a:gridCol>
              </a:tblGrid>
              <a:tr h="375160">
                <a:tc>
                  <a:txBody>
                    <a:bodyPr/>
                    <a:lstStyle/>
                    <a:p>
                      <a:r>
                        <a:rPr lang="en-US" sz="1800" dirty="0" err="1">
                          <a:latin typeface="Times New Roman" pitchFamily="18" charset="0"/>
                          <a:cs typeface="Times New Roman" pitchFamily="18" charset="0"/>
                        </a:rPr>
                        <a:t>S.No</a:t>
                      </a:r>
                      <a:endParaRPr lang="en-US" sz="1800" b="1" dirty="0">
                        <a:latin typeface="Times New Roman" pitchFamily="18" charset="0"/>
                        <a:cs typeface="Times New Roman" pitchFamily="18" charset="0"/>
                      </a:endParaRPr>
                    </a:p>
                  </a:txBody>
                  <a:tcPr marL="88744" marR="88744" marT="44372" marB="44372" anchor="ctr"/>
                </a:tc>
                <a:tc>
                  <a:txBody>
                    <a:bodyPr/>
                    <a:lstStyle/>
                    <a:p>
                      <a:r>
                        <a:rPr lang="en-US" sz="1800">
                          <a:latin typeface="Times New Roman" pitchFamily="18" charset="0"/>
                          <a:cs typeface="Times New Roman" pitchFamily="18" charset="0"/>
                        </a:rPr>
                        <a:t>Title</a:t>
                      </a:r>
                    </a:p>
                  </a:txBody>
                  <a:tcPr marL="88744" marR="88744" marT="44372" marB="44372" anchor="ctr"/>
                </a:tc>
                <a:tc>
                  <a:txBody>
                    <a:bodyPr/>
                    <a:lstStyle/>
                    <a:p>
                      <a:r>
                        <a:rPr lang="en-US" sz="1800" dirty="0">
                          <a:latin typeface="Times New Roman" pitchFamily="18" charset="0"/>
                          <a:cs typeface="Times New Roman" pitchFamily="18" charset="0"/>
                        </a:rPr>
                        <a:t>Author</a:t>
                      </a:r>
                    </a:p>
                  </a:txBody>
                  <a:tcPr marL="88744" marR="88744" marT="44372" marB="44372" anchor="ctr"/>
                </a:tc>
                <a:tc>
                  <a:txBody>
                    <a:bodyPr/>
                    <a:lstStyle/>
                    <a:p>
                      <a:r>
                        <a:rPr lang="en-US" sz="1800">
                          <a:latin typeface="Times New Roman" pitchFamily="18" charset="0"/>
                          <a:cs typeface="Times New Roman" pitchFamily="18" charset="0"/>
                        </a:rPr>
                        <a:t>Year</a:t>
                      </a:r>
                    </a:p>
                  </a:txBody>
                  <a:tcPr marL="88744" marR="88744" marT="44372" marB="44372" anchor="ctr"/>
                </a:tc>
                <a:tc>
                  <a:txBody>
                    <a:bodyPr/>
                    <a:lstStyle/>
                    <a:p>
                      <a:r>
                        <a:rPr lang="en-US" sz="1800">
                          <a:latin typeface="Times New Roman" pitchFamily="18" charset="0"/>
                          <a:cs typeface="Times New Roman" pitchFamily="18" charset="0"/>
                        </a:rPr>
                        <a:t>Findings (6 words)</a:t>
                      </a:r>
                    </a:p>
                  </a:txBody>
                  <a:tcPr marL="88744" marR="88744" marT="44372" marB="44372" anchor="ctr"/>
                </a:tc>
                <a:extLst>
                  <a:ext uri="{0D108BD9-81ED-4DB2-BD59-A6C34878D82A}">
                    <a16:rowId xmlns:a16="http://schemas.microsoft.com/office/drawing/2014/main" val="10000"/>
                  </a:ext>
                </a:extLst>
              </a:tr>
              <a:tr h="917009">
                <a:tc>
                  <a:txBody>
                    <a:bodyPr/>
                    <a:lstStyle/>
                    <a:p>
                      <a:r>
                        <a:rPr lang="en-US" sz="1800" dirty="0">
                          <a:latin typeface="Times New Roman" pitchFamily="18" charset="0"/>
                          <a:cs typeface="Times New Roman" pitchFamily="18" charset="0"/>
                        </a:rPr>
                        <a:t>1</a:t>
                      </a:r>
                    </a:p>
                  </a:txBody>
                  <a:tcPr marL="88744" marR="88744" marT="44372" marB="44372" anchor="ctr"/>
                </a:tc>
                <a:tc>
                  <a:txBody>
                    <a:bodyPr/>
                    <a:lstStyle/>
                    <a:p>
                      <a:r>
                        <a:rPr lang="en-US" sz="1800">
                          <a:latin typeface="Times New Roman" pitchFamily="18" charset="0"/>
                          <a:cs typeface="Times New Roman" pitchFamily="18" charset="0"/>
                        </a:rPr>
                        <a:t>Bone Tumor Detection Using CNN</a:t>
                      </a:r>
                    </a:p>
                  </a:txBody>
                  <a:tcPr marL="88744" marR="88744" marT="44372" marB="44372" anchor="ctr"/>
                </a:tc>
                <a:tc>
                  <a:txBody>
                    <a:bodyPr/>
                    <a:lstStyle/>
                    <a:p>
                      <a:r>
                        <a:rPr lang="en-US" sz="1800">
                          <a:latin typeface="Times New Roman" pitchFamily="18" charset="0"/>
                          <a:cs typeface="Times New Roman" pitchFamily="18" charset="0"/>
                        </a:rPr>
                        <a:t>Zhang et al.</a:t>
                      </a:r>
                    </a:p>
                  </a:txBody>
                  <a:tcPr marL="88744" marR="88744" marT="44372" marB="44372" anchor="ctr"/>
                </a:tc>
                <a:tc>
                  <a:txBody>
                    <a:bodyPr/>
                    <a:lstStyle/>
                    <a:p>
                      <a:r>
                        <a:rPr lang="en-US" sz="1800">
                          <a:latin typeface="Times New Roman" pitchFamily="18" charset="0"/>
                          <a:cs typeface="Times New Roman" pitchFamily="18" charset="0"/>
                        </a:rPr>
                        <a:t>2019</a:t>
                      </a:r>
                    </a:p>
                  </a:txBody>
                  <a:tcPr marL="88744" marR="88744" marT="44372" marB="44372" anchor="ctr"/>
                </a:tc>
                <a:tc>
                  <a:txBody>
                    <a:bodyPr/>
                    <a:lstStyle/>
                    <a:p>
                      <a:r>
                        <a:rPr lang="en-US" sz="1800">
                          <a:latin typeface="Times New Roman" pitchFamily="18" charset="0"/>
                          <a:cs typeface="Times New Roman" pitchFamily="18" charset="0"/>
                        </a:rPr>
                        <a:t>CNN improves early tumor classification</a:t>
                      </a:r>
                    </a:p>
                  </a:txBody>
                  <a:tcPr marL="88744" marR="88744" marT="44372" marB="44372" anchor="ctr"/>
                </a:tc>
                <a:extLst>
                  <a:ext uri="{0D108BD9-81ED-4DB2-BD59-A6C34878D82A}">
                    <a16:rowId xmlns:a16="http://schemas.microsoft.com/office/drawing/2014/main" val="10001"/>
                  </a:ext>
                </a:extLst>
              </a:tr>
              <a:tr h="942078">
                <a:tc>
                  <a:txBody>
                    <a:bodyPr/>
                    <a:lstStyle/>
                    <a:p>
                      <a:r>
                        <a:rPr lang="en-US" sz="1800" dirty="0">
                          <a:latin typeface="Times New Roman" pitchFamily="18" charset="0"/>
                          <a:cs typeface="Times New Roman" pitchFamily="18" charset="0"/>
                        </a:rPr>
                        <a:t>2</a:t>
                      </a:r>
                    </a:p>
                  </a:txBody>
                  <a:tcPr marL="88744" marR="88744" marT="44372" marB="44372" anchor="ctr"/>
                </a:tc>
                <a:tc>
                  <a:txBody>
                    <a:bodyPr/>
                    <a:lstStyle/>
                    <a:p>
                      <a:r>
                        <a:rPr lang="en-US" sz="1800">
                          <a:latin typeface="Times New Roman" pitchFamily="18" charset="0"/>
                          <a:cs typeface="Times New Roman" pitchFamily="18" charset="0"/>
                        </a:rPr>
                        <a:t>Medical Image Analysis with ResNet</a:t>
                      </a:r>
                    </a:p>
                  </a:txBody>
                  <a:tcPr marL="88744" marR="88744" marT="44372" marB="44372" anchor="ctr"/>
                </a:tc>
                <a:tc>
                  <a:txBody>
                    <a:bodyPr/>
                    <a:lstStyle/>
                    <a:p>
                      <a:r>
                        <a:rPr lang="en-US" sz="1800" dirty="0">
                          <a:latin typeface="Times New Roman" pitchFamily="18" charset="0"/>
                          <a:cs typeface="Times New Roman" pitchFamily="18" charset="0"/>
                        </a:rPr>
                        <a:t>He et al.</a:t>
                      </a:r>
                    </a:p>
                  </a:txBody>
                  <a:tcPr marL="88744" marR="88744" marT="44372" marB="44372" anchor="ctr"/>
                </a:tc>
                <a:tc>
                  <a:txBody>
                    <a:bodyPr/>
                    <a:lstStyle/>
                    <a:p>
                      <a:r>
                        <a:rPr lang="en-US" sz="1800">
                          <a:latin typeface="Times New Roman" pitchFamily="18" charset="0"/>
                          <a:cs typeface="Times New Roman" pitchFamily="18" charset="0"/>
                        </a:rPr>
                        <a:t>2018</a:t>
                      </a:r>
                    </a:p>
                  </a:txBody>
                  <a:tcPr marL="88744" marR="88744" marT="44372" marB="44372" anchor="ctr"/>
                </a:tc>
                <a:tc>
                  <a:txBody>
                    <a:bodyPr/>
                    <a:lstStyle/>
                    <a:p>
                      <a:r>
                        <a:rPr lang="en-US" sz="1800">
                          <a:latin typeface="Times New Roman" pitchFamily="18" charset="0"/>
                          <a:cs typeface="Times New Roman" pitchFamily="18" charset="0"/>
                        </a:rPr>
                        <a:t>Deep residual networks enhance accuracy</a:t>
                      </a:r>
                    </a:p>
                  </a:txBody>
                  <a:tcPr marL="88744" marR="88744" marT="44372" marB="44372" anchor="ctr"/>
                </a:tc>
                <a:extLst>
                  <a:ext uri="{0D108BD9-81ED-4DB2-BD59-A6C34878D82A}">
                    <a16:rowId xmlns:a16="http://schemas.microsoft.com/office/drawing/2014/main" val="10002"/>
                  </a:ext>
                </a:extLst>
              </a:tr>
              <a:tr h="917009">
                <a:tc>
                  <a:txBody>
                    <a:bodyPr/>
                    <a:lstStyle/>
                    <a:p>
                      <a:r>
                        <a:rPr lang="en-US" sz="1800" dirty="0">
                          <a:latin typeface="Times New Roman" pitchFamily="18" charset="0"/>
                          <a:cs typeface="Times New Roman" pitchFamily="18" charset="0"/>
                        </a:rPr>
                        <a:t>3</a:t>
                      </a:r>
                    </a:p>
                  </a:txBody>
                  <a:tcPr marL="88744" marR="88744" marT="44372" marB="44372" anchor="ctr"/>
                </a:tc>
                <a:tc>
                  <a:txBody>
                    <a:bodyPr/>
                    <a:lstStyle/>
                    <a:p>
                      <a:r>
                        <a:rPr lang="en-US" sz="1800">
                          <a:latin typeface="Times New Roman" pitchFamily="18" charset="0"/>
                          <a:cs typeface="Times New Roman" pitchFamily="18" charset="0"/>
                        </a:rPr>
                        <a:t>EfficientNet for Medical Imaging</a:t>
                      </a:r>
                    </a:p>
                  </a:txBody>
                  <a:tcPr marL="88744" marR="88744" marT="44372" marB="44372" anchor="ctr"/>
                </a:tc>
                <a:tc>
                  <a:txBody>
                    <a:bodyPr/>
                    <a:lstStyle/>
                    <a:p>
                      <a:r>
                        <a:rPr lang="en-US" sz="1800">
                          <a:latin typeface="Times New Roman" pitchFamily="18" charset="0"/>
                          <a:cs typeface="Times New Roman" pitchFamily="18" charset="0"/>
                        </a:rPr>
                        <a:t>Tan &amp; Le</a:t>
                      </a:r>
                    </a:p>
                  </a:txBody>
                  <a:tcPr marL="88744" marR="88744" marT="44372" marB="44372" anchor="ctr"/>
                </a:tc>
                <a:tc>
                  <a:txBody>
                    <a:bodyPr/>
                    <a:lstStyle/>
                    <a:p>
                      <a:r>
                        <a:rPr lang="en-US" sz="1800">
                          <a:latin typeface="Times New Roman" pitchFamily="18" charset="0"/>
                          <a:cs typeface="Times New Roman" pitchFamily="18" charset="0"/>
                        </a:rPr>
                        <a:t>2020</a:t>
                      </a:r>
                    </a:p>
                  </a:txBody>
                  <a:tcPr marL="88744" marR="88744" marT="44372" marB="44372" anchor="ctr"/>
                </a:tc>
                <a:tc>
                  <a:txBody>
                    <a:bodyPr/>
                    <a:lstStyle/>
                    <a:p>
                      <a:r>
                        <a:rPr lang="en-US" sz="1800">
                          <a:latin typeface="Times New Roman" pitchFamily="18" charset="0"/>
                          <a:cs typeface="Times New Roman" pitchFamily="18" charset="0"/>
                        </a:rPr>
                        <a:t>Efficient scaling improves performance</a:t>
                      </a:r>
                    </a:p>
                  </a:txBody>
                  <a:tcPr marL="88744" marR="88744" marT="44372" marB="44372" anchor="ctr"/>
                </a:tc>
                <a:extLst>
                  <a:ext uri="{0D108BD9-81ED-4DB2-BD59-A6C34878D82A}">
                    <a16:rowId xmlns:a16="http://schemas.microsoft.com/office/drawing/2014/main" val="10003"/>
                  </a:ext>
                </a:extLst>
              </a:tr>
              <a:tr h="658619">
                <a:tc>
                  <a:txBody>
                    <a:bodyPr/>
                    <a:lstStyle/>
                    <a:p>
                      <a:r>
                        <a:rPr lang="en-US" sz="1800" dirty="0">
                          <a:latin typeface="Times New Roman" pitchFamily="18" charset="0"/>
                          <a:cs typeface="Times New Roman" pitchFamily="18" charset="0"/>
                        </a:rPr>
                        <a:t>4</a:t>
                      </a:r>
                    </a:p>
                  </a:txBody>
                  <a:tcPr marL="88744" marR="88744" marT="44372" marB="44372" anchor="ctr"/>
                </a:tc>
                <a:tc>
                  <a:txBody>
                    <a:bodyPr/>
                    <a:lstStyle/>
                    <a:p>
                      <a:r>
                        <a:rPr lang="en-US" sz="1800">
                          <a:latin typeface="Times New Roman" pitchFamily="18" charset="0"/>
                          <a:cs typeface="Times New Roman" pitchFamily="18" charset="0"/>
                        </a:rPr>
                        <a:t>Vision Transformers in Healthcare</a:t>
                      </a:r>
                    </a:p>
                  </a:txBody>
                  <a:tcPr marL="88744" marR="88744" marT="44372" marB="44372" anchor="ctr"/>
                </a:tc>
                <a:tc>
                  <a:txBody>
                    <a:bodyPr/>
                    <a:lstStyle/>
                    <a:p>
                      <a:r>
                        <a:rPr lang="en-US" sz="1800">
                          <a:latin typeface="Times New Roman" pitchFamily="18" charset="0"/>
                          <a:cs typeface="Times New Roman" pitchFamily="18" charset="0"/>
                        </a:rPr>
                        <a:t>Dosovitskiy et al.</a:t>
                      </a:r>
                    </a:p>
                  </a:txBody>
                  <a:tcPr marL="88744" marR="88744" marT="44372" marB="44372" anchor="ctr"/>
                </a:tc>
                <a:tc>
                  <a:txBody>
                    <a:bodyPr/>
                    <a:lstStyle/>
                    <a:p>
                      <a:r>
                        <a:rPr lang="en-US" sz="1800">
                          <a:latin typeface="Times New Roman" pitchFamily="18" charset="0"/>
                          <a:cs typeface="Times New Roman" pitchFamily="18" charset="0"/>
                        </a:rPr>
                        <a:t>2021</a:t>
                      </a:r>
                    </a:p>
                  </a:txBody>
                  <a:tcPr marL="88744" marR="88744" marT="44372" marB="44372" anchor="ctr"/>
                </a:tc>
                <a:tc>
                  <a:txBody>
                    <a:bodyPr/>
                    <a:lstStyle/>
                    <a:p>
                      <a:r>
                        <a:rPr lang="fr-FR" sz="1800">
                          <a:latin typeface="Times New Roman" pitchFamily="18" charset="0"/>
                          <a:cs typeface="Times New Roman" pitchFamily="18" charset="0"/>
                        </a:rPr>
                        <a:t>ViT captures global image context</a:t>
                      </a:r>
                    </a:p>
                  </a:txBody>
                  <a:tcPr marL="88744" marR="88744" marT="44372" marB="44372" anchor="ctr"/>
                </a:tc>
                <a:extLst>
                  <a:ext uri="{0D108BD9-81ED-4DB2-BD59-A6C34878D82A}">
                    <a16:rowId xmlns:a16="http://schemas.microsoft.com/office/drawing/2014/main" val="10004"/>
                  </a:ext>
                </a:extLst>
              </a:tr>
              <a:tr h="917009">
                <a:tc>
                  <a:txBody>
                    <a:bodyPr/>
                    <a:lstStyle/>
                    <a:p>
                      <a:r>
                        <a:rPr lang="en-US" sz="1800" dirty="0">
                          <a:latin typeface="Times New Roman" pitchFamily="18" charset="0"/>
                          <a:cs typeface="Times New Roman" pitchFamily="18" charset="0"/>
                        </a:rPr>
                        <a:t>5</a:t>
                      </a:r>
                    </a:p>
                  </a:txBody>
                  <a:tcPr marL="88744" marR="88744" marT="44372" marB="44372" anchor="ctr"/>
                </a:tc>
                <a:tc>
                  <a:txBody>
                    <a:bodyPr/>
                    <a:lstStyle/>
                    <a:p>
                      <a:r>
                        <a:rPr lang="en-US" sz="1800" dirty="0">
                          <a:latin typeface="Times New Roman" pitchFamily="18" charset="0"/>
                          <a:cs typeface="Times New Roman" pitchFamily="18" charset="0"/>
                        </a:rPr>
                        <a:t>Explainable AI in Medical Diagnosis</a:t>
                      </a:r>
                    </a:p>
                  </a:txBody>
                  <a:tcPr marL="88744" marR="88744" marT="44372" marB="44372" anchor="ctr"/>
                </a:tc>
                <a:tc>
                  <a:txBody>
                    <a:bodyPr/>
                    <a:lstStyle/>
                    <a:p>
                      <a:r>
                        <a:rPr lang="en-US" sz="1800" dirty="0" err="1">
                          <a:latin typeface="Times New Roman" pitchFamily="18" charset="0"/>
                          <a:cs typeface="Times New Roman" pitchFamily="18" charset="0"/>
                        </a:rPr>
                        <a:t>Selvaraju</a:t>
                      </a:r>
                      <a:r>
                        <a:rPr lang="en-US" sz="1800" dirty="0">
                          <a:latin typeface="Times New Roman" pitchFamily="18" charset="0"/>
                          <a:cs typeface="Times New Roman" pitchFamily="18" charset="0"/>
                        </a:rPr>
                        <a:t> et al.</a:t>
                      </a:r>
                    </a:p>
                  </a:txBody>
                  <a:tcPr marL="88744" marR="88744" marT="44372" marB="44372" anchor="ctr"/>
                </a:tc>
                <a:tc>
                  <a:txBody>
                    <a:bodyPr/>
                    <a:lstStyle/>
                    <a:p>
                      <a:r>
                        <a:rPr lang="en-US" sz="1800">
                          <a:latin typeface="Times New Roman" pitchFamily="18" charset="0"/>
                          <a:cs typeface="Times New Roman" pitchFamily="18" charset="0"/>
                        </a:rPr>
                        <a:t>2020</a:t>
                      </a:r>
                    </a:p>
                  </a:txBody>
                  <a:tcPr marL="88744" marR="88744" marT="44372" marB="44372" anchor="ctr"/>
                </a:tc>
                <a:tc>
                  <a:txBody>
                    <a:bodyPr/>
                    <a:lstStyle/>
                    <a:p>
                      <a:r>
                        <a:rPr lang="en-US" sz="1800" dirty="0">
                          <a:latin typeface="Times New Roman" pitchFamily="18" charset="0"/>
                          <a:cs typeface="Times New Roman" pitchFamily="18" charset="0"/>
                        </a:rPr>
                        <a:t>Grad-CAM improves model interpretability</a:t>
                      </a:r>
                    </a:p>
                  </a:txBody>
                  <a:tcPr marL="88744" marR="88744" marT="44372" marB="44372"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1236517" y="1385027"/>
            <a:ext cx="8865425" cy="5668916"/>
          </a:xfrm>
        </p:spPr>
        <p:txBody>
          <a:bodyPr>
            <a:noAutofit/>
          </a:bodyPr>
          <a:lstStyle/>
          <a:p>
            <a:pPr algn="just">
              <a:lnSpc>
                <a:spcPct val="170000"/>
              </a:lnSpc>
            </a:pPr>
            <a:r>
              <a:rPr lang="en-US" sz="2000" dirty="0">
                <a:latin typeface="Times New Roman" panose="02020603050405020304" pitchFamily="18" charset="0"/>
                <a:cs typeface="Times New Roman" panose="02020603050405020304" pitchFamily="18" charset="0"/>
              </a:rPr>
              <a:t>The existing system for bone tumor detection mainly relies on Convolutional Neural Networks (CNN) to analyze medical images and classify tumor presence. </a:t>
            </a:r>
          </a:p>
          <a:p>
            <a:pPr algn="just">
              <a:lnSpc>
                <a:spcPct val="170000"/>
              </a:lnSpc>
            </a:pPr>
            <a:r>
              <a:rPr lang="en-US" sz="2000" dirty="0">
                <a:latin typeface="Times New Roman" panose="02020603050405020304" pitchFamily="18" charset="0"/>
                <a:cs typeface="Times New Roman" panose="02020603050405020304" pitchFamily="18" charset="0"/>
              </a:rPr>
              <a:t>Image preprocessing techniques such as OTSU </a:t>
            </a:r>
            <a:r>
              <a:rPr lang="en-US" sz="2000" dirty="0" err="1">
                <a:latin typeface="Times New Roman" panose="02020603050405020304" pitchFamily="18" charset="0"/>
                <a:cs typeface="Times New Roman" panose="02020603050405020304" pitchFamily="18" charset="0"/>
              </a:rPr>
              <a:t>thresholding</a:t>
            </a:r>
            <a:r>
              <a:rPr lang="en-US" sz="2000" dirty="0">
                <a:latin typeface="Times New Roman" panose="02020603050405020304" pitchFamily="18" charset="0"/>
                <a:cs typeface="Times New Roman" panose="02020603050405020304" pitchFamily="18" charset="0"/>
              </a:rPr>
              <a:t> are used to improve image clarity and identify the region of interest. </a:t>
            </a:r>
          </a:p>
          <a:p>
            <a:pPr algn="just">
              <a:lnSpc>
                <a:spcPct val="170000"/>
              </a:lnSpc>
            </a:pPr>
            <a:r>
              <a:rPr lang="en-US" sz="2000" dirty="0">
                <a:latin typeface="Times New Roman" panose="02020603050405020304" pitchFamily="18" charset="0"/>
                <a:cs typeface="Times New Roman" panose="02020603050405020304" pitchFamily="18" charset="0"/>
              </a:rPr>
              <a:t>The processed images are then used to train the CNN model for detecting tumor patterns. </a:t>
            </a:r>
          </a:p>
          <a:p>
            <a:pPr algn="just">
              <a:lnSpc>
                <a:spcPct val="170000"/>
              </a:lnSpc>
            </a:pPr>
            <a:r>
              <a:rPr lang="en-US" sz="2000" dirty="0">
                <a:latin typeface="Times New Roman" panose="02020603050405020304" pitchFamily="18" charset="0"/>
                <a:cs typeface="Times New Roman" panose="02020603050405020304" pitchFamily="18" charset="0"/>
              </a:rPr>
              <a:t>The system highlights suspected tumor areas to assist doctors in interpreting the results. </a:t>
            </a:r>
          </a:p>
          <a:p>
            <a:pPr algn="just">
              <a:lnSpc>
                <a:spcPct val="170000"/>
              </a:lnSpc>
            </a:pPr>
            <a:r>
              <a:rPr lang="en-US" sz="2000" dirty="0">
                <a:latin typeface="Times New Roman" panose="02020603050405020304" pitchFamily="18" charset="0"/>
                <a:cs typeface="Times New Roman" panose="02020603050405020304" pitchFamily="18" charset="0"/>
              </a:rPr>
              <a:t>However, the approach achieves only moderate accuracy and lacks advanced feature extraction and </a:t>
            </a:r>
            <a:r>
              <a:rPr lang="en-US" sz="2000" dirty="0" err="1">
                <a:latin typeface="Times New Roman" panose="02020603050405020304" pitchFamily="18" charset="0"/>
                <a:cs typeface="Times New Roman" panose="02020603050405020304" pitchFamily="18" charset="0"/>
              </a:rPr>
              <a:t>explainability</a:t>
            </a:r>
            <a:r>
              <a:rPr lang="en-US" sz="2000" dirty="0">
                <a:latin typeface="Times New Roman" panose="02020603050405020304" pitchFamily="18" charset="0"/>
                <a:cs typeface="Times New Roman" panose="02020603050405020304" pitchFamily="18" charset="0"/>
              </a:rPr>
              <a:t> mechanisms.</a:t>
            </a:r>
          </a:p>
          <a:p>
            <a:pPr algn="just">
              <a:lnSpc>
                <a:spcPct val="170000"/>
              </a:lnSpc>
            </a:pPr>
            <a:endParaRPr lang="en-US" sz="2000" dirty="0"/>
          </a:p>
        </p:txBody>
      </p:sp>
    </p:spTree>
    <p:extLst>
      <p:ext uri="{BB962C8B-B14F-4D97-AF65-F5344CB8AC3E}">
        <p14:creationId xmlns:p14="http://schemas.microsoft.com/office/powerpoint/2010/main" val="3041562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DISADVANTAGES</a:t>
            </a:r>
          </a:p>
        </p:txBody>
      </p:sp>
      <p:sp>
        <p:nvSpPr>
          <p:cNvPr id="3" name="Content Placeholder 2"/>
          <p:cNvSpPr>
            <a:spLocks noGrp="1"/>
          </p:cNvSpPr>
          <p:nvPr>
            <p:ph idx="1"/>
          </p:nvPr>
        </p:nvSpPr>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Limited accuracy in complex tumor detection</a:t>
            </a:r>
          </a:p>
          <a:p>
            <a:pPr>
              <a:lnSpc>
                <a:spcPct val="150000"/>
              </a:lnSpc>
            </a:pPr>
            <a:r>
              <a:rPr lang="en-US" sz="2000" dirty="0">
                <a:latin typeface="Times New Roman" panose="02020603050405020304" pitchFamily="18" charset="0"/>
                <a:cs typeface="Times New Roman" panose="02020603050405020304" pitchFamily="18" charset="0"/>
              </a:rPr>
              <a:t>Depends only on basic CNN architecture</a:t>
            </a:r>
          </a:p>
          <a:p>
            <a:pPr>
              <a:lnSpc>
                <a:spcPct val="150000"/>
              </a:lnSpc>
            </a:pPr>
            <a:r>
              <a:rPr lang="en-US" sz="2000" dirty="0">
                <a:latin typeface="Times New Roman" panose="02020603050405020304" pitchFamily="18" charset="0"/>
                <a:cs typeface="Times New Roman" panose="02020603050405020304" pitchFamily="18" charset="0"/>
              </a:rPr>
              <a:t>Uses simple OTSU threshold preprocessing</a:t>
            </a:r>
          </a:p>
          <a:p>
            <a:pPr>
              <a:lnSpc>
                <a:spcPct val="150000"/>
              </a:lnSpc>
            </a:pPr>
            <a:r>
              <a:rPr lang="en-US" sz="2000" dirty="0">
                <a:latin typeface="Times New Roman" panose="02020603050405020304" pitchFamily="18" charset="0"/>
                <a:cs typeface="Times New Roman" panose="02020603050405020304" pitchFamily="18" charset="0"/>
              </a:rPr>
              <a:t>Poor generalization on diverse datasets</a:t>
            </a:r>
          </a:p>
          <a:p>
            <a:pPr>
              <a:lnSpc>
                <a:spcPct val="150000"/>
              </a:lnSpc>
            </a:pPr>
            <a:r>
              <a:rPr lang="en-US" sz="2000" dirty="0">
                <a:latin typeface="Times New Roman" panose="02020603050405020304" pitchFamily="18" charset="0"/>
                <a:cs typeface="Times New Roman" panose="02020603050405020304" pitchFamily="18" charset="0"/>
              </a:rPr>
              <a:t>Cannot capture global image features</a:t>
            </a:r>
          </a:p>
          <a:p>
            <a:pPr>
              <a:lnSpc>
                <a:spcPct val="150000"/>
              </a:lnSpc>
            </a:pPr>
            <a:endParaRPr lang="en-US" sz="2000" dirty="0"/>
          </a:p>
        </p:txBody>
      </p:sp>
    </p:spTree>
    <p:extLst>
      <p:ext uri="{BB962C8B-B14F-4D97-AF65-F5344CB8AC3E}">
        <p14:creationId xmlns:p14="http://schemas.microsoft.com/office/powerpoint/2010/main" val="1389705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a:xfrm>
            <a:off x="1506681" y="1529072"/>
            <a:ext cx="8399257" cy="4744526"/>
          </a:xfrm>
        </p:spPr>
        <p:txBody>
          <a:bodyPr>
            <a:noAutofit/>
          </a:bodyPr>
          <a:lstStyle/>
          <a:p>
            <a:pPr algn="just">
              <a:lnSpc>
                <a:spcPct val="170000"/>
              </a:lnSpc>
            </a:pPr>
            <a:r>
              <a:rPr lang="en-US" sz="2000" dirty="0">
                <a:latin typeface="Times New Roman" panose="02020603050405020304" pitchFamily="18" charset="0"/>
                <a:cs typeface="Times New Roman" panose="02020603050405020304" pitchFamily="18" charset="0"/>
              </a:rPr>
              <a:t>The proposed system introduces an explainable AI-driven framework for bone tumor detection using hybrid deep learning models. </a:t>
            </a:r>
          </a:p>
          <a:p>
            <a:pPr algn="just">
              <a:lnSpc>
                <a:spcPct val="170000"/>
              </a:lnSpc>
            </a:pPr>
            <a:r>
              <a:rPr lang="en-US" sz="2000" dirty="0">
                <a:latin typeface="Times New Roman" panose="02020603050405020304" pitchFamily="18" charset="0"/>
                <a:cs typeface="Times New Roman" panose="02020603050405020304" pitchFamily="18" charset="0"/>
              </a:rPr>
              <a:t>It integrates advanced architectures such as ResNet-50, </a:t>
            </a:r>
            <a:r>
              <a:rPr lang="en-US" sz="2000" dirty="0" err="1">
                <a:latin typeface="Times New Roman" panose="02020603050405020304" pitchFamily="18" charset="0"/>
                <a:cs typeface="Times New Roman" panose="02020603050405020304" pitchFamily="18" charset="0"/>
              </a:rPr>
              <a:t>EfficientNet</a:t>
            </a:r>
            <a:r>
              <a:rPr lang="en-US" sz="2000" dirty="0">
                <a:latin typeface="Times New Roman" panose="02020603050405020304" pitchFamily="18" charset="0"/>
                <a:cs typeface="Times New Roman" panose="02020603050405020304" pitchFamily="18" charset="0"/>
              </a:rPr>
              <a:t>, and Vision Transformer (</a:t>
            </a:r>
            <a:r>
              <a:rPr lang="en-US" sz="2000" dirty="0" err="1">
                <a:latin typeface="Times New Roman" panose="02020603050405020304" pitchFamily="18" charset="0"/>
                <a:cs typeface="Times New Roman" panose="02020603050405020304" pitchFamily="18" charset="0"/>
              </a:rPr>
              <a:t>ViT</a:t>
            </a:r>
            <a:r>
              <a:rPr lang="en-US" sz="2000" dirty="0">
                <a:latin typeface="Times New Roman" panose="02020603050405020304" pitchFamily="18" charset="0"/>
                <a:cs typeface="Times New Roman" panose="02020603050405020304" pitchFamily="18" charset="0"/>
              </a:rPr>
              <a:t>) to improve feature extraction and classification accuracy. </a:t>
            </a:r>
          </a:p>
          <a:p>
            <a:pPr algn="just">
              <a:lnSpc>
                <a:spcPct val="170000"/>
              </a:lnSpc>
            </a:pPr>
            <a:r>
              <a:rPr lang="en-US" sz="2000" dirty="0">
                <a:latin typeface="Times New Roman" panose="02020603050405020304" pitchFamily="18" charset="0"/>
                <a:cs typeface="Times New Roman" panose="02020603050405020304" pitchFamily="18" charset="0"/>
              </a:rPr>
              <a:t>Enhanced preprocessing techniques, including CLAHE and adaptive morphological operations, are applied to improve image quality and highlight tumor regions. </a:t>
            </a:r>
          </a:p>
          <a:p>
            <a:pPr algn="just">
              <a:lnSpc>
                <a:spcPct val="170000"/>
              </a:lnSpc>
            </a:pPr>
            <a:r>
              <a:rPr lang="en-US" sz="2000" dirty="0">
                <a:latin typeface="Times New Roman" panose="02020603050405020304" pitchFamily="18" charset="0"/>
                <a:cs typeface="Times New Roman" panose="02020603050405020304" pitchFamily="18" charset="0"/>
              </a:rPr>
              <a:t>An ensemble approach is used to combine CNN and transformer-based models for better spatial and contextual understanding. </a:t>
            </a:r>
          </a:p>
        </p:txBody>
      </p:sp>
    </p:spTree>
    <p:extLst>
      <p:ext uri="{BB962C8B-B14F-4D97-AF65-F5344CB8AC3E}">
        <p14:creationId xmlns:p14="http://schemas.microsoft.com/office/powerpoint/2010/main" val="529701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ADVANTAGES</a:t>
            </a:r>
          </a:p>
        </p:txBody>
      </p:sp>
      <p:sp>
        <p:nvSpPr>
          <p:cNvPr id="3" name="Content Placeholder 2"/>
          <p:cNvSpPr>
            <a:spLocks noGrp="1"/>
          </p:cNvSpPr>
          <p:nvPr>
            <p:ph idx="1"/>
          </p:nvPr>
        </p:nvSpPr>
        <p:spPr/>
        <p:txBody>
          <a:bodyPr>
            <a:normAutofit/>
          </a:bodyPr>
          <a:lstStyle/>
          <a:p>
            <a:pPr>
              <a:lnSpc>
                <a:spcPct val="150000"/>
              </a:lnSpc>
            </a:pPr>
            <a:r>
              <a:rPr lang="en-US" sz="2000" dirty="0">
                <a:latin typeface="Times New Roman" panose="02020603050405020304" pitchFamily="18" charset="0"/>
                <a:cs typeface="Times New Roman" panose="02020603050405020304" pitchFamily="18" charset="0"/>
              </a:rPr>
              <a:t>Higher accuracy in bone tumor detection</a:t>
            </a:r>
          </a:p>
          <a:p>
            <a:pPr>
              <a:lnSpc>
                <a:spcPct val="150000"/>
              </a:lnSpc>
            </a:pPr>
            <a:r>
              <a:rPr lang="en-US" sz="2000" dirty="0">
                <a:latin typeface="Times New Roman" panose="02020603050405020304" pitchFamily="18" charset="0"/>
                <a:cs typeface="Times New Roman" panose="02020603050405020304" pitchFamily="18" charset="0"/>
              </a:rPr>
              <a:t>Hybrid deep learning improves feature extraction</a:t>
            </a:r>
          </a:p>
          <a:p>
            <a:pPr>
              <a:lnSpc>
                <a:spcPct val="150000"/>
              </a:lnSpc>
            </a:pPr>
            <a:r>
              <a:rPr lang="en-US" sz="2000" dirty="0">
                <a:latin typeface="Times New Roman" panose="02020603050405020304" pitchFamily="18" charset="0"/>
                <a:cs typeface="Times New Roman" panose="02020603050405020304" pitchFamily="18" charset="0"/>
              </a:rPr>
              <a:t>Uses advanced models (</a:t>
            </a:r>
            <a:r>
              <a:rPr lang="en-US" sz="2000" dirty="0" err="1">
                <a:latin typeface="Times New Roman" panose="02020603050405020304" pitchFamily="18" charset="0"/>
                <a:cs typeface="Times New Roman" panose="02020603050405020304" pitchFamily="18" charset="0"/>
              </a:rPr>
              <a:t>ResNet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EfficientNet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ViT</a:t>
            </a:r>
            <a:r>
              <a:rPr lang="en-US" sz="2000" dirty="0">
                <a:latin typeface="Times New Roman" panose="02020603050405020304" pitchFamily="18" charset="0"/>
                <a:cs typeface="Times New Roman" panose="02020603050405020304" pitchFamily="18" charset="0"/>
              </a:rPr>
              <a:t>)</a:t>
            </a:r>
          </a:p>
          <a:p>
            <a:pPr>
              <a:lnSpc>
                <a:spcPct val="150000"/>
              </a:lnSpc>
            </a:pPr>
            <a:r>
              <a:rPr lang="en-US" sz="2000" dirty="0">
                <a:latin typeface="Times New Roman" panose="02020603050405020304" pitchFamily="18" charset="0"/>
                <a:cs typeface="Times New Roman" panose="02020603050405020304" pitchFamily="18" charset="0"/>
              </a:rPr>
              <a:t>Better image enhancement using CLAHE</a:t>
            </a:r>
          </a:p>
          <a:p>
            <a:pPr>
              <a:lnSpc>
                <a:spcPct val="150000"/>
              </a:lnSpc>
            </a:pPr>
            <a:r>
              <a:rPr lang="en-US" sz="2000" dirty="0">
                <a:latin typeface="Times New Roman" panose="02020603050405020304" pitchFamily="18" charset="0"/>
                <a:cs typeface="Times New Roman" panose="02020603050405020304" pitchFamily="18" charset="0"/>
              </a:rPr>
              <a:t>Captures both local and global features</a:t>
            </a:r>
          </a:p>
          <a:p>
            <a:pPr>
              <a:lnSpc>
                <a:spcPct val="150000"/>
              </a:lnSpc>
            </a:pPr>
            <a:endParaRPr lang="en-US" sz="2000" dirty="0"/>
          </a:p>
        </p:txBody>
      </p:sp>
    </p:spTree>
    <p:extLst>
      <p:ext uri="{BB962C8B-B14F-4D97-AF65-F5344CB8AC3E}">
        <p14:creationId xmlns:p14="http://schemas.microsoft.com/office/powerpoint/2010/main" val="1751056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a:xfrm>
            <a:off x="1317405" y="1378857"/>
            <a:ext cx="8160424" cy="6415314"/>
          </a:xfrm>
        </p:spPr>
        <p:txBody>
          <a:bodyPr>
            <a:noAutofit/>
          </a:bodyPr>
          <a:lstStyle/>
          <a:p>
            <a:pPr marL="90361" indent="0" algn="just">
              <a:buNone/>
            </a:pPr>
            <a:r>
              <a:rPr lang="en-US" sz="1800" b="1" dirty="0">
                <a:latin typeface="Times New Roman" panose="02020603050405020304" pitchFamily="18" charset="0"/>
                <a:cs typeface="Times New Roman" panose="02020603050405020304" pitchFamily="18" charset="0"/>
              </a:rPr>
              <a:t>Development Model</a:t>
            </a:r>
          </a:p>
          <a:p>
            <a:pPr marL="90361" indent="0" algn="just">
              <a:buNone/>
            </a:pPr>
            <a:r>
              <a:rPr lang="en-US" sz="1800" dirty="0">
                <a:latin typeface="Times New Roman" panose="02020603050405020304" pitchFamily="18" charset="0"/>
                <a:cs typeface="Times New Roman" panose="02020603050405020304" pitchFamily="18" charset="0"/>
              </a:rPr>
              <a:t>Deep learning-based development methodology is used for iterative model training, continuous evaluation, and performance optimization to improve bone tumor detection accuracy.</a:t>
            </a:r>
          </a:p>
          <a:p>
            <a:pPr marL="90361" indent="0" algn="just">
              <a:buNone/>
            </a:pPr>
            <a:r>
              <a:rPr lang="en-US" sz="1800" b="1" dirty="0">
                <a:latin typeface="Times New Roman" panose="02020603050405020304" pitchFamily="18" charset="0"/>
                <a:cs typeface="Times New Roman" panose="02020603050405020304" pitchFamily="18" charset="0"/>
              </a:rPr>
              <a:t>System Architecture</a:t>
            </a:r>
          </a:p>
          <a:p>
            <a:pPr marL="90361" indent="0" algn="just">
              <a:buNone/>
            </a:pPr>
            <a:r>
              <a:rPr lang="en-US" sz="1800" dirty="0">
                <a:latin typeface="Times New Roman" panose="02020603050405020304" pitchFamily="18" charset="0"/>
                <a:cs typeface="Times New Roman" panose="02020603050405020304" pitchFamily="18" charset="0"/>
              </a:rPr>
              <a:t>Medical Image Input → Image Preprocessing → Feature Extraction → Vision Transformer (</a:t>
            </a:r>
            <a:r>
              <a:rPr lang="en-US" sz="1800" dirty="0" err="1">
                <a:latin typeface="Times New Roman" panose="02020603050405020304" pitchFamily="18" charset="0"/>
                <a:cs typeface="Times New Roman" panose="02020603050405020304" pitchFamily="18" charset="0"/>
              </a:rPr>
              <a:t>ViT</a:t>
            </a:r>
            <a:r>
              <a:rPr lang="en-US" sz="1800" dirty="0">
                <a:latin typeface="Times New Roman" panose="02020603050405020304" pitchFamily="18" charset="0"/>
                <a:cs typeface="Times New Roman" panose="02020603050405020304" pitchFamily="18" charset="0"/>
              </a:rPr>
              <a:t>) Integration → Hybrid Classification Model → Detection Result </a:t>
            </a:r>
            <a:r>
              <a:rPr lang="en-US" sz="1800" b="1" dirty="0">
                <a:latin typeface="Times New Roman" panose="02020603050405020304" pitchFamily="18" charset="0"/>
                <a:cs typeface="Times New Roman" panose="02020603050405020304" pitchFamily="18" charset="0"/>
              </a:rPr>
              <a:t>Working Flow</a:t>
            </a:r>
          </a:p>
          <a:p>
            <a:pPr marL="90361" indent="0" algn="just">
              <a:buNone/>
            </a:pPr>
            <a:r>
              <a:rPr lang="en-US" sz="1800" dirty="0">
                <a:latin typeface="Times New Roman" panose="02020603050405020304" pitchFamily="18" charset="0"/>
                <a:cs typeface="Times New Roman" panose="02020603050405020304" pitchFamily="18" charset="0"/>
              </a:rPr>
              <a:t>User uploads bone X-ray or MRI image</a:t>
            </a:r>
          </a:p>
          <a:p>
            <a:pPr marL="90361" indent="0" algn="just">
              <a:buNone/>
            </a:pPr>
            <a:r>
              <a:rPr lang="en-US" sz="1800" dirty="0">
                <a:latin typeface="Times New Roman" panose="02020603050405020304" pitchFamily="18" charset="0"/>
                <a:cs typeface="Times New Roman" panose="02020603050405020304" pitchFamily="18" charset="0"/>
              </a:rPr>
              <a:t>System performs image preprocessing and enhancement</a:t>
            </a:r>
          </a:p>
          <a:p>
            <a:pPr marL="90361" indent="0" algn="just">
              <a:buNone/>
            </a:pPr>
            <a:r>
              <a:rPr lang="en-US" sz="1800" dirty="0">
                <a:latin typeface="Times New Roman" panose="02020603050405020304" pitchFamily="18" charset="0"/>
                <a:cs typeface="Times New Roman" panose="02020603050405020304" pitchFamily="18" charset="0"/>
              </a:rPr>
              <a:t>CLAHE improves contrast and highlights tumor region</a:t>
            </a:r>
          </a:p>
          <a:p>
            <a:pPr marL="90361" indent="0" algn="just">
              <a:buNone/>
            </a:pPr>
            <a:r>
              <a:rPr lang="en-US" sz="1800" dirty="0">
                <a:latin typeface="Times New Roman" panose="02020603050405020304" pitchFamily="18" charset="0"/>
                <a:cs typeface="Times New Roman" panose="02020603050405020304" pitchFamily="18" charset="0"/>
              </a:rPr>
              <a:t>Deep features extracted using ResNet-50 and </a:t>
            </a:r>
            <a:r>
              <a:rPr lang="en-US" sz="1800" dirty="0" err="1">
                <a:latin typeface="Times New Roman" panose="02020603050405020304" pitchFamily="18" charset="0"/>
                <a:cs typeface="Times New Roman" panose="02020603050405020304" pitchFamily="18" charset="0"/>
              </a:rPr>
              <a:t>EfficientNet</a:t>
            </a:r>
            <a:endParaRPr lang="en-US" sz="1800" dirty="0">
              <a:latin typeface="Times New Roman" panose="02020603050405020304" pitchFamily="18" charset="0"/>
              <a:cs typeface="Times New Roman" panose="02020603050405020304" pitchFamily="18" charset="0"/>
            </a:endParaRPr>
          </a:p>
          <a:p>
            <a:pPr marL="90361" indent="0" algn="just">
              <a:buNone/>
            </a:pPr>
            <a:r>
              <a:rPr lang="en-US" sz="1800" dirty="0">
                <a:latin typeface="Times New Roman" panose="02020603050405020304" pitchFamily="18" charset="0"/>
                <a:cs typeface="Times New Roman" panose="02020603050405020304" pitchFamily="18" charset="0"/>
              </a:rPr>
              <a:t>Vision Transformer analyzes global image patterns</a:t>
            </a:r>
          </a:p>
          <a:p>
            <a:pPr marL="90361" indent="0" algn="just">
              <a:buNone/>
            </a:pPr>
            <a:r>
              <a:rPr lang="en-US" sz="1800" dirty="0">
                <a:latin typeface="Times New Roman" panose="02020603050405020304" pitchFamily="18" charset="0"/>
                <a:cs typeface="Times New Roman" panose="02020603050405020304" pitchFamily="18" charset="0"/>
              </a:rPr>
              <a:t>Hybrid model classifies tumor or normal bone</a:t>
            </a:r>
          </a:p>
          <a:p>
            <a:pPr marL="90361" indent="0" algn="just">
              <a:buNone/>
            </a:pPr>
            <a:r>
              <a:rPr lang="en-US" sz="1800" dirty="0">
                <a:latin typeface="Times New Roman" panose="02020603050405020304" pitchFamily="18" charset="0"/>
                <a:cs typeface="Times New Roman" panose="02020603050405020304" pitchFamily="18" charset="0"/>
              </a:rPr>
              <a:t>Grad-CAM generates </a:t>
            </a:r>
            <a:r>
              <a:rPr lang="en-US" sz="1800" dirty="0" err="1">
                <a:latin typeface="Times New Roman" panose="02020603050405020304" pitchFamily="18" charset="0"/>
                <a:cs typeface="Times New Roman" panose="02020603050405020304" pitchFamily="18" charset="0"/>
              </a:rPr>
              <a:t>heatmap</a:t>
            </a:r>
            <a:r>
              <a:rPr lang="en-US" sz="1800" dirty="0">
                <a:latin typeface="Times New Roman" panose="02020603050405020304" pitchFamily="18" charset="0"/>
                <a:cs typeface="Times New Roman" panose="02020603050405020304" pitchFamily="18" charset="0"/>
              </a:rPr>
              <a:t> showing tumor location</a:t>
            </a:r>
          </a:p>
          <a:p>
            <a:pPr marL="90361" indent="0" algn="just">
              <a:buNone/>
            </a:pPr>
            <a:r>
              <a:rPr lang="en-US" sz="1800" dirty="0">
                <a:latin typeface="Times New Roman" panose="02020603050405020304" pitchFamily="18" charset="0"/>
                <a:cs typeface="Times New Roman" panose="02020603050405020304" pitchFamily="18" charset="0"/>
              </a:rPr>
              <a:t>Detection results displayed to the user</a:t>
            </a:r>
          </a:p>
          <a:p>
            <a:pPr marL="0" indent="0" algn="just">
              <a:buNone/>
            </a:pP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1169795" y="1496068"/>
            <a:ext cx="9299734" cy="5118470"/>
          </a:xfrm>
        </p:spPr>
        <p:txBody>
          <a:bodyPr>
            <a:normAutofit lnSpcReduction="10000"/>
          </a:bodyPr>
          <a:lstStyle/>
          <a:p>
            <a:pPr marL="0" indent="0" algn="l">
              <a:lnSpc>
                <a:spcPct val="150000"/>
              </a:lnSpc>
              <a:buNone/>
            </a:pPr>
            <a:r>
              <a:rPr lang="en-US" sz="1800" b="1" dirty="0">
                <a:latin typeface="Times New Roman" panose="02020603050405020304" pitchFamily="18" charset="0"/>
                <a:cs typeface="Times New Roman" panose="02020603050405020304" pitchFamily="18" charset="0"/>
              </a:rPr>
              <a:t>HARDWARE REQUIREMENTS</a:t>
            </a:r>
          </a:p>
          <a:p>
            <a:pPr lvl="1" algn="l">
              <a:lnSpc>
                <a:spcPct val="150000"/>
              </a:lnSpc>
              <a:buFont typeface="Arial" pitchFamily="34" charset="0"/>
              <a:buChar char="•"/>
            </a:pPr>
            <a:r>
              <a:rPr lang="en-US" sz="1800" b="1" dirty="0">
                <a:latin typeface="Times New Roman" panose="02020603050405020304" pitchFamily="18" charset="0"/>
                <a:cs typeface="Times New Roman" panose="02020603050405020304" pitchFamily="18" charset="0"/>
              </a:rPr>
              <a:t>Processor</a:t>
            </a:r>
            <a:r>
              <a:rPr lang="en-US" sz="1800" dirty="0">
                <a:latin typeface="Times New Roman" panose="02020603050405020304" pitchFamily="18" charset="0"/>
                <a:cs typeface="Times New Roman" panose="02020603050405020304" pitchFamily="18" charset="0"/>
              </a:rPr>
              <a:t> 		: Intel Core i5 / i7 processor or higher</a:t>
            </a:r>
          </a:p>
          <a:p>
            <a:pPr lvl="1" algn="l">
              <a:lnSpc>
                <a:spcPct val="150000"/>
              </a:lnSpc>
              <a:buFont typeface="Arial" pitchFamily="34" charset="0"/>
              <a:buChar char="•"/>
            </a:pPr>
            <a:r>
              <a:rPr lang="en-US" sz="1800" b="1" dirty="0">
                <a:latin typeface="Times New Roman" panose="02020603050405020304" pitchFamily="18" charset="0"/>
                <a:cs typeface="Times New Roman" panose="02020603050405020304" pitchFamily="18" charset="0"/>
              </a:rPr>
              <a:t>RAM</a:t>
            </a:r>
            <a:r>
              <a:rPr lang="en-US" sz="1800" dirty="0">
                <a:latin typeface="Times New Roman" panose="02020603050405020304" pitchFamily="18" charset="0"/>
                <a:cs typeface="Times New Roman" panose="02020603050405020304" pitchFamily="18" charset="0"/>
              </a:rPr>
              <a:t> 		: 16 GB</a:t>
            </a:r>
          </a:p>
          <a:p>
            <a:pPr lvl="1" algn="l">
              <a:lnSpc>
                <a:spcPct val="150000"/>
              </a:lnSpc>
              <a:buFont typeface="Arial" pitchFamily="34" charset="0"/>
              <a:buChar char="•"/>
            </a:pPr>
            <a:r>
              <a:rPr lang="en-US" sz="1800" b="1" dirty="0">
                <a:latin typeface="Times New Roman" panose="02020603050405020304" pitchFamily="18" charset="0"/>
                <a:cs typeface="Times New Roman" panose="02020603050405020304" pitchFamily="18" charset="0"/>
              </a:rPr>
              <a:t>Disk Space</a:t>
            </a:r>
            <a:r>
              <a:rPr lang="en-US" sz="1800" dirty="0">
                <a:latin typeface="Times New Roman" panose="02020603050405020304" pitchFamily="18" charset="0"/>
                <a:cs typeface="Times New Roman" panose="02020603050405020304" pitchFamily="18" charset="0"/>
              </a:rPr>
              <a:t> 	: 500 GB SSD</a:t>
            </a:r>
          </a:p>
          <a:p>
            <a:pPr lvl="1" algn="l">
              <a:lnSpc>
                <a:spcPct val="150000"/>
              </a:lnSpc>
              <a:buFont typeface="Arial" pitchFamily="34" charset="0"/>
              <a:buChar char="•"/>
            </a:pPr>
            <a:r>
              <a:rPr lang="en-US" sz="1800" b="1" dirty="0">
                <a:latin typeface="Times New Roman" panose="02020603050405020304" pitchFamily="18" charset="0"/>
                <a:cs typeface="Times New Roman" panose="02020603050405020304" pitchFamily="18" charset="0"/>
              </a:rPr>
              <a:t>Display</a:t>
            </a:r>
            <a:r>
              <a:rPr lang="en-US" sz="1800" dirty="0">
                <a:latin typeface="Times New Roman" panose="02020603050405020304" pitchFamily="18" charset="0"/>
                <a:cs typeface="Times New Roman" panose="02020603050405020304" pitchFamily="18" charset="0"/>
              </a:rPr>
              <a:t> 		: Standard Monitor</a:t>
            </a:r>
          </a:p>
          <a:p>
            <a:pPr marL="0" indent="0" algn="l">
              <a:lnSpc>
                <a:spcPct val="150000"/>
              </a:lnSpc>
              <a:buNone/>
            </a:pPr>
            <a:r>
              <a:rPr lang="en-US" sz="1800" b="1" dirty="0">
                <a:latin typeface="Times New Roman" panose="02020603050405020304" pitchFamily="18" charset="0"/>
                <a:cs typeface="Times New Roman" panose="02020603050405020304" pitchFamily="18" charset="0"/>
              </a:rPr>
              <a:t>SOFTWARE REQUIREMENTS</a:t>
            </a:r>
          </a:p>
          <a:p>
            <a:pPr lvl="1" algn="l">
              <a:lnSpc>
                <a:spcPct val="150000"/>
              </a:lnSpc>
              <a:buFont typeface="Arial" pitchFamily="34" charset="0"/>
              <a:buChar char="•"/>
            </a:pPr>
            <a:r>
              <a:rPr lang="en-US" sz="1800" b="1" dirty="0">
                <a:latin typeface="Times New Roman" panose="02020603050405020304" pitchFamily="18" charset="0"/>
                <a:cs typeface="Times New Roman" panose="02020603050405020304" pitchFamily="18" charset="0"/>
              </a:rPr>
              <a:t>Operating System</a:t>
            </a:r>
            <a:r>
              <a:rPr lang="en-US" sz="1800" dirty="0">
                <a:latin typeface="Times New Roman" panose="02020603050405020304" pitchFamily="18" charset="0"/>
                <a:cs typeface="Times New Roman" panose="02020603050405020304" pitchFamily="18" charset="0"/>
              </a:rPr>
              <a:t> 		: Windows 10 / 11</a:t>
            </a:r>
          </a:p>
          <a:p>
            <a:pPr lvl="1" algn="l">
              <a:lnSpc>
                <a:spcPct val="150000"/>
              </a:lnSpc>
              <a:buFont typeface="Arial" pitchFamily="34" charset="0"/>
              <a:buChar char="•"/>
            </a:pPr>
            <a:r>
              <a:rPr lang="en-US" sz="1800" b="1" dirty="0">
                <a:latin typeface="Times New Roman" panose="02020603050405020304" pitchFamily="18" charset="0"/>
                <a:cs typeface="Times New Roman" panose="02020603050405020304" pitchFamily="18" charset="0"/>
              </a:rPr>
              <a:t>Python</a:t>
            </a:r>
            <a:r>
              <a:rPr lang="en-US" sz="1800" dirty="0">
                <a:latin typeface="Times New Roman" panose="02020603050405020304" pitchFamily="18" charset="0"/>
                <a:cs typeface="Times New Roman" panose="02020603050405020304" pitchFamily="18" charset="0"/>
              </a:rPr>
              <a:t> 			: Python 3.8 or higher</a:t>
            </a:r>
          </a:p>
          <a:p>
            <a:pPr lvl="1" algn="l">
              <a:lnSpc>
                <a:spcPct val="150000"/>
              </a:lnSpc>
              <a:buFont typeface="Arial" pitchFamily="34" charset="0"/>
              <a:buChar char="•"/>
            </a:pPr>
            <a:r>
              <a:rPr lang="en-US" sz="1800" b="1" dirty="0">
                <a:latin typeface="Times New Roman" panose="02020603050405020304" pitchFamily="18" charset="0"/>
                <a:cs typeface="Times New Roman" panose="02020603050405020304" pitchFamily="18" charset="0"/>
              </a:rPr>
              <a:t>Front End 		</a:t>
            </a:r>
            <a:r>
              <a:rPr lang="en-US" sz="1800"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HTML, CSS, JS</a:t>
            </a:r>
          </a:p>
          <a:p>
            <a:pPr lvl="1" algn="l">
              <a:lnSpc>
                <a:spcPct val="150000"/>
              </a:lnSpc>
              <a:buFont typeface="Arial" pitchFamily="34" charset="0"/>
              <a:buChar char="•"/>
            </a:pPr>
            <a:r>
              <a:rPr lang="en-US" sz="1800" b="1" dirty="0">
                <a:latin typeface="Times New Roman" panose="02020603050405020304" pitchFamily="18" charset="0"/>
                <a:cs typeface="Times New Roman" panose="02020603050405020304" pitchFamily="18" charset="0"/>
              </a:rPr>
              <a:t>Database</a:t>
            </a:r>
            <a:r>
              <a:rPr lang="en-US" sz="1800" dirty="0">
                <a:latin typeface="Times New Roman" panose="02020603050405020304" pitchFamily="18" charset="0"/>
                <a:cs typeface="Times New Roman" panose="02020603050405020304" pitchFamily="18" charset="0"/>
              </a:rPr>
              <a:t> 			: MySQL / SQLite</a:t>
            </a:r>
          </a:p>
          <a:p>
            <a:pPr lvl="1" algn="l">
              <a:lnSpc>
                <a:spcPct val="150000"/>
              </a:lnSpc>
              <a:buFont typeface="Arial" pitchFamily="34" charset="0"/>
              <a:buChar char="•"/>
            </a:pPr>
            <a:r>
              <a:rPr lang="en-US" sz="1800" b="1" dirty="0">
                <a:latin typeface="Times New Roman" panose="02020603050405020304" pitchFamily="18" charset="0"/>
                <a:cs typeface="Times New Roman" panose="02020603050405020304" pitchFamily="18" charset="0"/>
              </a:rPr>
              <a:t>Development Environment</a:t>
            </a:r>
            <a:r>
              <a:rPr lang="en-US" sz="1800" dirty="0">
                <a:latin typeface="Times New Roman" panose="02020603050405020304" pitchFamily="18" charset="0"/>
                <a:cs typeface="Times New Roman" panose="02020603050405020304" pitchFamily="18" charset="0"/>
              </a:rPr>
              <a:t> : VS Code</a:t>
            </a:r>
          </a:p>
        </p:txBody>
      </p:sp>
    </p:spTree>
    <p:extLst>
      <p:ext uri="{BB962C8B-B14F-4D97-AF65-F5344CB8AC3E}">
        <p14:creationId xmlns:p14="http://schemas.microsoft.com/office/powerpoint/2010/main" val="15483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chemeClr val="tx1"/>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1208965" y="1680796"/>
            <a:ext cx="8745526" cy="4776358"/>
          </a:xfrm>
        </p:spPr>
        <p:txBody>
          <a:bodyPr>
            <a:noAutofit/>
          </a:bodyPr>
          <a:lstStyle/>
          <a:p>
            <a:pPr algn="just">
              <a:lnSpc>
                <a:spcPct val="150000"/>
              </a:lnSpc>
            </a:pPr>
            <a:r>
              <a:rPr lang="en-US" sz="2000" dirty="0">
                <a:latin typeface="Times New Roman" panose="02020603050405020304" pitchFamily="18" charset="0"/>
                <a:cs typeface="Times New Roman" panose="02020603050405020304" pitchFamily="18" charset="0"/>
              </a:rPr>
              <a:t>This project proposes an advanced Explainable AI-based framework for bone tumor detection using hybrid deep learning architectures. </a:t>
            </a:r>
          </a:p>
          <a:p>
            <a:pPr algn="just">
              <a:lnSpc>
                <a:spcPct val="150000"/>
              </a:lnSpc>
            </a:pPr>
            <a:r>
              <a:rPr lang="en-US" sz="2000" dirty="0">
                <a:latin typeface="Times New Roman" panose="02020603050405020304" pitchFamily="18" charset="0"/>
                <a:cs typeface="Times New Roman" panose="02020603050405020304" pitchFamily="18" charset="0"/>
              </a:rPr>
              <a:t>By integrating </a:t>
            </a:r>
            <a:r>
              <a:rPr lang="en-US" sz="2000" dirty="0" err="1">
                <a:latin typeface="Times New Roman" panose="02020603050405020304" pitchFamily="18" charset="0"/>
                <a:cs typeface="Times New Roman" panose="02020603050405020304" pitchFamily="18" charset="0"/>
              </a:rPr>
              <a:t>ResNet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EfficientNet</a:t>
            </a:r>
            <a:r>
              <a:rPr lang="en-US" sz="2000" dirty="0">
                <a:latin typeface="Times New Roman" panose="02020603050405020304" pitchFamily="18" charset="0"/>
                <a:cs typeface="Times New Roman" panose="02020603050405020304" pitchFamily="18" charset="0"/>
              </a:rPr>
              <a:t>, and Vision Transformers with enhanced preprocessing and visualization techniques, the system addresses limitations of existing methods. </a:t>
            </a:r>
          </a:p>
          <a:p>
            <a:pPr algn="just">
              <a:lnSpc>
                <a:spcPct val="150000"/>
              </a:lnSpc>
            </a:pPr>
            <a:r>
              <a:rPr lang="en-US" sz="2000" dirty="0">
                <a:latin typeface="Times New Roman" panose="02020603050405020304" pitchFamily="18" charset="0"/>
                <a:cs typeface="Times New Roman" panose="02020603050405020304" pitchFamily="18" charset="0"/>
              </a:rPr>
              <a:t>The proposed solution aims to deliver higher accuracy, interpretability, and reliability, making it a valuable clinical decision-support tool for early bone tumor diagnosis.</a:t>
            </a:r>
          </a:p>
        </p:txBody>
      </p:sp>
    </p:spTree>
    <p:extLst>
      <p:ext uri="{BB962C8B-B14F-4D97-AF65-F5344CB8AC3E}">
        <p14:creationId xmlns:p14="http://schemas.microsoft.com/office/powerpoint/2010/main" val="2614999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20911" y="2012317"/>
            <a:ext cx="7319235" cy="1929977"/>
          </a:xfrm>
        </p:spPr>
        <p:txBody>
          <a:bodyPr/>
          <a:lstStyle/>
          <a:p>
            <a:r>
              <a:rPr lang="en-US" dirty="0">
                <a:solidFill>
                  <a:schemeClr val="tx1"/>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116</TotalTime>
  <Words>848</Words>
  <Application>Microsoft Office PowerPoint</Application>
  <PresentationFormat>Custom</PresentationFormat>
  <Paragraphs>100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Gill Sans MT</vt:lpstr>
      <vt:lpstr>Times New Roman</vt:lpstr>
      <vt:lpstr>Verdana</vt:lpstr>
      <vt:lpstr>Wingdings 2</vt:lpstr>
      <vt:lpstr>Solstice</vt:lpstr>
      <vt:lpstr>Explainable AI-Driven Bone Tumor Detection Using Hybrid ResNet, EfficientNet, and ViT Models</vt:lpstr>
      <vt:lpstr>ABSTRACT</vt:lpstr>
      <vt:lpstr>INTRODUCTION</vt:lpstr>
      <vt:lpstr>SUMMARY OF LITERATURE</vt:lpstr>
      <vt:lpstr>EXISTING SYSTEM</vt:lpstr>
      <vt:lpstr>DISADVANTAGES</vt:lpstr>
      <vt:lpstr>PROPOSED SYSTEM</vt:lpstr>
      <vt:lpstr>ADVANTAGES</vt:lpstr>
      <vt:lpstr>METHODOLOGY</vt:lpstr>
      <vt:lpstr>SYSTEM REQUIREMENTS</vt:lpstr>
      <vt:lpstr>CONCLUSION</vt:lpstr>
      <vt:lpstr>THANK YOU</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dc:description>generated using python-pptx</dc:description>
  <cp:lastModifiedBy>shrimathikannaiyan1809@outlook.com</cp:lastModifiedBy>
  <cp:revision>19</cp:revision>
  <dcterms:created xsi:type="dcterms:W3CDTF">2013-01-27T09:14:16Z</dcterms:created>
  <dcterms:modified xsi:type="dcterms:W3CDTF">2026-03-17T16:43:54Z</dcterms:modified>
</cp:coreProperties>
</file>