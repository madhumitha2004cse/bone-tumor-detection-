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81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193A7DA-CF9D-436D-B974-6CDEFF74E26C}">
          <p14:sldIdLst>
            <p14:sldId id="256"/>
          </p14:sldIdLst>
        </p14:section>
        <p14:section name="Untitled Section" id="{57CDF431-F16E-43D6-88FE-FC1DCA562301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2"/>
            <p14:sldId id="271"/>
            <p14:sldId id="273"/>
            <p14:sldId id="274"/>
            <p14:sldId id="275"/>
            <p14:sldId id="276"/>
            <p14:sldId id="277"/>
            <p14:sldId id="281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8C17-3C1C-0C7D-D429-DCAE4D085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72E31-5F33-A0D7-CFCE-8A29033FA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6820F-39F9-09CF-B7C8-D6777A87E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4B0-8586-41D0-A1AC-03A791C3F52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0005F-0B28-E83A-B555-3A3A2C20F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D11C8-F7D1-6B90-9E8D-A71DF505F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6CC4-7C89-4391-AA8A-D85BB324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2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B9E1-854B-D647-690F-7D3284A9C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D13B7-C22C-8007-8874-ED9FBFBD3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836D3-3F3C-9D35-0F16-CC2742FB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4B0-8586-41D0-A1AC-03A791C3F52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B5F74-EC46-F586-731C-865C8EDE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69591-9C05-B691-776E-337EF06E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6CC4-7C89-4391-AA8A-D85BB324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4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0DAF5-CB0D-E93A-9029-F28192829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08A5E-463A-7EA7-F0FD-3592E3FB3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D9BB1-B5A7-4581-BB3C-D998249A7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4B0-8586-41D0-A1AC-03A791C3F52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8E710-C4B7-31C0-EA23-E0EB1E0C8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AEC67-B5BB-3648-491F-E7C98F5C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6CC4-7C89-4391-AA8A-D85BB324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28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B99E-343F-C21B-3A7D-CFE5B5448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004A6-440F-055C-BBBB-7E1B286FBB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CD80F-195D-4B8A-CEB8-EA470ABB3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94C2A-656B-D2E3-BEC4-26D02FDEB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4B0-8586-41D0-A1AC-03A791C3F52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65B68-BE2D-511E-1EF3-D8B046000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DB50B-C0CB-7E3B-8690-300016BAF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6CC4-7C89-4391-AA8A-D85BB324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76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341FE-FCB1-3072-B983-62AC137B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2891E-C249-3400-E48D-F531938C1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86BB2-EDD6-F402-1909-88FB6FCB7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BAF41C-CCBB-B68C-9066-7446937F4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681E2D-6565-EB19-79AE-5B2F8F17C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E849BA-DB2A-A81C-00A8-E83F7D682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4B0-8586-41D0-A1AC-03A791C3F52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2DDEB6-5523-CC78-E7ED-29EBFD50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2520C-1A0E-32E1-E213-4703D64CE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6CC4-7C89-4391-AA8A-D85BB324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01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1347E-0034-9B03-CC71-0B6FF96B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E72175-152F-5419-32D8-122C30AE2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4B0-8586-41D0-A1AC-03A791C3F52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C974E-C525-9934-663B-A5BD28EA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8234A-C61C-4205-227B-F95910D26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6CC4-7C89-4391-AA8A-D85BB324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6D36E1-133D-FECD-620E-3D70571EF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4B0-8586-41D0-A1AC-03A791C3F52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082613-3DE3-53A9-5414-8B1A3213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6772D-2FDA-0DDC-5B88-CB965175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6CC4-7C89-4391-AA8A-D85BB324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51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87A96-2E25-3B25-9378-5985C5A5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69A3F-FB65-0188-735C-A23D72BDE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EF14C-CC92-EBEC-4A56-DBA323D5E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D2AA6-9922-9DF6-2591-82E208E5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4B0-8586-41D0-A1AC-03A791C3F52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B8CE6-7AF4-53DB-A164-115641312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5ECBA-4F92-3C51-9A07-A5920B896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6CC4-7C89-4391-AA8A-D85BB324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77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36B1-9315-7656-C769-EE17C728B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4960E4-ADD9-4648-FC10-16AC3ADBF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338B8-B36A-6A38-2955-39FA0D0A2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1A93C-980C-C082-17ED-78A795E0D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4B0-8586-41D0-A1AC-03A791C3F52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AB415-3B1D-D9D1-D5ED-ECCD7B2A3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A768E-60FE-05BF-A822-A1159355F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6CC4-7C89-4391-AA8A-D85BB324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50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2DBAB-7476-1A49-7CDC-2ABCF80B0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46233-85FF-FC87-958F-3EFC438DD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2DA6A-4A30-EF38-DDA0-EDC49C26D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4B0-8586-41D0-A1AC-03A791C3F52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9FF52-5895-CA26-736F-56F6FADC1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DB6E9-FADE-D18B-8872-93CBF9A5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6CC4-7C89-4391-AA8A-D85BB324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4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FA20-71D1-8B92-4A59-448606FD8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9E954-67FA-5CD2-71C7-1C629A062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1B8F6-6E4F-F0C6-261B-1E6A780B5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5A4B0-8586-41D0-A1AC-03A791C3F52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186DE-F99B-8F63-1856-3BAF56CE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C0669-1047-4679-80E2-7C64CE9F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6CC4-7C89-4391-AA8A-D85BB324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2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107DF5-447A-B0E4-9A6B-9DDE3AC17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93CC1-0A7A-9EC9-FFCD-F7CAE6EBB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1F4CA-ECE0-C670-86B4-3FC72AA6D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5A4B0-8586-41D0-A1AC-03A791C3F52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DC181-5EDB-28ED-B34B-86C364239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89FA2-E27D-3B06-C277-88296D953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56CC4-7C89-4391-AA8A-D85BB324E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35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4B65-98C0-E60A-29CA-8DDFB4F4E553}"/>
              </a:ext>
            </a:extLst>
          </p:cNvPr>
          <p:cNvSpPr txBox="1"/>
          <p:nvPr/>
        </p:nvSpPr>
        <p:spPr>
          <a:xfrm>
            <a:off x="1028701" y="2256181"/>
            <a:ext cx="9698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WORKER HIRING AND MANAGEMENT SYSTEM USING ANDROID AND FIREBASE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4" descr="Anna University - Wikipedia">
            <a:extLst>
              <a:ext uri="{FF2B5EF4-FFF2-40B4-BE49-F238E27FC236}">
                <a16:creationId xmlns:a16="http://schemas.microsoft.com/office/drawing/2014/main" id="{0B468CA1-BEBD-AFFB-DBCE-F5BB28348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560" y="233680"/>
            <a:ext cx="1066800" cy="1059688"/>
          </a:xfrm>
          <a:prstGeom prst="rect">
            <a:avLst/>
          </a:prstGeom>
          <a:noFill/>
        </p:spPr>
      </p:pic>
      <p:pic>
        <p:nvPicPr>
          <p:cNvPr id="7" name="Picture 6" descr="COLLEGE.jpg">
            <a:extLst>
              <a:ext uri="{FF2B5EF4-FFF2-40B4-BE49-F238E27FC236}">
                <a16:creationId xmlns:a16="http://schemas.microsoft.com/office/drawing/2014/main" id="{7944CF1E-1B4F-F6AE-BE7F-33D3C99F2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356" y="183083"/>
            <a:ext cx="8412603" cy="1160882"/>
          </a:xfrm>
          <a:prstGeom prst="rect">
            <a:avLst/>
          </a:prstGeom>
        </p:spPr>
      </p:pic>
      <p:pic>
        <p:nvPicPr>
          <p:cNvPr id="8" name="Picture 6" descr="Selvam College of Technology, Namakkal">
            <a:extLst>
              <a:ext uri="{FF2B5EF4-FFF2-40B4-BE49-F238E27FC236}">
                <a16:creationId xmlns:a16="http://schemas.microsoft.com/office/drawing/2014/main" id="{567D4C96-E323-69BE-F0B7-B8C232D3E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551160" y="124765"/>
            <a:ext cx="1219200" cy="121920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5B595B-EEE9-2323-4C60-C150BC755E2F}"/>
              </a:ext>
            </a:extLst>
          </p:cNvPr>
          <p:cNvSpPr txBox="1"/>
          <p:nvPr/>
        </p:nvSpPr>
        <p:spPr>
          <a:xfrm>
            <a:off x="314960" y="47886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PRESENTED BY,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66FC2-7FB1-11DE-D04F-1C24ED205FED}"/>
              </a:ext>
            </a:extLst>
          </p:cNvPr>
          <p:cNvSpPr txBox="1"/>
          <p:nvPr/>
        </p:nvSpPr>
        <p:spPr>
          <a:xfrm>
            <a:off x="-50800" y="497332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DHANUSHKUMAR R 	(622522104006)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itchFamily="18" charset="0"/>
              </a:rPr>
              <a:t>       KEERTHIVASAN C       (622522104022)</a:t>
            </a:r>
            <a:endParaRPr lang="en-IN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IN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KISHORE G 	</a:t>
            </a:r>
            <a:r>
              <a:rPr lang="en-IN" dirty="0">
                <a:latin typeface="Times New Roman" panose="02020603050405020304" pitchFamily="18" charset="0"/>
                <a:cs typeface="Times New Roman" pitchFamily="18" charset="0"/>
              </a:rPr>
              <a:t>	</a:t>
            </a:r>
            <a:r>
              <a:rPr lang="en-IN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(622522204023)</a:t>
            </a:r>
          </a:p>
          <a:p>
            <a:pPr algn="l"/>
            <a:r>
              <a:rPr lang="en-IN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NAGARAJ S 		(622522104031)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217557-23CF-DC4A-5265-E4D5CE2BBFD0}"/>
              </a:ext>
            </a:extLst>
          </p:cNvPr>
          <p:cNvSpPr txBox="1"/>
          <p:nvPr/>
        </p:nvSpPr>
        <p:spPr>
          <a:xfrm>
            <a:off x="8155940" y="4788654"/>
            <a:ext cx="612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GUIDED BY 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5020F0-1630-42BB-20E6-9BBA79CC3DB6}"/>
              </a:ext>
            </a:extLst>
          </p:cNvPr>
          <p:cNvSpPr txBox="1"/>
          <p:nvPr/>
        </p:nvSpPr>
        <p:spPr>
          <a:xfrm>
            <a:off x="5486400" y="5157986"/>
            <a:ext cx="71374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Mrs.M.MANIPRIYA.,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M.E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</a:t>
            </a:r>
          </a:p>
          <a:p>
            <a:pPr algn="ctr"/>
            <a:r>
              <a:rPr lang="en-IN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ASSISTANT PROFESSOR , </a:t>
            </a:r>
          </a:p>
          <a:p>
            <a:pPr algn="ctr"/>
            <a:r>
              <a:rPr lang="en-IN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INFORMATION TECHNOLOGY, </a:t>
            </a:r>
          </a:p>
          <a:p>
            <a:pPr algn="ctr"/>
            <a:r>
              <a:rPr lang="en-IN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SELVAM COLLEGE OF TECHNOLOGY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20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18841E2-C57F-15DB-E9EF-441A9DB53A6E}"/>
              </a:ext>
            </a:extLst>
          </p:cNvPr>
          <p:cNvSpPr txBox="1"/>
          <p:nvPr/>
        </p:nvSpPr>
        <p:spPr>
          <a:xfrm>
            <a:off x="217697" y="34977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61D81D-2254-24C1-C8D8-7FA71BF57799}"/>
              </a:ext>
            </a:extLst>
          </p:cNvPr>
          <p:cNvSpPr txBox="1"/>
          <p:nvPr/>
        </p:nvSpPr>
        <p:spPr>
          <a:xfrm>
            <a:off x="217697" y="7980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Service Access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9FC42A-6E92-4988-2BB6-EFAB42796680}"/>
              </a:ext>
            </a:extLst>
          </p:cNvPr>
          <p:cNvSpPr txBox="1"/>
          <p:nvPr/>
        </p:nvSpPr>
        <p:spPr>
          <a:xfrm>
            <a:off x="-806245" y="13760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tech reshapes service access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4F928C-B322-AFE2-9594-4FB52BE9ABEF}"/>
              </a:ext>
            </a:extLst>
          </p:cNvPr>
          <p:cNvSpPr txBox="1"/>
          <p:nvPr/>
        </p:nvSpPr>
        <p:spPr>
          <a:xfrm>
            <a:off x="-341835" y="25101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workers still rely on personal contacts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C8A798-03FF-3E75-87FE-8137348FAEA7}"/>
              </a:ext>
            </a:extLst>
          </p:cNvPr>
          <p:cNvSpPr txBox="1"/>
          <p:nvPr/>
        </p:nvSpPr>
        <p:spPr>
          <a:xfrm>
            <a:off x="-1143164" y="35077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Fragmented hiring process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AE2959-6106-4C75-BB95-25A714A95386}"/>
              </a:ext>
            </a:extLst>
          </p:cNvPr>
          <p:cNvSpPr txBox="1"/>
          <p:nvPr/>
        </p:nvSpPr>
        <p:spPr>
          <a:xfrm>
            <a:off x="-806245" y="4555145"/>
            <a:ext cx="6136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 unified digital platform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AED23E-5ED6-349C-0AFB-F0E14E5600A8}"/>
              </a:ext>
            </a:extLst>
          </p:cNvPr>
          <p:cNvSpPr txBox="1"/>
          <p:nvPr/>
        </p:nvSpPr>
        <p:spPr>
          <a:xfrm>
            <a:off x="673509" y="1831201"/>
            <a:ext cx="108272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rise of mobile applications has revolutionized how services are accessed, enabling instant connections between clients and local workers.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153AEE-BA10-78AA-BF62-4002F7D7747A}"/>
              </a:ext>
            </a:extLst>
          </p:cNvPr>
          <p:cNvSpPr txBox="1"/>
          <p:nvPr/>
        </p:nvSpPr>
        <p:spPr>
          <a:xfrm>
            <a:off x="636639" y="2912078"/>
            <a:ext cx="11162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Despite technological advancements, many local workers depend on personal networks for job opportunities, limiting </a:t>
            </a:r>
          </a:p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their reach.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9D25EE-9BE1-DD5F-8D9E-CF7420A7921F}"/>
              </a:ext>
            </a:extLst>
          </p:cNvPr>
          <p:cNvSpPr txBox="1"/>
          <p:nvPr/>
        </p:nvSpPr>
        <p:spPr>
          <a:xfrm>
            <a:off x="636639" y="3908814"/>
            <a:ext cx="109010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hiring practices are disjointed, leading to inefficiencies and missed opportunities for both workers and clients.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DD4F47-8433-CC75-8295-0E00631D4362}"/>
              </a:ext>
            </a:extLst>
          </p:cNvPr>
          <p:cNvSpPr txBox="1"/>
          <p:nvPr/>
        </p:nvSpPr>
        <p:spPr>
          <a:xfrm>
            <a:off x="548639" y="4951425"/>
            <a:ext cx="10821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platform can streamline the hiring process, enhancing visibility and accessibility for local workers.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68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60AA8C-39B5-A41E-C17A-CB3A80476F50}"/>
              </a:ext>
            </a:extLst>
          </p:cNvPr>
          <p:cNvSpPr txBox="1"/>
          <p:nvPr/>
        </p:nvSpPr>
        <p:spPr>
          <a:xfrm>
            <a:off x="192333" y="30884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DBF07-87F5-89E0-7CE9-4824E76BF5E9}"/>
              </a:ext>
            </a:extLst>
          </p:cNvPr>
          <p:cNvSpPr txBox="1"/>
          <p:nvPr/>
        </p:nvSpPr>
        <p:spPr>
          <a:xfrm>
            <a:off x="192333" y="9536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Hiring and Communication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28F6F7-C839-F96F-844D-B022B712E133}"/>
              </a:ext>
            </a:extLst>
          </p:cNvPr>
          <p:cNvSpPr txBox="1"/>
          <p:nvPr/>
        </p:nvSpPr>
        <p:spPr>
          <a:xfrm>
            <a:off x="-468268" y="18236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Android-Firebase centralized platform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F1A916-6F12-376B-F63B-38D9DBF94410}"/>
              </a:ext>
            </a:extLst>
          </p:cNvPr>
          <p:cNvSpPr txBox="1"/>
          <p:nvPr/>
        </p:nvSpPr>
        <p:spPr>
          <a:xfrm>
            <a:off x="-576422" y="3059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Streamlined hiring &amp; communication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597C2C-5238-ABC2-F934-B03C70F89D50}"/>
              </a:ext>
            </a:extLst>
          </p:cNvPr>
          <p:cNvSpPr txBox="1"/>
          <p:nvPr/>
        </p:nvSpPr>
        <p:spPr>
          <a:xfrm>
            <a:off x="-919240" y="4293204"/>
            <a:ext cx="662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authentication, real-time DB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29944-06E8-49B8-6FD7-442E87520EFF}"/>
              </a:ext>
            </a:extLst>
          </p:cNvPr>
          <p:cNvSpPr txBox="1"/>
          <p:nvPr/>
        </p:nvSpPr>
        <p:spPr>
          <a:xfrm>
            <a:off x="603613" y="2310112"/>
            <a:ext cx="97497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combines the power of Android for mobile accessibility with Firebase for backend support, creating a robust hiring environment.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113237-0FA0-1098-7A3A-385A7F2C0963}"/>
              </a:ext>
            </a:extLst>
          </p:cNvPr>
          <p:cNvSpPr txBox="1"/>
          <p:nvPr/>
        </p:nvSpPr>
        <p:spPr>
          <a:xfrm>
            <a:off x="603613" y="3486324"/>
            <a:ext cx="8964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simplifies the interaction between clients and workers, fostering quicker hiring decisions and clearer communication.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7445C4-57DC-0532-5151-DAF6980AAE5F}"/>
              </a:ext>
            </a:extLst>
          </p:cNvPr>
          <p:cNvSpPr txBox="1"/>
          <p:nvPr/>
        </p:nvSpPr>
        <p:spPr>
          <a:xfrm>
            <a:off x="603613" y="4823085"/>
            <a:ext cx="94460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Utilizing Firebase's secure authentication and real-time database capabilities ensures data integrity and immediate updates.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228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70DFDF-A9D4-452D-9102-C10865EAA757}"/>
              </a:ext>
            </a:extLst>
          </p:cNvPr>
          <p:cNvSpPr txBox="1"/>
          <p:nvPr/>
        </p:nvSpPr>
        <p:spPr>
          <a:xfrm>
            <a:off x="226123" y="50310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A0EF1A-5963-F7BF-EF3D-83830AE9470B}"/>
              </a:ext>
            </a:extLst>
          </p:cNvPr>
          <p:cNvSpPr txBox="1"/>
          <p:nvPr/>
        </p:nvSpPr>
        <p:spPr>
          <a:xfrm>
            <a:off x="226123" y="9965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Local Hiring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9DC1BC-E8ED-7443-7135-F23D701A7D7E}"/>
              </a:ext>
            </a:extLst>
          </p:cNvPr>
          <p:cNvSpPr txBox="1"/>
          <p:nvPr/>
        </p:nvSpPr>
        <p:spPr>
          <a:xfrm>
            <a:off x="-622300" y="165935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central visibility for workers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2F641-5241-A3F2-5FCD-F4C1F7D29DD8}"/>
              </a:ext>
            </a:extLst>
          </p:cNvPr>
          <p:cNvSpPr txBox="1"/>
          <p:nvPr/>
        </p:nvSpPr>
        <p:spPr>
          <a:xfrm>
            <a:off x="-609600" y="2902188"/>
            <a:ext cx="6497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communication &amp; scheduling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FE8548-0E42-F12D-949D-B5E7350139E0}"/>
              </a:ext>
            </a:extLst>
          </p:cNvPr>
          <p:cNvSpPr txBox="1"/>
          <p:nvPr/>
        </p:nvSpPr>
        <p:spPr>
          <a:xfrm>
            <a:off x="-91358" y="4129241"/>
            <a:ext cx="649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job reach beyond personal networks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8A6C08-00F3-FBF2-1CE1-BFA480CF3825}"/>
              </a:ext>
            </a:extLst>
          </p:cNvPr>
          <p:cNvSpPr txBox="1"/>
          <p:nvPr/>
        </p:nvSpPr>
        <p:spPr>
          <a:xfrm>
            <a:off x="338968" y="2225347"/>
            <a:ext cx="1094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Workers often lack a platform that provides them visibility to potential clients, restricting job opportunities.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5D09A1-3E24-B48F-0061-917D4041374C}"/>
              </a:ext>
            </a:extLst>
          </p:cNvPr>
          <p:cNvSpPr txBox="1"/>
          <p:nvPr/>
        </p:nvSpPr>
        <p:spPr>
          <a:xfrm>
            <a:off x="737400" y="3332945"/>
            <a:ext cx="10550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methods of communication are often slow and unreliable, leading to missed opportunities and scheduling conflicts.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FBFC75-E174-F8EC-3359-1CB91F23E83D}"/>
              </a:ext>
            </a:extLst>
          </p:cNvPr>
          <p:cNvSpPr txBox="1"/>
          <p:nvPr/>
        </p:nvSpPr>
        <p:spPr>
          <a:xfrm>
            <a:off x="-363057" y="4679316"/>
            <a:ext cx="12063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workers are confined to their immediate circles, limiting their job prospects and potential earnings.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208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959B35-3B4B-E5CE-5805-1D55537BF88A}"/>
              </a:ext>
            </a:extLst>
          </p:cNvPr>
          <p:cNvSpPr txBox="1"/>
          <p:nvPr/>
        </p:nvSpPr>
        <p:spPr>
          <a:xfrm>
            <a:off x="233680" y="45725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DF445D-30CD-3D9A-B96E-B5FC20CDC261}"/>
              </a:ext>
            </a:extLst>
          </p:cNvPr>
          <p:cNvSpPr txBox="1"/>
          <p:nvPr/>
        </p:nvSpPr>
        <p:spPr>
          <a:xfrm>
            <a:off x="345440" y="9012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Goals of the Initiative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C4B617-713C-DC21-6549-44FF808E7154}"/>
              </a:ext>
            </a:extLst>
          </p:cNvPr>
          <p:cNvSpPr txBox="1"/>
          <p:nvPr/>
        </p:nvSpPr>
        <p:spPr>
          <a:xfrm>
            <a:off x="345440" y="15298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worker discoverability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513AC-0A5F-B950-66A3-F8F3DEF470D8}"/>
              </a:ext>
            </a:extLst>
          </p:cNvPr>
          <p:cNvSpPr txBox="1"/>
          <p:nvPr/>
        </p:nvSpPr>
        <p:spPr>
          <a:xfrm>
            <a:off x="345440" y="25200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Accelerate hiring workflow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20794-8B95-6615-EC41-AB0CF9BAB95E}"/>
              </a:ext>
            </a:extLst>
          </p:cNvPr>
          <p:cNvSpPr txBox="1"/>
          <p:nvPr/>
        </p:nvSpPr>
        <p:spPr>
          <a:xfrm>
            <a:off x="345440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digital job opportunities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A6B463-8172-F765-2272-6F0EAB05AFF6}"/>
              </a:ext>
            </a:extLst>
          </p:cNvPr>
          <p:cNvSpPr txBox="1"/>
          <p:nvPr/>
        </p:nvSpPr>
        <p:spPr>
          <a:xfrm>
            <a:off x="345440" y="43429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 communication channels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D0E13C-44BD-5CF3-B0FE-0FD4289406E6}"/>
              </a:ext>
            </a:extLst>
          </p:cNvPr>
          <p:cNvSpPr txBox="1"/>
          <p:nvPr/>
        </p:nvSpPr>
        <p:spPr>
          <a:xfrm>
            <a:off x="740206" y="1891452"/>
            <a:ext cx="9888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centralizing profiles, workers can be easily found by potential clients, enhancing job opportunities.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D2FBE8-42D7-C17B-A1FE-AEDA9BEAC3C0}"/>
              </a:ext>
            </a:extLst>
          </p:cNvPr>
          <p:cNvSpPr txBox="1"/>
          <p:nvPr/>
        </p:nvSpPr>
        <p:spPr>
          <a:xfrm>
            <a:off x="-391979" y="2936414"/>
            <a:ext cx="10027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Streamlining the process reduces time-to-hire, benefiting both clients and workers.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FCD1F7-9986-50F7-6058-FEABEA837C7B}"/>
              </a:ext>
            </a:extLst>
          </p:cNvPr>
          <p:cNvSpPr txBox="1"/>
          <p:nvPr/>
        </p:nvSpPr>
        <p:spPr>
          <a:xfrm>
            <a:off x="124377" y="3832183"/>
            <a:ext cx="10818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opens up new avenues for job postings that reach a wider audience than traditional methods.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BC9A44-919E-7E11-E771-20FF7C0F97C5}"/>
              </a:ext>
            </a:extLst>
          </p:cNvPr>
          <p:cNvSpPr txBox="1"/>
          <p:nvPr/>
        </p:nvSpPr>
        <p:spPr>
          <a:xfrm>
            <a:off x="-110449" y="4845364"/>
            <a:ext cx="11132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clear communication pathways ensures effective interactions between clients and workers.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848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94DE19-C553-A6D4-57F9-234D026FEBA8}"/>
              </a:ext>
            </a:extLst>
          </p:cNvPr>
          <p:cNvSpPr txBox="1"/>
          <p:nvPr/>
        </p:nvSpPr>
        <p:spPr>
          <a:xfrm>
            <a:off x="187513" y="39717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5EA80C-D24A-7CE5-7901-7EBBF03A3C3C}"/>
              </a:ext>
            </a:extLst>
          </p:cNvPr>
          <p:cNvSpPr txBox="1"/>
          <p:nvPr/>
        </p:nvSpPr>
        <p:spPr>
          <a:xfrm>
            <a:off x="187513" y="9386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6A685-F380-A0CF-7CB8-FA502F706200}"/>
              </a:ext>
            </a:extLst>
          </p:cNvPr>
          <p:cNvSpPr txBox="1"/>
          <p:nvPr/>
        </p:nvSpPr>
        <p:spPr>
          <a:xfrm>
            <a:off x="375920" y="1387882"/>
            <a:ext cx="99960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 app for client-worker matching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850267-77FB-63AF-3E98-358FEF97D4B2}"/>
              </a:ext>
            </a:extLst>
          </p:cNvPr>
          <p:cNvSpPr txBox="1"/>
          <p:nvPr/>
        </p:nvSpPr>
        <p:spPr>
          <a:xfrm>
            <a:off x="-918462" y="2571728"/>
            <a:ext cx="6619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 profile &amp; skill management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A866AF-EF9A-F93B-D003-EF8608493287}"/>
              </a:ext>
            </a:extLst>
          </p:cNvPr>
          <p:cNvSpPr txBox="1"/>
          <p:nvPr/>
        </p:nvSpPr>
        <p:spPr>
          <a:xfrm>
            <a:off x="-1135115" y="3703333"/>
            <a:ext cx="6619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request posting &amp; tracking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58D4F0-A6E9-8E3B-B375-9409DD9CA505}"/>
              </a:ext>
            </a:extLst>
          </p:cNvPr>
          <p:cNvSpPr txBox="1"/>
          <p:nvPr/>
        </p:nvSpPr>
        <p:spPr>
          <a:xfrm>
            <a:off x="758283" y="1834168"/>
            <a:ext cx="9613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will utilize algorithms to effectively match clients with local </a:t>
            </a:r>
          </a:p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workers based on skills and availability.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086987-BA56-3BDA-5E52-FD981836AA04}"/>
              </a:ext>
            </a:extLst>
          </p:cNvPr>
          <p:cNvSpPr txBox="1"/>
          <p:nvPr/>
        </p:nvSpPr>
        <p:spPr>
          <a:xfrm>
            <a:off x="743969" y="2977587"/>
            <a:ext cx="92599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Workers can create and update profiles showcasing their skills, increasing their chances of being hired.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6DA511-6F04-176D-0074-A7F97266092D}"/>
              </a:ext>
            </a:extLst>
          </p:cNvPr>
          <p:cNvSpPr txBox="1"/>
          <p:nvPr/>
        </p:nvSpPr>
        <p:spPr>
          <a:xfrm>
            <a:off x="758283" y="4182858"/>
            <a:ext cx="88961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Clients can post job requests and track their progress, enhancing transparency in the hiring process.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676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C6CF87-B703-A1BA-B0B7-7A82158A2D33}"/>
              </a:ext>
            </a:extLst>
          </p:cNvPr>
          <p:cNvSpPr txBox="1"/>
          <p:nvPr/>
        </p:nvSpPr>
        <p:spPr>
          <a:xfrm>
            <a:off x="254000" y="2757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– Part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815AA-83F4-F385-1BBF-B804E1CE81F4}"/>
              </a:ext>
            </a:extLst>
          </p:cNvPr>
          <p:cNvSpPr txBox="1"/>
          <p:nvPr/>
        </p:nvSpPr>
        <p:spPr>
          <a:xfrm>
            <a:off x="254000" y="8856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 from Existing Research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1F769B-F2F3-29D7-A5F4-0F31A3802788}"/>
              </a:ext>
            </a:extLst>
          </p:cNvPr>
          <p:cNvSpPr txBox="1"/>
          <p:nvPr/>
        </p:nvSpPr>
        <p:spPr>
          <a:xfrm>
            <a:off x="254000" y="1861968"/>
            <a:ext cx="65364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service marketplaces boost skilled-labor access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9AFC86-098B-8996-1491-ED31D71FA312}"/>
              </a:ext>
            </a:extLst>
          </p:cNvPr>
          <p:cNvSpPr txBox="1"/>
          <p:nvPr/>
        </p:nvSpPr>
        <p:spPr>
          <a:xfrm>
            <a:off x="254000" y="322894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 studies of current platforms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F479A7-E2EB-A210-8D1B-7AEE800F2AB2}"/>
              </a:ext>
            </a:extLst>
          </p:cNvPr>
          <p:cNvSpPr txBox="1"/>
          <p:nvPr/>
        </p:nvSpPr>
        <p:spPr>
          <a:xfrm>
            <a:off x="540247" y="2358196"/>
            <a:ext cx="8635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indicates that online platforms significantly increase access to skilled labor, facilitating better job matches.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F40104-84CF-6178-64E6-3D93F99C734F}"/>
              </a:ext>
            </a:extLst>
          </p:cNvPr>
          <p:cNvSpPr txBox="1"/>
          <p:nvPr/>
        </p:nvSpPr>
        <p:spPr>
          <a:xfrm>
            <a:off x="628736" y="3747756"/>
            <a:ext cx="86355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Analyzing existing platforms provides insights into best practices and common pitfalls in the hiring landscape.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43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75D02B-A277-F67D-76E2-68A77CBA0985}"/>
              </a:ext>
            </a:extLst>
          </p:cNvPr>
          <p:cNvSpPr txBox="1"/>
          <p:nvPr/>
        </p:nvSpPr>
        <p:spPr>
          <a:xfrm>
            <a:off x="179865" y="51995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– Part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5D11EC-C3C6-22D3-5B4D-F9B389BAEE88}"/>
              </a:ext>
            </a:extLst>
          </p:cNvPr>
          <p:cNvSpPr txBox="1"/>
          <p:nvPr/>
        </p:nvSpPr>
        <p:spPr>
          <a:xfrm>
            <a:off x="179865" y="1104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B1B91-32FA-3AB7-1184-B8921D2FD719}"/>
              </a:ext>
            </a:extLst>
          </p:cNvPr>
          <p:cNvSpPr txBox="1"/>
          <p:nvPr/>
        </p:nvSpPr>
        <p:spPr>
          <a:xfrm>
            <a:off x="-1209040" y="2228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for real-time sync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AE0BA-AA21-9BED-FE19-928C463D165F}"/>
              </a:ext>
            </a:extLst>
          </p:cNvPr>
          <p:cNvSpPr txBox="1"/>
          <p:nvPr/>
        </p:nvSpPr>
        <p:spPr>
          <a:xfrm>
            <a:off x="859608" y="2693611"/>
            <a:ext cx="84417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Firebase's architecture allows for real-time data updates, ensuring that all users have the latest information immediately.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BF5196-409A-2898-1D35-C42E84E823A6}"/>
              </a:ext>
            </a:extLst>
          </p:cNvPr>
          <p:cNvSpPr txBox="1"/>
          <p:nvPr/>
        </p:nvSpPr>
        <p:spPr>
          <a:xfrm>
            <a:off x="-977719" y="3518059"/>
            <a:ext cx="6700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&amp; digital-literacy hurdles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66005C-70A2-12FE-D1E6-486CD8413DF4}"/>
              </a:ext>
            </a:extLst>
          </p:cNvPr>
          <p:cNvSpPr txBox="1"/>
          <p:nvPr/>
        </p:nvSpPr>
        <p:spPr>
          <a:xfrm>
            <a:off x="859609" y="4073288"/>
            <a:ext cx="81860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verifying worker credentials and varying levels of digital literacy can impact user adoption and trust.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874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DED634-A8AF-8521-E24F-1B484C774486}"/>
              </a:ext>
            </a:extLst>
          </p:cNvPr>
          <p:cNvSpPr txBox="1"/>
          <p:nvPr/>
        </p:nvSpPr>
        <p:spPr>
          <a:xfrm>
            <a:off x="160594" y="55048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E4E112-96D8-5FB6-8F17-5FB07F6FF875}"/>
              </a:ext>
            </a:extLst>
          </p:cNvPr>
          <p:cNvSpPr txBox="1"/>
          <p:nvPr/>
        </p:nvSpPr>
        <p:spPr>
          <a:xfrm>
            <a:off x="160594" y="10450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Landscape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9173E-94CA-8F4A-5082-46EDC19B6E35}"/>
              </a:ext>
            </a:extLst>
          </p:cNvPr>
          <p:cNvSpPr txBox="1"/>
          <p:nvPr/>
        </p:nvSpPr>
        <p:spPr>
          <a:xfrm>
            <a:off x="518160" y="17550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Reliance on personal contacts &amp; local agents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5E464A-3663-B21D-B5ED-84D1B4D6F3B9}"/>
              </a:ext>
            </a:extLst>
          </p:cNvPr>
          <p:cNvSpPr txBox="1"/>
          <p:nvPr/>
        </p:nvSpPr>
        <p:spPr>
          <a:xfrm>
            <a:off x="1031460" y="2184005"/>
            <a:ext cx="7877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Workers often depend on their networks for job opportunities, limiting their reach and potential.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5C67B6-F134-822E-F25F-493D8AC942FE}"/>
              </a:ext>
            </a:extLst>
          </p:cNvPr>
          <p:cNvSpPr txBox="1"/>
          <p:nvPr/>
        </p:nvSpPr>
        <p:spPr>
          <a:xfrm>
            <a:off x="518160" y="32673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central digital database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0EE995-CD15-26F2-16D2-3384C6606B53}"/>
              </a:ext>
            </a:extLst>
          </p:cNvPr>
          <p:cNvSpPr txBox="1"/>
          <p:nvPr/>
        </p:nvSpPr>
        <p:spPr>
          <a:xfrm>
            <a:off x="1031460" y="3873891"/>
            <a:ext cx="73372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a unified database results in fragmented information and missed connections between workers and clients.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F47B37-C888-9122-65B0-ED61270AA9A5}"/>
              </a:ext>
            </a:extLst>
          </p:cNvPr>
          <p:cNvSpPr txBox="1"/>
          <p:nvPr/>
        </p:nvSpPr>
        <p:spPr>
          <a:xfrm>
            <a:off x="518160" y="49121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Manual, time-consuming search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F66B14-9E2E-6046-A70A-AD68BE292D41}"/>
              </a:ext>
            </a:extLst>
          </p:cNvPr>
          <p:cNvSpPr txBox="1"/>
          <p:nvPr/>
        </p:nvSpPr>
        <p:spPr>
          <a:xfrm>
            <a:off x="1031460" y="5350226"/>
            <a:ext cx="81880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hiring processes are often manual and inefficient, leading to delays in job placements.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481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CB91C7-5AFE-0351-CE76-CE8345E1120C}"/>
              </a:ext>
            </a:extLst>
          </p:cNvPr>
          <p:cNvSpPr txBox="1"/>
          <p:nvPr/>
        </p:nvSpPr>
        <p:spPr>
          <a:xfrm>
            <a:off x="264160" y="52757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Existing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DC7544-C13A-27C4-31F4-6D7F893D10B8}"/>
              </a:ext>
            </a:extLst>
          </p:cNvPr>
          <p:cNvSpPr txBox="1"/>
          <p:nvPr/>
        </p:nvSpPr>
        <p:spPr>
          <a:xfrm>
            <a:off x="264160" y="11706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2C964A-416D-EC1F-6FC2-05CEF69B7DCA}"/>
              </a:ext>
            </a:extLst>
          </p:cNvPr>
          <p:cNvSpPr txBox="1"/>
          <p:nvPr/>
        </p:nvSpPr>
        <p:spPr>
          <a:xfrm>
            <a:off x="-975360" y="1984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Restricted reach beyond contacts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76611-E356-15CD-FC55-EB21833A326F}"/>
              </a:ext>
            </a:extLst>
          </p:cNvPr>
          <p:cNvSpPr txBox="1"/>
          <p:nvPr/>
        </p:nvSpPr>
        <p:spPr>
          <a:xfrm>
            <a:off x="579120" y="2432030"/>
            <a:ext cx="83289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Workers are unable to connect with clients outside their immediate networks, limiting job opportunities.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48B312-6A54-DEDD-A56E-188BE96D43C1}"/>
              </a:ext>
            </a:extLst>
          </p:cNvPr>
          <p:cNvSpPr txBox="1"/>
          <p:nvPr/>
        </p:nvSpPr>
        <p:spPr>
          <a:xfrm>
            <a:off x="-1463040" y="3102858"/>
            <a:ext cx="6583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Unverified skill information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6087B7-FF86-ACC1-1278-16C35057C358}"/>
              </a:ext>
            </a:extLst>
          </p:cNvPr>
          <p:cNvSpPr txBox="1"/>
          <p:nvPr/>
        </p:nvSpPr>
        <p:spPr>
          <a:xfrm>
            <a:off x="579120" y="3607524"/>
            <a:ext cx="8122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a centralized platform, clients may struggle to verify the skills and qualifications of workers.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7264A6-9881-5400-4F83-6E222D687211}"/>
              </a:ext>
            </a:extLst>
          </p:cNvPr>
          <p:cNvSpPr txBox="1"/>
          <p:nvPr/>
        </p:nvSpPr>
        <p:spPr>
          <a:xfrm>
            <a:off x="-1463040" y="4389189"/>
            <a:ext cx="6827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Unstable earnings for workers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BC7099-3BF7-C618-A2A9-ED06B359DF31}"/>
              </a:ext>
            </a:extLst>
          </p:cNvPr>
          <p:cNvSpPr txBox="1"/>
          <p:nvPr/>
        </p:nvSpPr>
        <p:spPr>
          <a:xfrm>
            <a:off x="579119" y="4847688"/>
            <a:ext cx="88401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job availability leads to unpredictable earnings, creating financial stress for workers.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397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12DC3D-04B7-C336-F606-9F015C53F172}"/>
              </a:ext>
            </a:extLst>
          </p:cNvPr>
          <p:cNvSpPr txBox="1"/>
          <p:nvPr/>
        </p:nvSpPr>
        <p:spPr>
          <a:xfrm>
            <a:off x="268320" y="52197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B91BE-6578-1C97-606A-A46421F5807E}"/>
              </a:ext>
            </a:extLst>
          </p:cNvPr>
          <p:cNvSpPr txBox="1"/>
          <p:nvPr/>
        </p:nvSpPr>
        <p:spPr>
          <a:xfrm>
            <a:off x="345440" y="10396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Innovative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63D8B2-AF56-1C9D-1623-4899A100630C}"/>
              </a:ext>
            </a:extLst>
          </p:cNvPr>
          <p:cNvSpPr txBox="1"/>
          <p:nvPr/>
        </p:nvSpPr>
        <p:spPr>
          <a:xfrm>
            <a:off x="345440" y="18524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Kotlin-based Android app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970FA8-A46A-A456-56F3-146C7DC2D768}"/>
              </a:ext>
            </a:extLst>
          </p:cNvPr>
          <p:cNvSpPr txBox="1"/>
          <p:nvPr/>
        </p:nvSpPr>
        <p:spPr>
          <a:xfrm>
            <a:off x="828759" y="2358954"/>
            <a:ext cx="98799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will be developed using Kotlin, providing a modern and efficient coding environment for Android </a:t>
            </a:r>
          </a:p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670EFA-E9AD-E5AC-B811-5204C1CAB135}"/>
              </a:ext>
            </a:extLst>
          </p:cNvPr>
          <p:cNvSpPr txBox="1"/>
          <p:nvPr/>
        </p:nvSpPr>
        <p:spPr>
          <a:xfrm>
            <a:off x="345440" y="34194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job posting &amp; discovery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FAA239-9EAC-47E2-52AF-0FBD420E019A}"/>
              </a:ext>
            </a:extLst>
          </p:cNvPr>
          <p:cNvSpPr txBox="1"/>
          <p:nvPr/>
        </p:nvSpPr>
        <p:spPr>
          <a:xfrm>
            <a:off x="828759" y="3995691"/>
            <a:ext cx="7566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post and discover jobs instantly, enhancing the hiring process's responsiveness.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6115F6-F37C-4981-627B-C6BB7E6354B2}"/>
              </a:ext>
            </a:extLst>
          </p:cNvPr>
          <p:cNvSpPr txBox="1"/>
          <p:nvPr/>
        </p:nvSpPr>
        <p:spPr>
          <a:xfrm>
            <a:off x="345440" y="49132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Transparent worker profiles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707EEB-04A2-0FF8-D15F-CE6424E06D0C}"/>
              </a:ext>
            </a:extLst>
          </p:cNvPr>
          <p:cNvSpPr txBox="1"/>
          <p:nvPr/>
        </p:nvSpPr>
        <p:spPr>
          <a:xfrm>
            <a:off x="828759" y="5443285"/>
            <a:ext cx="8090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Profiles will include verified skills and ratings, ensuring clients can make informed hiring decisions.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158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773A25-9F2D-C87E-3537-7483583DB921}"/>
              </a:ext>
            </a:extLst>
          </p:cNvPr>
          <p:cNvSpPr txBox="1"/>
          <p:nvPr/>
        </p:nvSpPr>
        <p:spPr>
          <a:xfrm>
            <a:off x="211546" y="57454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01CBA-F005-5506-CC6E-A5E3082C2F24}"/>
              </a:ext>
            </a:extLst>
          </p:cNvPr>
          <p:cNvSpPr txBox="1"/>
          <p:nvPr/>
        </p:nvSpPr>
        <p:spPr>
          <a:xfrm>
            <a:off x="211546" y="10848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Benefits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9239D-EAE1-2733-6E39-EB529A14E163}"/>
              </a:ext>
            </a:extLst>
          </p:cNvPr>
          <p:cNvSpPr txBox="1"/>
          <p:nvPr/>
        </p:nvSpPr>
        <p:spPr>
          <a:xfrm>
            <a:off x="-950322" y="18543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Faster hiring (quick selection)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DD2DF4-A775-A1A3-1984-32DA118E89E0}"/>
              </a:ext>
            </a:extLst>
          </p:cNvPr>
          <p:cNvSpPr txBox="1"/>
          <p:nvPr/>
        </p:nvSpPr>
        <p:spPr>
          <a:xfrm>
            <a:off x="802007" y="2285490"/>
            <a:ext cx="76043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Streamlined processes allow for quicker hiring decisions, benefiting both clients and workers.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7A2C9E-655F-0A8B-3B8A-3B37468ACE9B}"/>
              </a:ext>
            </a:extLst>
          </p:cNvPr>
          <p:cNvSpPr txBox="1"/>
          <p:nvPr/>
        </p:nvSpPr>
        <p:spPr>
          <a:xfrm>
            <a:off x="-1572441" y="3222004"/>
            <a:ext cx="6644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Broader customer base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17B84C-D43F-241D-6762-77B822921B94}"/>
              </a:ext>
            </a:extLst>
          </p:cNvPr>
          <p:cNvSpPr txBox="1"/>
          <p:nvPr/>
        </p:nvSpPr>
        <p:spPr>
          <a:xfrm>
            <a:off x="802007" y="3607014"/>
            <a:ext cx="691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expanding reach beyond personal networks, the platform connects a wider audience of clients to local workers.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3A3BBB-2256-3D14-4FCB-1E60799ED902}"/>
              </a:ext>
            </a:extLst>
          </p:cNvPr>
          <p:cNvSpPr txBox="1"/>
          <p:nvPr/>
        </p:nvSpPr>
        <p:spPr>
          <a:xfrm>
            <a:off x="-1361802" y="4581211"/>
            <a:ext cx="691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Firebase data handling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9EA892-1000-B101-8432-66D83FF22AA4}"/>
              </a:ext>
            </a:extLst>
          </p:cNvPr>
          <p:cNvSpPr txBox="1"/>
          <p:nvPr/>
        </p:nvSpPr>
        <p:spPr>
          <a:xfrm>
            <a:off x="802007" y="4920054"/>
            <a:ext cx="6918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Utilizing Firebase ensures secure data management, protecting user information and maintaining trust.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204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CF50AA-111A-4EC2-0F59-FB23304CB709}"/>
              </a:ext>
            </a:extLst>
          </p:cNvPr>
          <p:cNvSpPr txBox="1"/>
          <p:nvPr/>
        </p:nvSpPr>
        <p:spPr>
          <a:xfrm>
            <a:off x="325120" y="404811"/>
            <a:ext cx="6910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– Development Hardware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7DC1AC-09F9-3DA5-4F76-01668205D252}"/>
              </a:ext>
            </a:extLst>
          </p:cNvPr>
          <p:cNvSpPr txBox="1"/>
          <p:nvPr/>
        </p:nvSpPr>
        <p:spPr>
          <a:xfrm>
            <a:off x="325120" y="8559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F25D57-A2AB-263A-0C2E-A2CDE8EE21E7}"/>
              </a:ext>
            </a:extLst>
          </p:cNvPr>
          <p:cNvSpPr txBox="1"/>
          <p:nvPr/>
        </p:nvSpPr>
        <p:spPr>
          <a:xfrm>
            <a:off x="325120" y="1689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CPU: Intel Core i5 or higher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F1708B-6E98-52BE-FF0A-314502283DE3}"/>
              </a:ext>
            </a:extLst>
          </p:cNvPr>
          <p:cNvSpPr txBox="1"/>
          <p:nvPr/>
        </p:nvSpPr>
        <p:spPr>
          <a:xfrm>
            <a:off x="732402" y="217725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powerful CPU is essential for efficient development and testing of the application.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7D0093-43B5-68D4-8048-8D7E3BC0D04F}"/>
              </a:ext>
            </a:extLst>
          </p:cNvPr>
          <p:cNvSpPr txBox="1"/>
          <p:nvPr/>
        </p:nvSpPr>
        <p:spPr>
          <a:xfrm>
            <a:off x="325120" y="31701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RAM: ≥12 GB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AC3877-A55A-2698-2A25-5EC107E57630}"/>
              </a:ext>
            </a:extLst>
          </p:cNvPr>
          <p:cNvSpPr txBox="1"/>
          <p:nvPr/>
        </p:nvSpPr>
        <p:spPr>
          <a:xfrm>
            <a:off x="732402" y="35698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Sufficient RAM ensures smooth multitasking and performance during development.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04262A-1C54-34ED-43B4-102D66D430A0}"/>
              </a:ext>
            </a:extLst>
          </p:cNvPr>
          <p:cNvSpPr txBox="1"/>
          <p:nvPr/>
        </p:nvSpPr>
        <p:spPr>
          <a:xfrm>
            <a:off x="325120" y="46246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Storage: 256 GB SSD or more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6D3B4-A990-57C3-71AE-08BF45200F1D}"/>
              </a:ext>
            </a:extLst>
          </p:cNvPr>
          <p:cNvSpPr txBox="1"/>
          <p:nvPr/>
        </p:nvSpPr>
        <p:spPr>
          <a:xfrm>
            <a:off x="732402" y="50038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storage solutions are critical for quick access to development resources and tools.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3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BB3460-BEA4-758C-00B1-8DEA6C56DB80}"/>
              </a:ext>
            </a:extLst>
          </p:cNvPr>
          <p:cNvSpPr txBox="1"/>
          <p:nvPr/>
        </p:nvSpPr>
        <p:spPr>
          <a:xfrm>
            <a:off x="259361" y="55114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– User Device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23FA7-FAD8-B53C-EA12-AED589DBABE2}"/>
              </a:ext>
            </a:extLst>
          </p:cNvPr>
          <p:cNvSpPr txBox="1"/>
          <p:nvPr/>
        </p:nvSpPr>
        <p:spPr>
          <a:xfrm>
            <a:off x="259361" y="10743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Specifications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2AC0ED-C456-5BF7-EC84-57E04CFBD6B1}"/>
              </a:ext>
            </a:extLst>
          </p:cNvPr>
          <p:cNvSpPr txBox="1"/>
          <p:nvPr/>
        </p:nvSpPr>
        <p:spPr>
          <a:xfrm>
            <a:off x="-1158240" y="17812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 8.0 (Oreo) or newer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2982C0-7AC7-1811-7A06-4B4A198C8851}"/>
              </a:ext>
            </a:extLst>
          </p:cNvPr>
          <p:cNvSpPr txBox="1"/>
          <p:nvPr/>
        </p:nvSpPr>
        <p:spPr>
          <a:xfrm>
            <a:off x="619760" y="2273607"/>
            <a:ext cx="6675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will require a modern Android OS to support all features and functionalities.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718A47-C7FD-57EC-4474-86194ED1F8E2}"/>
              </a:ext>
            </a:extLst>
          </p:cNvPr>
          <p:cNvSpPr txBox="1"/>
          <p:nvPr/>
        </p:nvSpPr>
        <p:spPr>
          <a:xfrm>
            <a:off x="-2169160" y="3318133"/>
            <a:ext cx="6675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 ≥ 4 GB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28A644-EC58-FE75-22C9-EC1381E8C8A1}"/>
              </a:ext>
            </a:extLst>
          </p:cNvPr>
          <p:cNvSpPr txBox="1"/>
          <p:nvPr/>
        </p:nvSpPr>
        <p:spPr>
          <a:xfrm>
            <a:off x="619760" y="3687465"/>
            <a:ext cx="7183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Adequate RAM is necessary for running the application smoothly without performance issues.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7D3DE1-0EDC-D131-13A5-DAC6E238EEE1}"/>
              </a:ext>
            </a:extLst>
          </p:cNvPr>
          <p:cNvSpPr txBox="1"/>
          <p:nvPr/>
        </p:nvSpPr>
        <p:spPr>
          <a:xfrm>
            <a:off x="-1549400" y="4731822"/>
            <a:ext cx="718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Internet ≥ 10 Mbps (Wi-Fi/4G)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917C9E-729D-1029-F6E2-FA58492AA6D7}"/>
              </a:ext>
            </a:extLst>
          </p:cNvPr>
          <p:cNvSpPr txBox="1"/>
          <p:nvPr/>
        </p:nvSpPr>
        <p:spPr>
          <a:xfrm>
            <a:off x="619760" y="5151735"/>
            <a:ext cx="7183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stable internet connection is required for real-time data synchronization and app functionality.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970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E81D12-A6EB-692C-3516-8CCCBEE3F689}"/>
              </a:ext>
            </a:extLst>
          </p:cNvPr>
          <p:cNvSpPr txBox="1"/>
          <p:nvPr/>
        </p:nvSpPr>
        <p:spPr>
          <a:xfrm>
            <a:off x="223477" y="45184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– Software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AEEEC4-3D6A-9E0E-602C-EC0DDC8D5E9A}"/>
              </a:ext>
            </a:extLst>
          </p:cNvPr>
          <p:cNvSpPr txBox="1"/>
          <p:nvPr/>
        </p:nvSpPr>
        <p:spPr>
          <a:xfrm>
            <a:off x="314960" y="10128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0D485E-B790-5A97-5E0F-EBFEFB1DFA7C}"/>
              </a:ext>
            </a:extLst>
          </p:cNvPr>
          <p:cNvSpPr txBox="1"/>
          <p:nvPr/>
        </p:nvSpPr>
        <p:spPr>
          <a:xfrm>
            <a:off x="314960" y="1628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IDE: Android Studio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C8B44B-10DF-93AA-E93A-48BF7C94D593}"/>
              </a:ext>
            </a:extLst>
          </p:cNvPr>
          <p:cNvSpPr txBox="1"/>
          <p:nvPr/>
        </p:nvSpPr>
        <p:spPr>
          <a:xfrm>
            <a:off x="712525" y="2106359"/>
            <a:ext cx="7261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 will be used as the primary development environment for building the application.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5EF498-CB45-D8BD-0871-2211E22F8AAA}"/>
              </a:ext>
            </a:extLst>
          </p:cNvPr>
          <p:cNvSpPr txBox="1"/>
          <p:nvPr/>
        </p:nvSpPr>
        <p:spPr>
          <a:xfrm>
            <a:off x="314960" y="30106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Language: Kotlin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A52F8D-36A2-DF8D-421A-D51967D69B0C}"/>
              </a:ext>
            </a:extLst>
          </p:cNvPr>
          <p:cNvSpPr txBox="1"/>
          <p:nvPr/>
        </p:nvSpPr>
        <p:spPr>
          <a:xfrm>
            <a:off x="712524" y="3429422"/>
            <a:ext cx="73695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Kotlin will be the programming language of choice, known for its modern syntax and ease of use.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8BA611-2F3D-25D7-AD4A-8B522B24433B}"/>
              </a:ext>
            </a:extLst>
          </p:cNvPr>
          <p:cNvSpPr txBox="1"/>
          <p:nvPr/>
        </p:nvSpPr>
        <p:spPr>
          <a:xfrm>
            <a:off x="406400" y="44904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 Firebase Cloud Services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D1D24D-B73E-16B9-34A4-B324FCAC8ABE}"/>
              </a:ext>
            </a:extLst>
          </p:cNvPr>
          <p:cNvSpPr txBox="1"/>
          <p:nvPr/>
        </p:nvSpPr>
        <p:spPr>
          <a:xfrm>
            <a:off x="712525" y="4905940"/>
            <a:ext cx="7536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will provide the backend infrastructure, ensuring scalability and real-time features.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90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A8738E-66CA-E909-FE12-0194312AB18D}"/>
              </a:ext>
            </a:extLst>
          </p:cNvPr>
          <p:cNvSpPr txBox="1"/>
          <p:nvPr/>
        </p:nvSpPr>
        <p:spPr>
          <a:xfrm>
            <a:off x="228599" y="52843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– Kotlin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AB4F6-48AE-A578-5E14-F2C611BCECC5}"/>
              </a:ext>
            </a:extLst>
          </p:cNvPr>
          <p:cNvSpPr txBox="1"/>
          <p:nvPr/>
        </p:nvSpPr>
        <p:spPr>
          <a:xfrm>
            <a:off x="228599" y="9460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Benefits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82BB5-DBA9-D5AE-CE04-1C65FA1C74F5}"/>
              </a:ext>
            </a:extLst>
          </p:cNvPr>
          <p:cNvSpPr txBox="1"/>
          <p:nvPr/>
        </p:nvSpPr>
        <p:spPr>
          <a:xfrm>
            <a:off x="-1046480" y="19438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Android language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C4E573-0791-61F6-A507-340859AF5774}"/>
              </a:ext>
            </a:extLst>
          </p:cNvPr>
          <p:cNvSpPr txBox="1"/>
          <p:nvPr/>
        </p:nvSpPr>
        <p:spPr>
          <a:xfrm>
            <a:off x="838199" y="2449929"/>
            <a:ext cx="72036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Kotlin offers a contemporary approach to Android development, improving code clarity and maintainability.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B1F80E-041A-58F9-D172-4A80AA7CCFAA}"/>
              </a:ext>
            </a:extLst>
          </p:cNvPr>
          <p:cNvSpPr txBox="1"/>
          <p:nvPr/>
        </p:nvSpPr>
        <p:spPr>
          <a:xfrm>
            <a:off x="-1404620" y="3377585"/>
            <a:ext cx="6619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performance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DD1E30-149A-E4C1-1F9C-CA0F7C2CBED6}"/>
              </a:ext>
            </a:extLst>
          </p:cNvPr>
          <p:cNvSpPr txBox="1"/>
          <p:nvPr/>
        </p:nvSpPr>
        <p:spPr>
          <a:xfrm>
            <a:off x="838199" y="3886259"/>
            <a:ext cx="6797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Kotlin's efficiency allows for faster app performance and reduced load times, enhancing user experience.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CB27B0-1F06-23AB-A7B9-7EA42B1965C3}"/>
              </a:ext>
            </a:extLst>
          </p:cNvPr>
          <p:cNvSpPr txBox="1"/>
          <p:nvPr/>
        </p:nvSpPr>
        <p:spPr>
          <a:xfrm>
            <a:off x="-1661160" y="4759067"/>
            <a:ext cx="6797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Safety &amp; null-ability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F82A26-2F8A-83BC-ECDA-D6E3996F7DBD}"/>
              </a:ext>
            </a:extLst>
          </p:cNvPr>
          <p:cNvSpPr txBox="1"/>
          <p:nvPr/>
        </p:nvSpPr>
        <p:spPr>
          <a:xfrm>
            <a:off x="838199" y="5221574"/>
            <a:ext cx="75301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Kotlin's type system helps eliminate null pointer exceptions, improving code reliability and safety.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923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4B9A5F-A81D-5B3A-7E40-24D465FEC0BD}"/>
              </a:ext>
            </a:extLst>
          </p:cNvPr>
          <p:cNvSpPr txBox="1"/>
          <p:nvPr/>
        </p:nvSpPr>
        <p:spPr>
          <a:xfrm>
            <a:off x="396240" y="477299"/>
            <a:ext cx="63464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– Firebase Services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8E4B3B-E49F-ED1D-7D87-D7D3BE7D4935}"/>
              </a:ext>
            </a:extLst>
          </p:cNvPr>
          <p:cNvSpPr txBox="1"/>
          <p:nvPr/>
        </p:nvSpPr>
        <p:spPr>
          <a:xfrm>
            <a:off x="521473" y="9740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Requirements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AAFF10-57DF-71E4-B67B-676CF948B24A}"/>
              </a:ext>
            </a:extLst>
          </p:cNvPr>
          <p:cNvSpPr txBox="1"/>
          <p:nvPr/>
        </p:nvSpPr>
        <p:spPr>
          <a:xfrm>
            <a:off x="396240" y="20556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Email/Password login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CBA8E4-EB20-FCD6-8592-8FA7CCFF6BF9}"/>
              </a:ext>
            </a:extLst>
          </p:cNvPr>
          <p:cNvSpPr txBox="1"/>
          <p:nvPr/>
        </p:nvSpPr>
        <p:spPr>
          <a:xfrm>
            <a:off x="849464" y="2571840"/>
            <a:ext cx="83183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 will enable secure user logins, ensuring data protection and user privacy.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2659F-AE35-33E7-B9E2-F9881F9D721F}"/>
              </a:ext>
            </a:extLst>
          </p:cNvPr>
          <p:cNvSpPr txBox="1"/>
          <p:nvPr/>
        </p:nvSpPr>
        <p:spPr>
          <a:xfrm>
            <a:off x="396240" y="37320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NoSQL real-time DB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CD3661-2DFE-15D3-DC6C-92DBCE5596F8}"/>
              </a:ext>
            </a:extLst>
          </p:cNvPr>
          <p:cNvSpPr txBox="1"/>
          <p:nvPr/>
        </p:nvSpPr>
        <p:spPr>
          <a:xfrm>
            <a:off x="913074" y="4367016"/>
            <a:ext cx="83183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will serve as the application's database, allowing for real-time data synchronization and storage.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946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800266-B04A-A92F-E39A-54D0F71D9F1F}"/>
              </a:ext>
            </a:extLst>
          </p:cNvPr>
          <p:cNvSpPr txBox="1"/>
          <p:nvPr/>
        </p:nvSpPr>
        <p:spPr>
          <a:xfrm>
            <a:off x="248557" y="387018"/>
            <a:ext cx="6604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(Block Diagram)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7A2DFA-61E2-445B-D208-5A2FCB79A751}"/>
              </a:ext>
            </a:extLst>
          </p:cNvPr>
          <p:cNvSpPr txBox="1"/>
          <p:nvPr/>
        </p:nvSpPr>
        <p:spPr>
          <a:xfrm>
            <a:off x="273167" y="9552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ECC7E-1631-A67F-4F57-AA0EBA4481C9}"/>
              </a:ext>
            </a:extLst>
          </p:cNvPr>
          <p:cNvSpPr txBox="1"/>
          <p:nvPr/>
        </p:nvSpPr>
        <p:spPr>
          <a:xfrm>
            <a:off x="-1177366" y="15541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 ↔ Firebase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B58BF2-171A-C34C-F75C-573CAE2DA0AC}"/>
              </a:ext>
            </a:extLst>
          </p:cNvPr>
          <p:cNvSpPr txBox="1"/>
          <p:nvPr/>
        </p:nvSpPr>
        <p:spPr>
          <a:xfrm>
            <a:off x="1052870" y="1940812"/>
            <a:ext cx="91726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Clients will interact directly with Firebase for job postings and worker discovery, ensuring a seamless experience.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5979A4-4CB6-A59A-EB45-17C09C05E45D}"/>
              </a:ext>
            </a:extLst>
          </p:cNvPr>
          <p:cNvSpPr txBox="1"/>
          <p:nvPr/>
        </p:nvSpPr>
        <p:spPr>
          <a:xfrm>
            <a:off x="-1248533" y="2604448"/>
            <a:ext cx="6410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 ↔ Firebase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F7C29D-48F8-7974-E1D6-50701A9035FC}"/>
              </a:ext>
            </a:extLst>
          </p:cNvPr>
          <p:cNvSpPr txBox="1"/>
          <p:nvPr/>
        </p:nvSpPr>
        <p:spPr>
          <a:xfrm>
            <a:off x="1052871" y="2981041"/>
            <a:ext cx="91726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Workers will also connect with Firebase for receiving job alerts and managing their profiles in real-time.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E07E20-9914-BE5A-955E-C6C561EC67F9}"/>
              </a:ext>
            </a:extLst>
          </p:cNvPr>
          <p:cNvSpPr txBox="1"/>
          <p:nvPr/>
        </p:nvSpPr>
        <p:spPr>
          <a:xfrm>
            <a:off x="-1375533" y="3699555"/>
            <a:ext cx="666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↔ Firebase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E0F4D4-BA03-E6F9-D4F5-B8644EAAA632}"/>
              </a:ext>
            </a:extLst>
          </p:cNvPr>
          <p:cNvSpPr txBox="1"/>
          <p:nvPr/>
        </p:nvSpPr>
        <p:spPr>
          <a:xfrm>
            <a:off x="1052870" y="4068887"/>
            <a:ext cx="10087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will have access to Firebase for managing user data and overseeing transactions.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39480E-2AA2-26D7-B211-55CA6037452F}"/>
              </a:ext>
            </a:extLst>
          </p:cNvPr>
          <p:cNvSpPr txBox="1"/>
          <p:nvPr/>
        </p:nvSpPr>
        <p:spPr>
          <a:xfrm>
            <a:off x="-1583813" y="4832141"/>
            <a:ext cx="6746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9EC7D7-2222-AD75-5167-FF60A8895B90}"/>
              </a:ext>
            </a:extLst>
          </p:cNvPr>
          <p:cNvSpPr txBox="1"/>
          <p:nvPr/>
        </p:nvSpPr>
        <p:spPr>
          <a:xfrm>
            <a:off x="1170858" y="5201473"/>
            <a:ext cx="8956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interactions will be synchronized in real-time, providing users with the most current information available.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556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A26372-0F30-3E6A-4476-442612FB10F5}"/>
              </a:ext>
            </a:extLst>
          </p:cNvPr>
          <p:cNvSpPr txBox="1"/>
          <p:nvPr/>
        </p:nvSpPr>
        <p:spPr>
          <a:xfrm>
            <a:off x="304800" y="56396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(DFD)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6DB9A-4F3A-F18E-F4CA-F3F0E73107FE}"/>
              </a:ext>
            </a:extLst>
          </p:cNvPr>
          <p:cNvSpPr txBox="1"/>
          <p:nvPr/>
        </p:nvSpPr>
        <p:spPr>
          <a:xfrm>
            <a:off x="375920" y="10425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721CE-9401-20D7-E673-0B040FDC98A7}"/>
              </a:ext>
            </a:extLst>
          </p:cNvPr>
          <p:cNvSpPr txBox="1"/>
          <p:nvPr/>
        </p:nvSpPr>
        <p:spPr>
          <a:xfrm>
            <a:off x="304800" y="17609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→ profile creation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9237D7-FA8F-2296-A9A5-478EBEB02596}"/>
              </a:ext>
            </a:extLst>
          </p:cNvPr>
          <p:cNvSpPr txBox="1"/>
          <p:nvPr/>
        </p:nvSpPr>
        <p:spPr>
          <a:xfrm>
            <a:off x="805732" y="221175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 users will register, leading to the creation of their profiles within the system.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51219A-6AB9-606D-A4E7-106FA86E0235}"/>
              </a:ext>
            </a:extLst>
          </p:cNvPr>
          <p:cNvSpPr txBox="1"/>
          <p:nvPr/>
        </p:nvSpPr>
        <p:spPr>
          <a:xfrm>
            <a:off x="304800" y="31833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request → matching engine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379928-CB3C-0D9F-0DF7-188EC8BEEBAB}"/>
              </a:ext>
            </a:extLst>
          </p:cNvPr>
          <p:cNvSpPr txBox="1"/>
          <p:nvPr/>
        </p:nvSpPr>
        <p:spPr>
          <a:xfrm>
            <a:off x="805732" y="37099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Clients will submit job requests, which will be processed by the matching engine to find suitable workers.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46CFA2-21ED-EC02-07E3-98207BDA1109}"/>
              </a:ext>
            </a:extLst>
          </p:cNvPr>
          <p:cNvSpPr txBox="1"/>
          <p:nvPr/>
        </p:nvSpPr>
        <p:spPr>
          <a:xfrm>
            <a:off x="375920" y="47276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Booking confirmation → notification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D4A7B7-0DC8-2832-2BDD-9C28157B87B2}"/>
              </a:ext>
            </a:extLst>
          </p:cNvPr>
          <p:cNvSpPr txBox="1"/>
          <p:nvPr/>
        </p:nvSpPr>
        <p:spPr>
          <a:xfrm>
            <a:off x="805732" y="520806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Once a booking is confirmed, users will receive instant notifications regarding job status.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143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7F9130-31B2-AB42-34E8-1F9754AF6F9D}"/>
              </a:ext>
            </a:extLst>
          </p:cNvPr>
          <p:cNvSpPr txBox="1"/>
          <p:nvPr/>
        </p:nvSpPr>
        <p:spPr>
          <a:xfrm>
            <a:off x="168166" y="51301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Modules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0F14C-C570-7D92-DDAD-E533E01FF11B}"/>
              </a:ext>
            </a:extLst>
          </p:cNvPr>
          <p:cNvSpPr txBox="1"/>
          <p:nvPr/>
        </p:nvSpPr>
        <p:spPr>
          <a:xfrm>
            <a:off x="271143" y="10769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Essential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73C0D8-6790-DC75-66B8-601BD3C60B18}"/>
              </a:ext>
            </a:extLst>
          </p:cNvPr>
          <p:cNvSpPr txBox="1"/>
          <p:nvPr/>
        </p:nvSpPr>
        <p:spPr>
          <a:xfrm>
            <a:off x="-1249680" y="18625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User/Worker Registration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35CCFC-C9EE-14BA-C16F-A3C53BE03B7C}"/>
              </a:ext>
            </a:extLst>
          </p:cNvPr>
          <p:cNvSpPr txBox="1"/>
          <p:nvPr/>
        </p:nvSpPr>
        <p:spPr>
          <a:xfrm>
            <a:off x="796290" y="2327085"/>
            <a:ext cx="6720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Facilitates easy sign-up processes for both clients and workers, enhancing accessibility.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ABF9D9-2F7D-0E53-79E9-8AD562D84A63}"/>
              </a:ext>
            </a:extLst>
          </p:cNvPr>
          <p:cNvSpPr txBox="1"/>
          <p:nvPr/>
        </p:nvSpPr>
        <p:spPr>
          <a:xfrm>
            <a:off x="-1343660" y="3163055"/>
            <a:ext cx="6720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 Discovery &amp; Filtering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A30520-7198-1EE4-D4C0-C3B04C557869}"/>
              </a:ext>
            </a:extLst>
          </p:cNvPr>
          <p:cNvSpPr txBox="1"/>
          <p:nvPr/>
        </p:nvSpPr>
        <p:spPr>
          <a:xfrm>
            <a:off x="796290" y="3670329"/>
            <a:ext cx="6766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search for and filter workers based on skills, availability, and ratings.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EF67B7-16DF-0717-C095-AC9B0162360D}"/>
              </a:ext>
            </a:extLst>
          </p:cNvPr>
          <p:cNvSpPr txBox="1"/>
          <p:nvPr/>
        </p:nvSpPr>
        <p:spPr>
          <a:xfrm>
            <a:off x="-1584960" y="4615661"/>
            <a:ext cx="676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Booking Management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A423B8-EED6-032E-478C-782DE5949767}"/>
              </a:ext>
            </a:extLst>
          </p:cNvPr>
          <p:cNvSpPr txBox="1"/>
          <p:nvPr/>
        </p:nvSpPr>
        <p:spPr>
          <a:xfrm>
            <a:off x="796290" y="5076768"/>
            <a:ext cx="6888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Manages the booking lifecycle, from job requests to confirmations and notifications.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137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FF801D-C347-D097-9CAC-E148F3463CA8}"/>
              </a:ext>
            </a:extLst>
          </p:cNvPr>
          <p:cNvSpPr txBox="1"/>
          <p:nvPr/>
        </p:nvSpPr>
        <p:spPr>
          <a:xfrm>
            <a:off x="100687" y="48431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– </a:t>
            </a:r>
            <a:r>
              <a:rPr lang="en-US" sz="28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Schema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2182EE-51A5-646A-E690-FC4ACB9BA4B7}"/>
              </a:ext>
            </a:extLst>
          </p:cNvPr>
          <p:cNvSpPr txBox="1"/>
          <p:nvPr/>
        </p:nvSpPr>
        <p:spPr>
          <a:xfrm>
            <a:off x="189178" y="9962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B6061-A331-0380-CECB-EAAD267BDC38}"/>
              </a:ext>
            </a:extLst>
          </p:cNvPr>
          <p:cNvSpPr txBox="1"/>
          <p:nvPr/>
        </p:nvSpPr>
        <p:spPr>
          <a:xfrm>
            <a:off x="284480" y="1872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Collections: Users, </a:t>
            </a:r>
            <a:r>
              <a:rPr lang="en-US" b="1" i="0" dirty="0" err="1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WorkerProfiles</a:t>
            </a: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0" dirty="0" err="1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JobRequests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0682A-B35F-526F-75A8-F79F283C53D8}"/>
              </a:ext>
            </a:extLst>
          </p:cNvPr>
          <p:cNvSpPr txBox="1"/>
          <p:nvPr/>
        </p:nvSpPr>
        <p:spPr>
          <a:xfrm>
            <a:off x="841071" y="2361902"/>
            <a:ext cx="6601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will consist of specific collections to streamline data management and retrieval.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2C2075-0B16-FAF1-5F53-CBB202D71929}"/>
              </a:ext>
            </a:extLst>
          </p:cNvPr>
          <p:cNvSpPr txBox="1"/>
          <p:nvPr/>
        </p:nvSpPr>
        <p:spPr>
          <a:xfrm>
            <a:off x="375920" y="3508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NoSQL structure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701D3E-F957-B737-B7C0-C0DB55575B5C}"/>
              </a:ext>
            </a:extLst>
          </p:cNvPr>
          <p:cNvSpPr txBox="1"/>
          <p:nvPr/>
        </p:nvSpPr>
        <p:spPr>
          <a:xfrm>
            <a:off x="841071" y="4054921"/>
            <a:ext cx="68319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NoSQL design allows for scalability, accommodating growth in user data and interactions over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48BC22E-C28B-38DF-84EC-58E2F4AFB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541" y="0"/>
            <a:ext cx="507293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1098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0FC616-652D-1AF8-6EE8-A5337ED60E58}"/>
              </a:ext>
            </a:extLst>
          </p:cNvPr>
          <p:cNvSpPr txBox="1"/>
          <p:nvPr/>
        </p:nvSpPr>
        <p:spPr>
          <a:xfrm>
            <a:off x="190840" y="38759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3E477-897C-EC06-2CF1-65EC7912082B}"/>
              </a:ext>
            </a:extLst>
          </p:cNvPr>
          <p:cNvSpPr txBox="1"/>
          <p:nvPr/>
        </p:nvSpPr>
        <p:spPr>
          <a:xfrm>
            <a:off x="190840" y="9375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 Assurance Processes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FF45D-38D7-1954-7668-AF62F4A773AC}"/>
              </a:ext>
            </a:extLst>
          </p:cNvPr>
          <p:cNvSpPr txBox="1"/>
          <p:nvPr/>
        </p:nvSpPr>
        <p:spPr>
          <a:xfrm>
            <a:off x="-812800" y="18320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– individual features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A3842D-BA4A-7B47-DDAE-223CF76C1FDB}"/>
              </a:ext>
            </a:extLst>
          </p:cNvPr>
          <p:cNvSpPr txBox="1"/>
          <p:nvPr/>
        </p:nvSpPr>
        <p:spPr>
          <a:xfrm>
            <a:off x="746760" y="2290886"/>
            <a:ext cx="7662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feature will undergo rigorous testing to ensure functionality and reliability before integration.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952212-8115-5EE6-C69A-7C1F5C913E1B}"/>
              </a:ext>
            </a:extLst>
          </p:cNvPr>
          <p:cNvSpPr txBox="1"/>
          <p:nvPr/>
        </p:nvSpPr>
        <p:spPr>
          <a:xfrm>
            <a:off x="-812800" y="3349844"/>
            <a:ext cx="65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 – app ↔ Firebase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E1A38D-B35B-B300-7537-6C9781B1EC42}"/>
              </a:ext>
            </a:extLst>
          </p:cNvPr>
          <p:cNvSpPr txBox="1"/>
          <p:nvPr/>
        </p:nvSpPr>
        <p:spPr>
          <a:xfrm>
            <a:off x="746760" y="3857676"/>
            <a:ext cx="74746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will ensure seamless interaction between the app and Firebase, confirming real-time data synchronization.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16B6A5-F616-4491-7D30-D0706EB4860A}"/>
              </a:ext>
            </a:extLst>
          </p:cNvPr>
          <p:cNvSpPr txBox="1"/>
          <p:nvPr/>
        </p:nvSpPr>
        <p:spPr>
          <a:xfrm>
            <a:off x="-1371600" y="4682928"/>
            <a:ext cx="65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UAT – real-user feedback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260CCD-825D-F719-D6B6-23660C5867C9}"/>
              </a:ext>
            </a:extLst>
          </p:cNvPr>
          <p:cNvSpPr txBox="1"/>
          <p:nvPr/>
        </p:nvSpPr>
        <p:spPr>
          <a:xfrm>
            <a:off x="746759" y="5231181"/>
            <a:ext cx="74746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acceptance testing will gather feedback from real users to refine and improve the application before launch.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795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CF87-F418-21E0-FAE4-5A2EE36F4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87" y="325510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&amp; Output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30C3C-C589-E243-8810-0F75C48FA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Name, Email, Password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details (skills, price, experience)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request details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list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details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status (Pending / Accepted / Completed)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8627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8F6A6A-6E8D-AB49-F835-7B906B59BE33}"/>
              </a:ext>
            </a:extLst>
          </p:cNvPr>
          <p:cNvSpPr txBox="1"/>
          <p:nvPr/>
        </p:nvSpPr>
        <p:spPr>
          <a:xfrm>
            <a:off x="304800" y="45562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Screenshots (Key Screens)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833CA9-17F1-47BC-B319-3B9F714FA1B3}"/>
              </a:ext>
            </a:extLst>
          </p:cNvPr>
          <p:cNvSpPr txBox="1"/>
          <p:nvPr/>
        </p:nvSpPr>
        <p:spPr>
          <a:xfrm>
            <a:off x="436880" y="10313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b="0" i="0" dirty="0"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Representation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72C113-E24C-8D39-AA6D-D2718D3E7253}"/>
              </a:ext>
            </a:extLst>
          </p:cNvPr>
          <p:cNvSpPr txBox="1"/>
          <p:nvPr/>
        </p:nvSpPr>
        <p:spPr>
          <a:xfrm>
            <a:off x="304800" y="17000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Launch Screen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57463F-0D63-BEE4-ADB4-1472C0915332}"/>
              </a:ext>
            </a:extLst>
          </p:cNvPr>
          <p:cNvSpPr txBox="1"/>
          <p:nvPr/>
        </p:nvSpPr>
        <p:spPr>
          <a:xfrm>
            <a:off x="559242" y="2171114"/>
            <a:ext cx="71217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initial screen users encounter when opening the app, setting the tone for the user experience.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3FB793-E187-E877-3119-824E4A9B670B}"/>
              </a:ext>
            </a:extLst>
          </p:cNvPr>
          <p:cNvSpPr txBox="1"/>
          <p:nvPr/>
        </p:nvSpPr>
        <p:spPr>
          <a:xfrm>
            <a:off x="304800" y="31962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 Selection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F2253F-D040-435D-4786-782A69E8F50D}"/>
              </a:ext>
            </a:extLst>
          </p:cNvPr>
          <p:cNvSpPr txBox="1"/>
          <p:nvPr/>
        </p:nvSpPr>
        <p:spPr>
          <a:xfrm>
            <a:off x="559242" y="3736563"/>
            <a:ext cx="70263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select their role (client or worker), tailoring the experience to their needs.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42E68-43B9-97CE-0689-B6CD941244D8}"/>
              </a:ext>
            </a:extLst>
          </p:cNvPr>
          <p:cNvSpPr txBox="1"/>
          <p:nvPr/>
        </p:nvSpPr>
        <p:spPr>
          <a:xfrm>
            <a:off x="436880" y="46924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Worker Discovery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885A49-6F8B-0C0B-4758-A6A0FA125E2F}"/>
              </a:ext>
            </a:extLst>
          </p:cNvPr>
          <p:cNvSpPr txBox="1"/>
          <p:nvPr/>
        </p:nvSpPr>
        <p:spPr>
          <a:xfrm>
            <a:off x="559242" y="5157986"/>
            <a:ext cx="70263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enabling clients to search and view available workers based on skills and ratings.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568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66F2DA-15DE-AD70-E0F3-D3C0270BD2C9}"/>
              </a:ext>
            </a:extLst>
          </p:cNvPr>
          <p:cNvSpPr txBox="1"/>
          <p:nvPr/>
        </p:nvSpPr>
        <p:spPr>
          <a:xfrm>
            <a:off x="191951" y="3365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78083-5902-5550-79BB-11AAF1DD74EB}"/>
              </a:ext>
            </a:extLst>
          </p:cNvPr>
          <p:cNvSpPr txBox="1"/>
          <p:nvPr/>
        </p:nvSpPr>
        <p:spPr>
          <a:xfrm>
            <a:off x="377887" y="14292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Reliable platform for local services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1335C-7E1B-D876-8982-7BD04FB9D704}"/>
              </a:ext>
            </a:extLst>
          </p:cNvPr>
          <p:cNvSpPr txBox="1"/>
          <p:nvPr/>
        </p:nvSpPr>
        <p:spPr>
          <a:xfrm>
            <a:off x="767776" y="1897978"/>
            <a:ext cx="7999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system provides a dependable infrastructure for connecting clients with local workers, enhancing service delivery.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C77133-B459-739A-59CC-7A72FA40447A}"/>
              </a:ext>
            </a:extLst>
          </p:cNvPr>
          <p:cNvSpPr txBox="1"/>
          <p:nvPr/>
        </p:nvSpPr>
        <p:spPr>
          <a:xfrm>
            <a:off x="377887" y="27978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employment &amp; service access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9E7035-8DC5-8C9B-1582-F56CEA366E0B}"/>
              </a:ext>
            </a:extLst>
          </p:cNvPr>
          <p:cNvSpPr txBox="1"/>
          <p:nvPr/>
        </p:nvSpPr>
        <p:spPr>
          <a:xfrm>
            <a:off x="767775" y="3328468"/>
            <a:ext cx="76486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will generate job opportunities for local workers, contributing to economic growth.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11E8A6-C99A-33F5-6F61-86705912AB92}"/>
              </a:ext>
            </a:extLst>
          </p:cNvPr>
          <p:cNvSpPr txBox="1"/>
          <p:nvPr/>
        </p:nvSpPr>
        <p:spPr>
          <a:xfrm>
            <a:off x="377887" y="41663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 cloud-based 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DB5559-F12F-C814-BE18-2A41EE38713A}"/>
              </a:ext>
            </a:extLst>
          </p:cNvPr>
          <p:cNvSpPr txBox="1"/>
          <p:nvPr/>
        </p:nvSpPr>
        <p:spPr>
          <a:xfrm>
            <a:off x="767775" y="4650897"/>
            <a:ext cx="7648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27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Leveraging cloud technology ensures that our platform can grow and adapt to user needs over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414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2BC8E7-F2F9-2C7D-D3EF-3B9B0799CF2C}"/>
              </a:ext>
            </a:extLst>
          </p:cNvPr>
          <p:cNvSpPr txBox="1"/>
          <p:nvPr/>
        </p:nvSpPr>
        <p:spPr>
          <a:xfrm>
            <a:off x="3568810" y="2252226"/>
            <a:ext cx="6096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6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Thank You</a:t>
            </a:r>
          </a:p>
        </p:txBody>
      </p:sp>
    </p:spTree>
    <p:extLst>
      <p:ext uri="{BB962C8B-B14F-4D97-AF65-F5344CB8AC3E}">
        <p14:creationId xmlns:p14="http://schemas.microsoft.com/office/powerpoint/2010/main" val="3964963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1645</Words>
  <Application>Microsoft Office PowerPoint</Application>
  <PresentationFormat>Widescreen</PresentationFormat>
  <Paragraphs>206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Input &amp; Output Design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White Berry</dc:creator>
  <cp:lastModifiedBy>White Berry</cp:lastModifiedBy>
  <cp:revision>5</cp:revision>
  <dcterms:created xsi:type="dcterms:W3CDTF">2026-03-15T05:33:27Z</dcterms:created>
  <dcterms:modified xsi:type="dcterms:W3CDTF">2026-04-28T04:43:57Z</dcterms:modified>
</cp:coreProperties>
</file>