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sldIdLst>
    <p:sldId id="488" r:id="rId2"/>
    <p:sldId id="481" r:id="rId3"/>
    <p:sldId id="257" r:id="rId4"/>
    <p:sldId id="493" r:id="rId5"/>
    <p:sldId id="494" r:id="rId6"/>
    <p:sldId id="259" r:id="rId7"/>
    <p:sldId id="482" r:id="rId8"/>
    <p:sldId id="483" r:id="rId9"/>
    <p:sldId id="484" r:id="rId10"/>
    <p:sldId id="485" r:id="rId11"/>
    <p:sldId id="495" r:id="rId12"/>
    <p:sldId id="264" r:id="rId13"/>
    <p:sldId id="496" r:id="rId14"/>
    <p:sldId id="486" r:id="rId15"/>
    <p:sldId id="497" r:id="rId16"/>
    <p:sldId id="498" r:id="rId17"/>
    <p:sldId id="499" r:id="rId18"/>
    <p:sldId id="490" r:id="rId19"/>
    <p:sldId id="487" r:id="rId20"/>
    <p:sldId id="268" r:id="rId21"/>
  </p:sldIdLst>
  <p:sldSz cx="11630025" cy="7237413"/>
  <p:notesSz cx="6858000" cy="9144000"/>
  <p:defaultTextStyle>
    <a:defPPr>
      <a:defRPr lang="en-US"/>
    </a:defPPr>
    <a:lvl1pPr marL="0" algn="l" defTabSz="502006" rtl="0" eaLnBrk="1" latinLnBrk="0" hangingPunct="1">
      <a:defRPr sz="2000" kern="1200">
        <a:solidFill>
          <a:schemeClr val="tx1"/>
        </a:solidFill>
        <a:latin typeface="+mn-lt"/>
        <a:ea typeface="+mn-ea"/>
        <a:cs typeface="+mn-cs"/>
      </a:defRPr>
    </a:lvl1pPr>
    <a:lvl2pPr marL="502006" algn="l" defTabSz="502006" rtl="0" eaLnBrk="1" latinLnBrk="0" hangingPunct="1">
      <a:defRPr sz="2000" kern="1200">
        <a:solidFill>
          <a:schemeClr val="tx1"/>
        </a:solidFill>
        <a:latin typeface="+mn-lt"/>
        <a:ea typeface="+mn-ea"/>
        <a:cs typeface="+mn-cs"/>
      </a:defRPr>
    </a:lvl2pPr>
    <a:lvl3pPr marL="1004011" algn="l" defTabSz="502006" rtl="0" eaLnBrk="1" latinLnBrk="0" hangingPunct="1">
      <a:defRPr sz="2000" kern="1200">
        <a:solidFill>
          <a:schemeClr val="tx1"/>
        </a:solidFill>
        <a:latin typeface="+mn-lt"/>
        <a:ea typeface="+mn-ea"/>
        <a:cs typeface="+mn-cs"/>
      </a:defRPr>
    </a:lvl3pPr>
    <a:lvl4pPr marL="1506017" algn="l" defTabSz="502006" rtl="0" eaLnBrk="1" latinLnBrk="0" hangingPunct="1">
      <a:defRPr sz="2000" kern="1200">
        <a:solidFill>
          <a:schemeClr val="tx1"/>
        </a:solidFill>
        <a:latin typeface="+mn-lt"/>
        <a:ea typeface="+mn-ea"/>
        <a:cs typeface="+mn-cs"/>
      </a:defRPr>
    </a:lvl4pPr>
    <a:lvl5pPr marL="2008022" algn="l" defTabSz="502006" rtl="0" eaLnBrk="1" latinLnBrk="0" hangingPunct="1">
      <a:defRPr sz="2000" kern="1200">
        <a:solidFill>
          <a:schemeClr val="tx1"/>
        </a:solidFill>
        <a:latin typeface="+mn-lt"/>
        <a:ea typeface="+mn-ea"/>
        <a:cs typeface="+mn-cs"/>
      </a:defRPr>
    </a:lvl5pPr>
    <a:lvl6pPr marL="2510028" algn="l" defTabSz="502006" rtl="0" eaLnBrk="1" latinLnBrk="0" hangingPunct="1">
      <a:defRPr sz="2000" kern="1200">
        <a:solidFill>
          <a:schemeClr val="tx1"/>
        </a:solidFill>
        <a:latin typeface="+mn-lt"/>
        <a:ea typeface="+mn-ea"/>
        <a:cs typeface="+mn-cs"/>
      </a:defRPr>
    </a:lvl6pPr>
    <a:lvl7pPr marL="3012034" algn="l" defTabSz="502006" rtl="0" eaLnBrk="1" latinLnBrk="0" hangingPunct="1">
      <a:defRPr sz="2000" kern="1200">
        <a:solidFill>
          <a:schemeClr val="tx1"/>
        </a:solidFill>
        <a:latin typeface="+mn-lt"/>
        <a:ea typeface="+mn-ea"/>
        <a:cs typeface="+mn-cs"/>
      </a:defRPr>
    </a:lvl7pPr>
    <a:lvl8pPr marL="3514039" algn="l" defTabSz="502006" rtl="0" eaLnBrk="1" latinLnBrk="0" hangingPunct="1">
      <a:defRPr sz="2000" kern="1200">
        <a:solidFill>
          <a:schemeClr val="tx1"/>
        </a:solidFill>
        <a:latin typeface="+mn-lt"/>
        <a:ea typeface="+mn-ea"/>
        <a:cs typeface="+mn-cs"/>
      </a:defRPr>
    </a:lvl8pPr>
    <a:lvl9pPr marL="4016045" algn="l" defTabSz="502006"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80">
          <p15:clr>
            <a:srgbClr val="A4A3A4"/>
          </p15:clr>
        </p15:guide>
        <p15:guide id="4" pos="36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1142" y="67"/>
      </p:cViewPr>
      <p:guideLst>
        <p:guide orient="horz" pos="2160"/>
        <p:guide pos="2880"/>
        <p:guide orient="horz" pos="2280"/>
        <p:guide pos="366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822038" y="379810"/>
            <a:ext cx="9420320" cy="1553631"/>
          </a:xfrm>
        </p:spPr>
        <p:txBody>
          <a:bodyPr anchor="b"/>
          <a:lstStyle>
            <a:lvl1pPr algn="l">
              <a:defRPr>
                <a:solidFill>
                  <a:schemeClr val="tx1"/>
                </a:solidFill>
              </a:defRPr>
            </a:lvl1pPr>
            <a:extLst/>
          </a:lstStyle>
          <a:p>
            <a:r>
              <a:rPr kumimoji="0" lang="en-US" dirty="0"/>
              <a:t>Click to edit Master title style</a:t>
            </a:r>
          </a:p>
        </p:txBody>
      </p:sp>
      <p:sp>
        <p:nvSpPr>
          <p:cNvPr id="22" name="Subtitle 21"/>
          <p:cNvSpPr>
            <a:spLocks noGrp="1"/>
          </p:cNvSpPr>
          <p:nvPr>
            <p:ph type="subTitle" idx="1"/>
          </p:nvPr>
        </p:nvSpPr>
        <p:spPr>
          <a:xfrm>
            <a:off x="1822038" y="1952418"/>
            <a:ext cx="9420320" cy="1849561"/>
          </a:xfrm>
        </p:spPr>
        <p:txBody>
          <a:bodyPr tIns="0"/>
          <a:lstStyle>
            <a:lvl1pPr marL="30120" indent="0" algn="l">
              <a:buNone/>
              <a:defRPr sz="2900">
                <a:solidFill>
                  <a:schemeClr val="tx1"/>
                </a:solidFill>
              </a:defRPr>
            </a:lvl1pPr>
            <a:lvl2pPr marL="502006" indent="0" algn="ctr">
              <a:buNone/>
            </a:lvl2pPr>
            <a:lvl3pPr marL="1004011" indent="0" algn="ctr">
              <a:buNone/>
            </a:lvl3pPr>
            <a:lvl4pPr marL="1506017" indent="0" algn="ctr">
              <a:buNone/>
            </a:lvl4pPr>
            <a:lvl5pPr marL="2008022" indent="0" algn="ctr">
              <a:buNone/>
            </a:lvl5pPr>
            <a:lvl6pPr marL="2510028" indent="0" algn="ctr">
              <a:buNone/>
            </a:lvl6pPr>
            <a:lvl7pPr marL="3012034" indent="0" algn="ctr">
              <a:buNone/>
            </a:lvl7pPr>
            <a:lvl8pPr marL="3514039" indent="0" algn="ctr">
              <a:buNone/>
            </a:lvl8pPr>
            <a:lvl9pPr marL="4016045" indent="0" algn="ctr">
              <a:buNone/>
            </a:lvl9pPr>
            <a:extLst/>
          </a:lstStyle>
          <a:p>
            <a:r>
              <a:rPr kumimoji="0" lang="en-US" dirty="0"/>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
        <p:nvSpPr>
          <p:cNvPr id="8" name="Oval 7"/>
          <p:cNvSpPr/>
          <p:nvPr/>
        </p:nvSpPr>
        <p:spPr>
          <a:xfrm>
            <a:off x="1171947" y="1492021"/>
            <a:ext cx="267491" cy="221947"/>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
        <p:nvSpPr>
          <p:cNvPr id="9" name="Oval 8"/>
          <p:cNvSpPr/>
          <p:nvPr/>
        </p:nvSpPr>
        <p:spPr>
          <a:xfrm>
            <a:off x="1471784" y="1419429"/>
            <a:ext cx="81410" cy="67549"/>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903551" y="-57"/>
            <a:ext cx="8722519" cy="723747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2" name="Title 1"/>
          <p:cNvSpPr>
            <a:spLocks noGrp="1"/>
          </p:cNvSpPr>
          <p:nvPr>
            <p:ph type="title"/>
          </p:nvPr>
        </p:nvSpPr>
        <p:spPr>
          <a:xfrm>
            <a:off x="3279392" y="2744187"/>
            <a:ext cx="8141018" cy="2412471"/>
          </a:xfrm>
        </p:spPr>
        <p:txBody>
          <a:bodyPr anchor="t"/>
          <a:lstStyle>
            <a:lvl1pPr algn="l">
              <a:lnSpc>
                <a:spcPts val="4941"/>
              </a:lnSpc>
              <a:buNone/>
              <a:defRPr sz="4400" b="1" cap="all"/>
            </a:lvl1pPr>
            <a:extLst/>
          </a:lstStyle>
          <a:p>
            <a:r>
              <a:rPr kumimoji="0" lang="en-US"/>
              <a:t>Click to edit Master title style</a:t>
            </a:r>
          </a:p>
        </p:txBody>
      </p:sp>
      <p:sp>
        <p:nvSpPr>
          <p:cNvPr id="3" name="Text Placeholder 2"/>
          <p:cNvSpPr>
            <a:spLocks noGrp="1"/>
          </p:cNvSpPr>
          <p:nvPr>
            <p:ph type="body" idx="1"/>
          </p:nvPr>
        </p:nvSpPr>
        <p:spPr>
          <a:xfrm>
            <a:off x="3279392" y="1125820"/>
            <a:ext cx="8141018" cy="1593236"/>
          </a:xfrm>
        </p:spPr>
        <p:txBody>
          <a:bodyPr anchor="b"/>
          <a:lstStyle>
            <a:lvl1pPr marL="20080" indent="0">
              <a:lnSpc>
                <a:spcPts val="2525"/>
              </a:lnSpc>
              <a:spcBef>
                <a:spcPts val="0"/>
              </a:spcBef>
              <a:buNone/>
              <a:defRPr sz="2200">
                <a:solidFill>
                  <a:schemeClr val="tx2">
                    <a:shade val="30000"/>
                    <a:satMod val="150000"/>
                  </a:schemeClr>
                </a:solidFill>
              </a:defRPr>
            </a:lvl1pPr>
            <a:lvl2pPr>
              <a:buNone/>
              <a:defRPr sz="2000">
                <a:solidFill>
                  <a:schemeClr val="tx1">
                    <a:tint val="75000"/>
                  </a:schemeClr>
                </a:solidFill>
              </a:defRPr>
            </a:lvl2pPr>
            <a:lvl3pPr>
              <a:buNone/>
              <a:defRPr sz="18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Rectangle 9"/>
          <p:cNvSpPr/>
          <p:nvPr/>
        </p:nvSpPr>
        <p:spPr bwMode="invGray">
          <a:xfrm>
            <a:off x="2907506" y="0"/>
            <a:ext cx="96917"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8" name="Oval 7"/>
          <p:cNvSpPr/>
          <p:nvPr/>
        </p:nvSpPr>
        <p:spPr>
          <a:xfrm>
            <a:off x="2762920" y="2970376"/>
            <a:ext cx="267491" cy="221947"/>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
        <p:nvSpPr>
          <p:cNvPr id="9" name="Oval 8"/>
          <p:cNvSpPr/>
          <p:nvPr/>
        </p:nvSpPr>
        <p:spPr>
          <a:xfrm>
            <a:off x="3062757" y="2897784"/>
            <a:ext cx="81410" cy="67549"/>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825915" y="289496"/>
            <a:ext cx="9536620" cy="1206236"/>
          </a:xfrm>
        </p:spPr>
        <p:txBody>
          <a:bodyPr/>
          <a:lstStyle/>
          <a:p>
            <a:r>
              <a:rPr kumimoji="0" lang="en-US"/>
              <a:t>Click to edit Master title style</a:t>
            </a:r>
          </a:p>
        </p:txBody>
      </p:sp>
      <p:sp>
        <p:nvSpPr>
          <p:cNvPr id="3" name="Content Placeholder 2"/>
          <p:cNvSpPr>
            <a:spLocks noGrp="1"/>
          </p:cNvSpPr>
          <p:nvPr>
            <p:ph sz="half" idx="1"/>
          </p:nvPr>
        </p:nvSpPr>
        <p:spPr>
          <a:xfrm>
            <a:off x="1825914" y="1608315"/>
            <a:ext cx="4652010" cy="4921441"/>
          </a:xfrm>
        </p:spPr>
        <p:txBody>
          <a:bodyPr/>
          <a:lstStyle>
            <a:lvl1pPr>
              <a:defRPr sz="3100"/>
            </a:lvl1pPr>
            <a:lvl2pPr>
              <a:defRPr sz="2600"/>
            </a:lvl2pPr>
            <a:lvl3pPr>
              <a:defRPr sz="22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710525" y="1608315"/>
            <a:ext cx="4652010" cy="4921441"/>
          </a:xfrm>
        </p:spPr>
        <p:txBody>
          <a:bodyPr/>
          <a:lstStyle>
            <a:lvl1pPr>
              <a:defRPr sz="3100"/>
            </a:lvl1pPr>
            <a:lvl2pPr>
              <a:defRPr sz="2600"/>
            </a:lvl2pPr>
            <a:lvl3pPr>
              <a:defRPr sz="22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81502" y="5445827"/>
            <a:ext cx="10467022" cy="1206236"/>
          </a:xfrm>
        </p:spPr>
        <p:txBody>
          <a:bodyPr anchor="ctr"/>
          <a:lstStyle>
            <a:lvl1pPr algn="ctr">
              <a:defRPr sz="4900" b="1" cap="none" baseline="0"/>
            </a:lvl1pPr>
            <a:extLst/>
          </a:lstStyle>
          <a:p>
            <a:r>
              <a:rPr kumimoji="0" lang="en-US"/>
              <a:t>Click to edit Master title style</a:t>
            </a:r>
          </a:p>
        </p:txBody>
      </p:sp>
      <p:sp>
        <p:nvSpPr>
          <p:cNvPr id="3" name="Text Placeholder 2"/>
          <p:cNvSpPr>
            <a:spLocks noGrp="1"/>
          </p:cNvSpPr>
          <p:nvPr>
            <p:ph type="body" idx="1"/>
          </p:nvPr>
        </p:nvSpPr>
        <p:spPr>
          <a:xfrm>
            <a:off x="581502" y="346440"/>
            <a:ext cx="5117211" cy="675492"/>
          </a:xfrm>
          <a:solidFill>
            <a:schemeClr val="bg1"/>
          </a:solidFill>
          <a:ln w="10795">
            <a:solidFill>
              <a:schemeClr val="bg1"/>
            </a:solidFill>
            <a:miter lim="800000"/>
          </a:ln>
        </p:spPr>
        <p:txBody>
          <a:bodyPr anchor="ctr"/>
          <a:lstStyle>
            <a:lvl1pPr marL="70281" indent="0" algn="l">
              <a:lnSpc>
                <a:spcPct val="100000"/>
              </a:lnSpc>
              <a:spcBef>
                <a:spcPts val="110"/>
              </a:spcBef>
              <a:buNone/>
              <a:defRPr sz="2100" b="0">
                <a:solidFill>
                  <a:schemeClr val="tx1"/>
                </a:solidFill>
              </a:defRPr>
            </a:lvl1pPr>
            <a:lvl2pPr>
              <a:buNone/>
              <a:defRPr sz="2200" b="1"/>
            </a:lvl2pPr>
            <a:lvl3pPr>
              <a:buNone/>
              <a:defRPr sz="2000" b="1"/>
            </a:lvl3pPr>
            <a:lvl4pPr>
              <a:buNone/>
              <a:defRPr sz="1800" b="1"/>
            </a:lvl4pPr>
            <a:lvl5pPr>
              <a:buNone/>
              <a:defRPr sz="18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931313" y="346440"/>
            <a:ext cx="5117211" cy="675492"/>
          </a:xfrm>
          <a:solidFill>
            <a:schemeClr val="bg1"/>
          </a:solidFill>
          <a:ln w="10795">
            <a:solidFill>
              <a:schemeClr val="bg1"/>
            </a:solidFill>
            <a:miter lim="800000"/>
          </a:ln>
        </p:spPr>
        <p:txBody>
          <a:bodyPr anchor="ctr"/>
          <a:lstStyle>
            <a:lvl1pPr marL="70281" indent="0" algn="l">
              <a:lnSpc>
                <a:spcPct val="100000"/>
              </a:lnSpc>
              <a:spcBef>
                <a:spcPts val="110"/>
              </a:spcBef>
              <a:buNone/>
              <a:defRPr sz="2100" b="0">
                <a:solidFill>
                  <a:schemeClr val="tx1"/>
                </a:solidFill>
              </a:defRPr>
            </a:lvl1pPr>
            <a:lvl2pPr>
              <a:buNone/>
              <a:defRPr sz="2200" b="1"/>
            </a:lvl2pPr>
            <a:lvl3pPr>
              <a:buNone/>
              <a:defRPr sz="2000" b="1"/>
            </a:lvl3pPr>
            <a:lvl4pPr>
              <a:buNone/>
              <a:defRPr sz="1800" b="1"/>
            </a:lvl4pPr>
            <a:lvl5pPr>
              <a:buNone/>
              <a:defRPr sz="18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81502" y="1022964"/>
            <a:ext cx="5117211" cy="4342448"/>
          </a:xfrm>
          <a:ln w="10795">
            <a:solidFill>
              <a:schemeClr val="bg1"/>
            </a:solidFill>
            <a:prstDash val="dash"/>
            <a:miter lim="800000"/>
          </a:ln>
        </p:spPr>
        <p:txBody>
          <a:bodyPr/>
          <a:lstStyle>
            <a:lvl1pPr marL="431725" indent="-301203">
              <a:lnSpc>
                <a:spcPct val="100000"/>
              </a:lnSpc>
              <a:spcBef>
                <a:spcPts val="769"/>
              </a:spcBef>
              <a:defRPr sz="2600"/>
            </a:lvl1pPr>
            <a:lvl2pPr>
              <a:lnSpc>
                <a:spcPct val="100000"/>
              </a:lnSpc>
              <a:spcBef>
                <a:spcPts val="769"/>
              </a:spcBef>
              <a:defRPr sz="2200"/>
            </a:lvl2pPr>
            <a:lvl3pPr>
              <a:lnSpc>
                <a:spcPct val="100000"/>
              </a:lnSpc>
              <a:spcBef>
                <a:spcPts val="769"/>
              </a:spcBef>
              <a:defRPr sz="2000"/>
            </a:lvl3pPr>
            <a:lvl4pPr>
              <a:lnSpc>
                <a:spcPct val="100000"/>
              </a:lnSpc>
              <a:spcBef>
                <a:spcPts val="769"/>
              </a:spcBef>
              <a:defRPr sz="1800"/>
            </a:lvl4pPr>
            <a:lvl5pPr>
              <a:lnSpc>
                <a:spcPct val="100000"/>
              </a:lnSpc>
              <a:spcBef>
                <a:spcPts val="769"/>
              </a:spcBef>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931313" y="1022964"/>
            <a:ext cx="5117211" cy="4342448"/>
          </a:xfrm>
          <a:ln w="10795">
            <a:solidFill>
              <a:schemeClr val="bg1"/>
            </a:solidFill>
            <a:prstDash val="dash"/>
            <a:miter lim="800000"/>
          </a:ln>
        </p:spPr>
        <p:txBody>
          <a:bodyPr/>
          <a:lstStyle>
            <a:lvl1pPr marL="431725" indent="-301203">
              <a:lnSpc>
                <a:spcPct val="100000"/>
              </a:lnSpc>
              <a:spcBef>
                <a:spcPts val="769"/>
              </a:spcBef>
              <a:defRPr sz="2600"/>
            </a:lvl1pPr>
            <a:lvl2pPr>
              <a:lnSpc>
                <a:spcPct val="100000"/>
              </a:lnSpc>
              <a:spcBef>
                <a:spcPts val="769"/>
              </a:spcBef>
              <a:defRPr sz="2200"/>
            </a:lvl2pPr>
            <a:lvl3pPr>
              <a:lnSpc>
                <a:spcPct val="100000"/>
              </a:lnSpc>
              <a:spcBef>
                <a:spcPts val="769"/>
              </a:spcBef>
              <a:defRPr sz="2000"/>
            </a:lvl3pPr>
            <a:lvl4pPr>
              <a:lnSpc>
                <a:spcPct val="100000"/>
              </a:lnSpc>
              <a:spcBef>
                <a:spcPts val="769"/>
              </a:spcBef>
              <a:defRPr sz="1800"/>
            </a:lvl4pPr>
            <a:lvl5pPr>
              <a:lnSpc>
                <a:spcPct val="100000"/>
              </a:lnSpc>
              <a:spcBef>
                <a:spcPts val="769"/>
              </a:spcBef>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825915" y="289496"/>
            <a:ext cx="9536620" cy="1206236"/>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290933" y="1"/>
            <a:ext cx="10339092" cy="7237413"/>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5BCAD085-E8A6-8845-BD4E-CB4CCA059FC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6" name="Rectangle 5"/>
          <p:cNvSpPr/>
          <p:nvPr/>
        </p:nvSpPr>
        <p:spPr bwMode="invGray">
          <a:xfrm>
            <a:off x="1290932" y="-57"/>
            <a:ext cx="93040"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502" y="228772"/>
            <a:ext cx="4845844" cy="1226339"/>
          </a:xfrm>
          <a:ln>
            <a:noFill/>
          </a:ln>
        </p:spPr>
        <p:txBody>
          <a:bodyPr anchor="b"/>
          <a:lstStyle>
            <a:lvl1pPr algn="l">
              <a:lnSpc>
                <a:spcPts val="2196"/>
              </a:lnSpc>
              <a:buNone/>
              <a:defRPr sz="2400" b="1" cap="all" baseline="0"/>
            </a:lvl1pPr>
            <a:extLst/>
          </a:lstStyle>
          <a:p>
            <a:r>
              <a:rPr kumimoji="0" lang="en-US"/>
              <a:t>Click to edit Master title style</a:t>
            </a:r>
          </a:p>
        </p:txBody>
      </p:sp>
      <p:sp>
        <p:nvSpPr>
          <p:cNvPr id="3" name="Text Placeholder 2"/>
          <p:cNvSpPr>
            <a:spLocks noGrp="1"/>
          </p:cNvSpPr>
          <p:nvPr>
            <p:ph type="body" idx="2"/>
          </p:nvPr>
        </p:nvSpPr>
        <p:spPr>
          <a:xfrm>
            <a:off x="581502" y="1484803"/>
            <a:ext cx="4845844" cy="737144"/>
          </a:xfrm>
        </p:spPr>
        <p:txBody>
          <a:bodyPr/>
          <a:lstStyle>
            <a:lvl1pPr marL="50201" indent="0">
              <a:lnSpc>
                <a:spcPct val="100000"/>
              </a:lnSpc>
              <a:spcBef>
                <a:spcPts val="0"/>
              </a:spcBef>
              <a:buNone/>
              <a:defRPr sz="1500"/>
            </a:lvl1pPr>
            <a:lvl2pPr>
              <a:buNone/>
              <a:defRPr sz="1300"/>
            </a:lvl2pPr>
            <a:lvl3pPr>
              <a:buNone/>
              <a:defRPr sz="1100"/>
            </a:lvl3pPr>
            <a:lvl4pPr>
              <a:buNone/>
              <a:defRPr sz="1000"/>
            </a:lvl4pPr>
            <a:lvl5pPr>
              <a:buNone/>
              <a:defRPr sz="10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581501" y="2251640"/>
            <a:ext cx="10370106" cy="4213448"/>
          </a:xfrm>
        </p:spPr>
        <p:txBody>
          <a:bodyPr/>
          <a:lstStyle>
            <a:lvl1pPr>
              <a:defRPr sz="3500"/>
            </a:lvl1pPr>
            <a:lvl2pPr>
              <a:defRPr sz="3100"/>
            </a:lvl2pPr>
            <a:lvl3pPr>
              <a:defRPr sz="2600"/>
            </a:lvl3pPr>
            <a:lvl4pPr>
              <a:defRPr sz="2200"/>
            </a:lvl4pPr>
            <a:lvl5pPr>
              <a:defRPr sz="22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87396" y="1125820"/>
            <a:ext cx="3489007" cy="2090808"/>
          </a:xfrm>
        </p:spPr>
        <p:txBody>
          <a:bodyPr anchor="b">
            <a:noAutofit/>
          </a:bodyPr>
          <a:lstStyle>
            <a:lvl1pPr algn="l">
              <a:buNone/>
              <a:defRPr sz="23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Rectangle 7"/>
          <p:cNvSpPr/>
          <p:nvPr/>
        </p:nvSpPr>
        <p:spPr>
          <a:xfrm>
            <a:off x="969170" y="1125820"/>
            <a:ext cx="5815013" cy="4824942"/>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100401" tIns="301203" rIns="100401" bIns="50201" rtlCol="0" anchor="t">
            <a:normAutofit/>
          </a:bodyPr>
          <a:lstStyle/>
          <a:p>
            <a:pPr marL="0" indent="-311243" algn="l" rtl="0" eaLnBrk="1" latinLnBrk="0" hangingPunct="1">
              <a:lnSpc>
                <a:spcPts val="3294"/>
              </a:lnSpc>
              <a:spcBef>
                <a:spcPts val="659"/>
              </a:spcBef>
              <a:buClr>
                <a:schemeClr val="accent1"/>
              </a:buClr>
              <a:buSzPct val="80000"/>
              <a:buFont typeface="Wingdings 2"/>
              <a:buNone/>
            </a:pPr>
            <a:endParaRPr kumimoji="0" lang="en-US" sz="3500" kern="1200">
              <a:solidFill>
                <a:schemeClr val="tx1"/>
              </a:solidFill>
              <a:latin typeface="+mn-lt"/>
              <a:ea typeface="+mn-ea"/>
              <a:cs typeface="+mn-cs"/>
            </a:endParaRPr>
          </a:p>
        </p:txBody>
      </p:sp>
      <p:sp>
        <p:nvSpPr>
          <p:cNvPr id="3" name="Picture Placeholder 2"/>
          <p:cNvSpPr>
            <a:spLocks noGrp="1"/>
          </p:cNvSpPr>
          <p:nvPr>
            <p:ph type="pic" idx="1"/>
          </p:nvPr>
        </p:nvSpPr>
        <p:spPr>
          <a:xfrm>
            <a:off x="1066086" y="1206240"/>
            <a:ext cx="5621179" cy="3708969"/>
          </a:xfrm>
          <a:prstGeom prst="roundRect">
            <a:avLst>
              <a:gd name="adj" fmla="val 783"/>
            </a:avLst>
          </a:prstGeom>
          <a:solidFill>
            <a:schemeClr val="bg2"/>
          </a:solidFill>
          <a:ln w="127000">
            <a:noFill/>
            <a:miter lim="800000"/>
          </a:ln>
          <a:effectLst/>
        </p:spPr>
        <p:txBody>
          <a:bodyPr lIns="100401" tIns="301203" anchor="t"/>
          <a:lstStyle>
            <a:lvl1pPr marL="0" indent="0" algn="l" eaLnBrk="1" latinLnBrk="0" hangingPunct="1">
              <a:buNone/>
              <a:defRPr sz="35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04585" y="1007140"/>
            <a:ext cx="872252" cy="2156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0" name="Flowchart: Process 9"/>
          <p:cNvSpPr/>
          <p:nvPr/>
        </p:nvSpPr>
        <p:spPr>
          <a:xfrm rot="2103354" flipH="1">
            <a:off x="6364039" y="988614"/>
            <a:ext cx="825732" cy="2156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dirty="0"/>
          </a:p>
        </p:txBody>
      </p:sp>
      <p:sp>
        <p:nvSpPr>
          <p:cNvPr id="4" name="Text Placeholder 3"/>
          <p:cNvSpPr>
            <a:spLocks noGrp="1"/>
          </p:cNvSpPr>
          <p:nvPr>
            <p:ph type="body" sz="half" idx="2"/>
          </p:nvPr>
        </p:nvSpPr>
        <p:spPr>
          <a:xfrm>
            <a:off x="1066086" y="5066190"/>
            <a:ext cx="5621179" cy="804157"/>
          </a:xfrm>
        </p:spPr>
        <p:txBody>
          <a:bodyPr anchor="ctr"/>
          <a:lstStyle>
            <a:lvl1pPr marL="0" indent="0" algn="l">
              <a:lnSpc>
                <a:spcPts val="1757"/>
              </a:lnSpc>
              <a:spcBef>
                <a:spcPts val="0"/>
              </a:spcBef>
              <a:buNone/>
              <a:defRPr sz="1500">
                <a:solidFill>
                  <a:srgbClr val="777777"/>
                </a:solidFill>
              </a:defRPr>
            </a:lvl1pPr>
            <a:lvl2pPr>
              <a:defRPr sz="1300"/>
            </a:lvl2pPr>
            <a:lvl3pPr>
              <a:defRPr sz="1100"/>
            </a:lvl3pPr>
            <a:lvl4pPr>
              <a:defRPr sz="1000"/>
            </a:lvl4pPr>
            <a:lvl5pPr>
              <a:defRPr sz="10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518" y="289834"/>
            <a:ext cx="2326005" cy="6175256"/>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453754" y="289835"/>
            <a:ext cx="7074931" cy="617525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37756" y="-861062"/>
            <a:ext cx="2084459" cy="172955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8" name="Oval 7"/>
          <p:cNvSpPr/>
          <p:nvPr/>
        </p:nvSpPr>
        <p:spPr>
          <a:xfrm>
            <a:off x="214715" y="22271"/>
            <a:ext cx="2164974" cy="179636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1" name="Donut 10"/>
          <p:cNvSpPr/>
          <p:nvPr/>
        </p:nvSpPr>
        <p:spPr>
          <a:xfrm rot="2315675">
            <a:off x="232604" y="1113448"/>
            <a:ext cx="1431771" cy="1163626"/>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2" name="Rectangle 11"/>
          <p:cNvSpPr/>
          <p:nvPr/>
        </p:nvSpPr>
        <p:spPr>
          <a:xfrm>
            <a:off x="1288248" y="-57"/>
            <a:ext cx="10341777" cy="723747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5" name="Title Placeholder 4"/>
          <p:cNvSpPr>
            <a:spLocks noGrp="1"/>
          </p:cNvSpPr>
          <p:nvPr>
            <p:ph type="title"/>
          </p:nvPr>
        </p:nvSpPr>
        <p:spPr>
          <a:xfrm>
            <a:off x="1825915" y="289832"/>
            <a:ext cx="9536620" cy="1206236"/>
          </a:xfrm>
          <a:prstGeom prst="rect">
            <a:avLst/>
          </a:prstGeom>
        </p:spPr>
        <p:txBody>
          <a:bodyPr lIns="100401" tIns="50201" rIns="100401" bIns="50201" anchor="ctr">
            <a:normAutofit/>
          </a:bodyPr>
          <a:lstStyle/>
          <a:p>
            <a:r>
              <a:rPr kumimoji="0" lang="en-US" dirty="0"/>
              <a:t>Click to edit Master title style</a:t>
            </a:r>
          </a:p>
        </p:txBody>
      </p:sp>
      <p:sp>
        <p:nvSpPr>
          <p:cNvPr id="9" name="Text Placeholder 8"/>
          <p:cNvSpPr>
            <a:spLocks noGrp="1"/>
          </p:cNvSpPr>
          <p:nvPr>
            <p:ph type="body" idx="1"/>
          </p:nvPr>
        </p:nvSpPr>
        <p:spPr>
          <a:xfrm>
            <a:off x="1825915" y="1527899"/>
            <a:ext cx="9536620" cy="5066189"/>
          </a:xfrm>
          <a:prstGeom prst="rect">
            <a:avLst/>
          </a:prstGeom>
        </p:spPr>
        <p:txBody>
          <a:bodyPr lIns="100401" tIns="50201" rIns="100401" bIns="50201">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24" name="Date Placeholder 23"/>
          <p:cNvSpPr>
            <a:spLocks noGrp="1"/>
          </p:cNvSpPr>
          <p:nvPr>
            <p:ph type="dt" sz="half" idx="2"/>
          </p:nvPr>
        </p:nvSpPr>
        <p:spPr>
          <a:xfrm>
            <a:off x="4555094" y="6654399"/>
            <a:ext cx="2713672" cy="502598"/>
          </a:xfrm>
          <a:prstGeom prst="rect">
            <a:avLst/>
          </a:prstGeom>
        </p:spPr>
        <p:txBody>
          <a:bodyPr lIns="100401" tIns="50201" rIns="100401" bIns="50201" anchor="b"/>
          <a:lstStyle>
            <a:lvl1pPr algn="r" eaLnBrk="1" latinLnBrk="0" hangingPunct="1">
              <a:defRPr kumimoji="0" sz="1300">
                <a:solidFill>
                  <a:schemeClr val="bg2">
                    <a:shade val="50000"/>
                    <a:satMod val="200000"/>
                  </a:schemeClr>
                </a:solidFill>
              </a:defRPr>
            </a:lvl1pPr>
            <a:extLst/>
          </a:lstStyle>
          <a:p>
            <a:fld id="{5BCAD085-E8A6-8845-BD4E-CB4CCA059FC4}" type="datetimeFigureOut">
              <a:rPr lang="en-US" smtClean="0"/>
              <a:t>3/17/2026</a:t>
            </a:fld>
            <a:endParaRPr lang="en-US"/>
          </a:p>
        </p:txBody>
      </p:sp>
      <p:sp>
        <p:nvSpPr>
          <p:cNvPr id="10" name="Footer Placeholder 9"/>
          <p:cNvSpPr>
            <a:spLocks noGrp="1"/>
          </p:cNvSpPr>
          <p:nvPr>
            <p:ph type="ftr" sz="quarter" idx="3"/>
          </p:nvPr>
        </p:nvSpPr>
        <p:spPr>
          <a:xfrm>
            <a:off x="7268766" y="6654399"/>
            <a:ext cx="3682842" cy="502598"/>
          </a:xfrm>
          <a:prstGeom prst="rect">
            <a:avLst/>
          </a:prstGeom>
        </p:spPr>
        <p:txBody>
          <a:bodyPr lIns="100401" tIns="50201" rIns="100401" bIns="50201" anchor="b"/>
          <a:lstStyle>
            <a:lvl1pPr eaLnBrk="1" latinLnBrk="0" hangingPunct="1">
              <a:defRPr kumimoji="0" sz="13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10955484" y="6654399"/>
            <a:ext cx="581501" cy="502598"/>
          </a:xfrm>
          <a:prstGeom prst="rect">
            <a:avLst/>
          </a:prstGeom>
        </p:spPr>
        <p:txBody>
          <a:bodyPr lIns="100401" tIns="50201" rIns="100401" bIns="50201" anchor="b"/>
          <a:lstStyle>
            <a:lvl1pPr algn="ctr" eaLnBrk="1" latinLnBrk="0" hangingPunct="1">
              <a:defRPr kumimoji="0" sz="1300">
                <a:solidFill>
                  <a:schemeClr val="bg2">
                    <a:shade val="50000"/>
                    <a:satMod val="200000"/>
                  </a:schemeClr>
                </a:solidFill>
                <a:effectLst/>
              </a:defRPr>
            </a:lvl1pPr>
            <a:extLst/>
          </a:lstStyle>
          <a:p>
            <a:fld id="{C1FF6DA9-008F-8B48-92A6-B652298478BF}" type="slidenum">
              <a:rPr lang="en-US" smtClean="0"/>
              <a:t>‹#›</a:t>
            </a:fld>
            <a:endParaRPr lang="en-US"/>
          </a:p>
        </p:txBody>
      </p:sp>
      <p:sp>
        <p:nvSpPr>
          <p:cNvPr id="15" name="Rectangle 14"/>
          <p:cNvSpPr/>
          <p:nvPr/>
        </p:nvSpPr>
        <p:spPr bwMode="invGray">
          <a:xfrm>
            <a:off x="1290932" y="-57"/>
            <a:ext cx="93040"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4700" kern="1200">
          <a:solidFill>
            <a:schemeClr val="tx1"/>
          </a:solidFill>
          <a:effectLst>
            <a:outerShdw blurRad="50000" dist="30000" dir="5400000" algn="tl" rotWithShape="0">
              <a:srgbClr val="000000">
                <a:alpha val="30000"/>
              </a:srgbClr>
            </a:outerShdw>
          </a:effectLst>
          <a:latin typeface="Times New Roman" pitchFamily="18" charset="0"/>
          <a:ea typeface="+mj-ea"/>
          <a:cs typeface="Times New Roman" pitchFamily="18" charset="0"/>
        </a:defRPr>
      </a:lvl1pPr>
      <a:extLst/>
    </p:titleStyle>
    <p:bodyStyle>
      <a:lvl1pPr marL="401604" indent="-311243" algn="l" rtl="0" eaLnBrk="1" latinLnBrk="0" hangingPunct="1">
        <a:lnSpc>
          <a:spcPct val="100000"/>
        </a:lnSpc>
        <a:spcBef>
          <a:spcPts val="659"/>
        </a:spcBef>
        <a:buClr>
          <a:schemeClr val="accent1"/>
        </a:buClr>
        <a:buSzPct val="80000"/>
        <a:buFont typeface="Wingdings 2"/>
        <a:buChar char=""/>
        <a:defRPr kumimoji="0" sz="2000" kern="1200">
          <a:solidFill>
            <a:schemeClr val="tx1"/>
          </a:solidFill>
          <a:latin typeface="Times New Roman" pitchFamily="18" charset="0"/>
          <a:ea typeface="+mn-ea"/>
          <a:cs typeface="Times New Roman" pitchFamily="18" charset="0"/>
        </a:defRPr>
      </a:lvl1pPr>
      <a:lvl2pPr marL="702808" indent="-261043" algn="l" rtl="0" eaLnBrk="1" latinLnBrk="0" hangingPunct="1">
        <a:lnSpc>
          <a:spcPct val="100000"/>
        </a:lnSpc>
        <a:spcBef>
          <a:spcPts val="604"/>
        </a:spcBef>
        <a:buClr>
          <a:schemeClr val="accent1"/>
        </a:buClr>
        <a:buFont typeface="Verdana"/>
        <a:buChar char="◦"/>
        <a:defRPr kumimoji="0" sz="2000" kern="1200">
          <a:solidFill>
            <a:schemeClr val="tx1"/>
          </a:solidFill>
          <a:latin typeface="Times New Roman" pitchFamily="18" charset="0"/>
          <a:ea typeface="+mn-ea"/>
          <a:cs typeface="Times New Roman" pitchFamily="18" charset="0"/>
        </a:defRPr>
      </a:lvl2pPr>
      <a:lvl3pPr marL="973891" indent="-251003" algn="l" rtl="0" eaLnBrk="1" latinLnBrk="0" hangingPunct="1">
        <a:lnSpc>
          <a:spcPct val="100000"/>
        </a:lnSpc>
        <a:spcBef>
          <a:spcPct val="20000"/>
        </a:spcBef>
        <a:buClr>
          <a:schemeClr val="accent2"/>
        </a:buClr>
        <a:buFont typeface="Wingdings 2"/>
        <a:buChar char=""/>
        <a:defRPr kumimoji="0" sz="2000" kern="1200">
          <a:solidFill>
            <a:schemeClr val="tx1"/>
          </a:solidFill>
          <a:latin typeface="Times New Roman" pitchFamily="18" charset="0"/>
          <a:ea typeface="+mn-ea"/>
          <a:cs typeface="Times New Roman" pitchFamily="18" charset="0"/>
        </a:defRPr>
      </a:lvl3pPr>
      <a:lvl4pPr marL="1204813" indent="-190762" algn="l" rtl="0" eaLnBrk="1" latinLnBrk="0" hangingPunct="1">
        <a:lnSpc>
          <a:spcPct val="100000"/>
        </a:lnSpc>
        <a:spcBef>
          <a:spcPct val="20000"/>
        </a:spcBef>
        <a:buClr>
          <a:schemeClr val="accent3"/>
        </a:buClr>
        <a:buFont typeface="Wingdings 2"/>
        <a:buChar char=""/>
        <a:defRPr kumimoji="0" sz="2000" kern="1200">
          <a:solidFill>
            <a:schemeClr val="tx1"/>
          </a:solidFill>
          <a:latin typeface="Times New Roman" pitchFamily="18" charset="0"/>
          <a:ea typeface="+mn-ea"/>
          <a:cs typeface="Times New Roman" pitchFamily="18" charset="0"/>
        </a:defRPr>
      </a:lvl4pPr>
      <a:lvl5pPr marL="1425696" indent="-200802" algn="l" rtl="0" eaLnBrk="1" latinLnBrk="0" hangingPunct="1">
        <a:lnSpc>
          <a:spcPct val="100000"/>
        </a:lnSpc>
        <a:spcBef>
          <a:spcPct val="20000"/>
        </a:spcBef>
        <a:buClr>
          <a:schemeClr val="accent4"/>
        </a:buClr>
        <a:buFont typeface="Wingdings 2"/>
        <a:buChar char=""/>
        <a:defRPr kumimoji="0" sz="2000" kern="1200">
          <a:solidFill>
            <a:schemeClr val="tx1"/>
          </a:solidFill>
          <a:latin typeface="Times New Roman" pitchFamily="18" charset="0"/>
          <a:ea typeface="+mn-ea"/>
          <a:cs typeface="Times New Roman" pitchFamily="18" charset="0"/>
        </a:defRPr>
      </a:lvl5pPr>
      <a:lvl6pPr marL="1656618" indent="-200802" algn="l" rtl="0" eaLnBrk="1" latinLnBrk="0" hangingPunct="1">
        <a:lnSpc>
          <a:spcPct val="100000"/>
        </a:lnSpc>
        <a:spcBef>
          <a:spcPct val="20000"/>
        </a:spcBef>
        <a:buClr>
          <a:schemeClr val="accent5"/>
        </a:buClr>
        <a:buFont typeface="Wingdings 2"/>
        <a:buChar char=""/>
        <a:defRPr kumimoji="0" sz="2200" kern="1200">
          <a:solidFill>
            <a:schemeClr val="tx1"/>
          </a:solidFill>
          <a:latin typeface="+mn-lt"/>
          <a:ea typeface="+mn-ea"/>
          <a:cs typeface="+mn-cs"/>
        </a:defRPr>
      </a:lvl6pPr>
      <a:lvl7pPr marL="1887541"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7pPr>
      <a:lvl8pPr marL="2108424"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8pPr>
      <a:lvl9pPr marL="2339346"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502006" algn="l" rtl="0" eaLnBrk="1" latinLnBrk="0" hangingPunct="1">
        <a:defRPr kumimoji="0" kern="1200">
          <a:solidFill>
            <a:schemeClr val="tx1"/>
          </a:solidFill>
          <a:latin typeface="+mn-lt"/>
          <a:ea typeface="+mn-ea"/>
          <a:cs typeface="+mn-cs"/>
        </a:defRPr>
      </a:lvl2pPr>
      <a:lvl3pPr marL="1004011" algn="l" rtl="0" eaLnBrk="1" latinLnBrk="0" hangingPunct="1">
        <a:defRPr kumimoji="0" kern="1200">
          <a:solidFill>
            <a:schemeClr val="tx1"/>
          </a:solidFill>
          <a:latin typeface="+mn-lt"/>
          <a:ea typeface="+mn-ea"/>
          <a:cs typeface="+mn-cs"/>
        </a:defRPr>
      </a:lvl3pPr>
      <a:lvl4pPr marL="1506017" algn="l" rtl="0" eaLnBrk="1" latinLnBrk="0" hangingPunct="1">
        <a:defRPr kumimoji="0" kern="1200">
          <a:solidFill>
            <a:schemeClr val="tx1"/>
          </a:solidFill>
          <a:latin typeface="+mn-lt"/>
          <a:ea typeface="+mn-ea"/>
          <a:cs typeface="+mn-cs"/>
        </a:defRPr>
      </a:lvl4pPr>
      <a:lvl5pPr marL="2008022" algn="l" rtl="0" eaLnBrk="1" latinLnBrk="0" hangingPunct="1">
        <a:defRPr kumimoji="0" kern="1200">
          <a:solidFill>
            <a:schemeClr val="tx1"/>
          </a:solidFill>
          <a:latin typeface="+mn-lt"/>
          <a:ea typeface="+mn-ea"/>
          <a:cs typeface="+mn-cs"/>
        </a:defRPr>
      </a:lvl5pPr>
      <a:lvl6pPr marL="2510028" algn="l" rtl="0" eaLnBrk="1" latinLnBrk="0" hangingPunct="1">
        <a:defRPr kumimoji="0" kern="1200">
          <a:solidFill>
            <a:schemeClr val="tx1"/>
          </a:solidFill>
          <a:latin typeface="+mn-lt"/>
          <a:ea typeface="+mn-ea"/>
          <a:cs typeface="+mn-cs"/>
        </a:defRPr>
      </a:lvl6pPr>
      <a:lvl7pPr marL="3012034" algn="l" rtl="0" eaLnBrk="1" latinLnBrk="0" hangingPunct="1">
        <a:defRPr kumimoji="0" kern="1200">
          <a:solidFill>
            <a:schemeClr val="tx1"/>
          </a:solidFill>
          <a:latin typeface="+mn-lt"/>
          <a:ea typeface="+mn-ea"/>
          <a:cs typeface="+mn-cs"/>
        </a:defRPr>
      </a:lvl7pPr>
      <a:lvl8pPr marL="3514039" algn="l" rtl="0" eaLnBrk="1" latinLnBrk="0" hangingPunct="1">
        <a:defRPr kumimoji="0" kern="1200">
          <a:solidFill>
            <a:schemeClr val="tx1"/>
          </a:solidFill>
          <a:latin typeface="+mn-lt"/>
          <a:ea typeface="+mn-ea"/>
          <a:cs typeface="+mn-cs"/>
        </a:defRPr>
      </a:lvl8pPr>
      <a:lvl9pPr marL="4016045"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61309" y="1874579"/>
            <a:ext cx="8639418" cy="1551353"/>
          </a:xfrm>
        </p:spPr>
        <p:txBody>
          <a:bodyPr>
            <a:noAutofit/>
          </a:bodyPr>
          <a:lstStyle/>
          <a:p>
            <a:r>
              <a:rPr lang="en-US" sz="2800" b="1" dirty="0">
                <a:latin typeface="Times New Roman" pitchFamily="18" charset="0"/>
                <a:cs typeface="Times New Roman" pitchFamily="18" charset="0"/>
              </a:rPr>
              <a:t>Explainable AI-Driven Bone Tumor Detection Using Hybrid </a:t>
            </a:r>
            <a:r>
              <a:rPr lang="en-US" sz="2800" b="1" dirty="0" err="1">
                <a:latin typeface="Times New Roman" pitchFamily="18" charset="0"/>
                <a:cs typeface="Times New Roman" pitchFamily="18" charset="0"/>
              </a:rPr>
              <a:t>ResNet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EfficientNet</a:t>
            </a:r>
            <a:r>
              <a:rPr lang="en-US" sz="2800" b="1" dirty="0">
                <a:latin typeface="Times New Roman" pitchFamily="18" charset="0"/>
                <a:cs typeface="Times New Roman" pitchFamily="18" charset="0"/>
              </a:rPr>
              <a:t>, and </a:t>
            </a:r>
            <a:r>
              <a:rPr lang="en-US" sz="2800" b="1" dirty="0" err="1">
                <a:latin typeface="Times New Roman" pitchFamily="18" charset="0"/>
                <a:cs typeface="Times New Roman" pitchFamily="18" charset="0"/>
              </a:rPr>
              <a:t>ViT</a:t>
            </a:r>
            <a:r>
              <a:rPr lang="en-US" sz="2800" b="1" dirty="0">
                <a:latin typeface="Times New Roman" pitchFamily="18" charset="0"/>
                <a:cs typeface="Times New Roman" pitchFamily="18" charset="0"/>
              </a:rPr>
              <a:t> Models</a:t>
            </a:r>
          </a:p>
        </p:txBody>
      </p:sp>
      <p:pic>
        <p:nvPicPr>
          <p:cNvPr id="3" name="Image 1"/>
          <p:cNvPicPr/>
          <p:nvPr/>
        </p:nvPicPr>
        <p:blipFill>
          <a:blip r:embed="rId2" cstate="print"/>
          <a:stretch>
            <a:fillRect/>
          </a:stretch>
        </p:blipFill>
        <p:spPr>
          <a:xfrm>
            <a:off x="411489" y="123084"/>
            <a:ext cx="10349124" cy="1519836"/>
          </a:xfrm>
          <a:prstGeom prst="rect">
            <a:avLst/>
          </a:prstGeom>
        </p:spPr>
      </p:pic>
      <p:sp>
        <p:nvSpPr>
          <p:cNvPr id="4" name="TextBox 3"/>
          <p:cNvSpPr txBox="1"/>
          <p:nvPr/>
        </p:nvSpPr>
        <p:spPr>
          <a:xfrm>
            <a:off x="2426361" y="1874576"/>
            <a:ext cx="7143643" cy="409159"/>
          </a:xfrm>
          <a:prstGeom prst="rect">
            <a:avLst/>
          </a:prstGeom>
          <a:noFill/>
        </p:spPr>
        <p:txBody>
          <a:bodyPr wrap="square" lIns="100401" tIns="50201" rIns="100401" bIns="50201" rtlCol="0">
            <a:spAutoFit/>
          </a:bodyPr>
          <a:lstStyle/>
          <a:p>
            <a:r>
              <a:rPr lang="en-US" b="1" dirty="0">
                <a:latin typeface="Times New Roman" pitchFamily="18" charset="0"/>
                <a:cs typeface="Times New Roman" pitchFamily="18" charset="0"/>
              </a:rPr>
              <a:t>Department of Computer Science and Engineering </a:t>
            </a:r>
            <a:endParaRPr lang="en-US" dirty="0">
              <a:latin typeface="Times New Roman" pitchFamily="18" charset="0"/>
              <a:cs typeface="Times New Roman" pitchFamily="18" charset="0"/>
            </a:endParaRPr>
          </a:p>
        </p:txBody>
      </p:sp>
      <p:sp>
        <p:nvSpPr>
          <p:cNvPr id="5" name="TextBox 4"/>
          <p:cNvSpPr txBox="1"/>
          <p:nvPr/>
        </p:nvSpPr>
        <p:spPr>
          <a:xfrm>
            <a:off x="1797627" y="3770693"/>
            <a:ext cx="2826778" cy="2255818"/>
          </a:xfrm>
          <a:prstGeom prst="rect">
            <a:avLst/>
          </a:prstGeom>
          <a:noFill/>
        </p:spPr>
        <p:txBody>
          <a:bodyPr wrap="square" lIns="100401" tIns="50201" rIns="100401" bIns="50201" rtlCol="0">
            <a:spAutoFit/>
          </a:bodyPr>
          <a:lstStyle/>
          <a:p>
            <a:pPr algn="just">
              <a:lnSpc>
                <a:spcPct val="150000"/>
              </a:lnSpc>
            </a:pPr>
            <a:r>
              <a:rPr lang="en-US" b="1" dirty="0">
                <a:latin typeface="Times New Roman" pitchFamily="18" charset="0"/>
                <a:cs typeface="Times New Roman" pitchFamily="18" charset="0"/>
              </a:rPr>
              <a:t>Third  Review</a:t>
            </a:r>
          </a:p>
          <a:p>
            <a:pPr algn="just">
              <a:lnSpc>
                <a:spcPct val="150000"/>
              </a:lnSpc>
            </a:pPr>
            <a:r>
              <a:rPr lang="en-US" b="1" dirty="0">
                <a:latin typeface="Times New Roman" pitchFamily="18" charset="0"/>
                <a:cs typeface="Times New Roman" pitchFamily="18" charset="0"/>
              </a:rPr>
              <a:t>Presented by:</a:t>
            </a:r>
          </a:p>
          <a:p>
            <a:pPr algn="just"/>
            <a:r>
              <a:rPr lang="en-US" dirty="0">
                <a:latin typeface="Times New Roman" pitchFamily="18" charset="0"/>
                <a:cs typeface="Times New Roman" pitchFamily="18" charset="0"/>
              </a:rPr>
              <a:t>Madhumitha R</a:t>
            </a:r>
          </a:p>
          <a:p>
            <a:pPr algn="just"/>
            <a:r>
              <a:rPr lang="en-US" dirty="0">
                <a:latin typeface="Times New Roman" pitchFamily="18" charset="0"/>
                <a:cs typeface="Times New Roman" pitchFamily="18" charset="0"/>
              </a:rPr>
              <a:t>Shobana R</a:t>
            </a:r>
          </a:p>
          <a:p>
            <a:pPr algn="just"/>
            <a:r>
              <a:rPr lang="en-US" dirty="0" err="1">
                <a:latin typeface="Times New Roman" pitchFamily="18" charset="0"/>
                <a:cs typeface="Times New Roman" pitchFamily="18" charset="0"/>
              </a:rPr>
              <a:t>Shrimathi</a:t>
            </a:r>
            <a:r>
              <a:rPr lang="en-US" dirty="0">
                <a:latin typeface="Times New Roman" pitchFamily="18" charset="0"/>
                <a:cs typeface="Times New Roman" pitchFamily="18" charset="0"/>
              </a:rPr>
              <a:t>  K</a:t>
            </a:r>
          </a:p>
          <a:p>
            <a:pPr algn="just"/>
            <a:r>
              <a:rPr lang="en-US" dirty="0">
                <a:latin typeface="Times New Roman" pitchFamily="18" charset="0"/>
                <a:cs typeface="Times New Roman" pitchFamily="18" charset="0"/>
              </a:rPr>
              <a:t>Vidhya G</a:t>
            </a:r>
          </a:p>
        </p:txBody>
      </p:sp>
      <p:sp>
        <p:nvSpPr>
          <p:cNvPr id="6" name="TextBox 5"/>
          <p:cNvSpPr txBox="1"/>
          <p:nvPr/>
        </p:nvSpPr>
        <p:spPr>
          <a:xfrm>
            <a:off x="7228905" y="3922676"/>
            <a:ext cx="3571822" cy="1640265"/>
          </a:xfrm>
          <a:prstGeom prst="rect">
            <a:avLst/>
          </a:prstGeom>
          <a:noFill/>
        </p:spPr>
        <p:txBody>
          <a:bodyPr wrap="square" lIns="100401" tIns="50201" rIns="100401" bIns="50201" rtlCol="0">
            <a:spAutoFit/>
          </a:bodyPr>
          <a:lstStyle/>
          <a:p>
            <a:r>
              <a:rPr lang="en-US" b="1" dirty="0">
                <a:latin typeface="Times New Roman" pitchFamily="18" charset="0"/>
                <a:cs typeface="Times New Roman" pitchFamily="18" charset="0"/>
              </a:rPr>
              <a:t>Date:  </a:t>
            </a:r>
            <a:r>
              <a:rPr lang="en-US" dirty="0">
                <a:latin typeface="Times New Roman" pitchFamily="18" charset="0"/>
                <a:cs typeface="Times New Roman" pitchFamily="18" charset="0"/>
              </a:rPr>
              <a:t>06/03/26</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Guided By</a:t>
            </a:r>
          </a:p>
          <a:p>
            <a:r>
              <a:rPr lang="en-US" dirty="0">
                <a:latin typeface="Times New Roman" pitchFamily="18" charset="0"/>
                <a:cs typeface="Times New Roman" pitchFamily="18" charset="0"/>
              </a:rPr>
              <a:t>Mrs. </a:t>
            </a:r>
            <a:r>
              <a:rPr lang="en-US" dirty="0" err="1">
                <a:latin typeface="Times New Roman" pitchFamily="18" charset="0"/>
                <a:cs typeface="Times New Roman" pitchFamily="18" charset="0"/>
              </a:rPr>
              <a:t>Bhuvanesawari</a:t>
            </a:r>
            <a:r>
              <a:rPr lang="en-US" dirty="0">
                <a:latin typeface="Times New Roman" pitchFamily="18" charset="0"/>
                <a:cs typeface="Times New Roman" pitchFamily="18" charset="0"/>
              </a:rPr>
              <a:t> R (A/P CSE)</a:t>
            </a:r>
          </a:p>
        </p:txBody>
      </p:sp>
    </p:spTree>
    <p:extLst>
      <p:ext uri="{BB962C8B-B14F-4D97-AF65-F5344CB8AC3E}">
        <p14:creationId xmlns:p14="http://schemas.microsoft.com/office/powerpoint/2010/main" val="4151760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ABSTRACT</a:t>
            </a:r>
          </a:p>
        </p:txBody>
      </p:sp>
      <p:sp>
        <p:nvSpPr>
          <p:cNvPr id="3" name="Content Placeholder 2"/>
          <p:cNvSpPr>
            <a:spLocks noGrp="1"/>
          </p:cNvSpPr>
          <p:nvPr>
            <p:ph idx="1"/>
          </p:nvPr>
        </p:nvSpPr>
        <p:spPr/>
        <p:txBody>
          <a:bodyPr>
            <a:normAutofit/>
          </a:bodyPr>
          <a:lstStyle/>
          <a:p>
            <a:pPr marL="0" indent="0" algn="just">
              <a:lnSpc>
                <a:spcPct val="150000"/>
              </a:lnSpc>
              <a:buNone/>
            </a:pPr>
            <a:r>
              <a:rPr lang="en-US" dirty="0"/>
              <a:t>Bone tumor detection from medical images is essential for early diagnosis and effective treatment planning. Traditional CNN-based approaches often provide limited interpretability and may struggle to capture complex image features. This project proposes an explainable AI-driven hybrid deep learning framework that integrates ResNet-50, </a:t>
            </a:r>
            <a:r>
              <a:rPr lang="en-US" dirty="0" err="1"/>
              <a:t>EfficientNet</a:t>
            </a:r>
            <a:r>
              <a:rPr lang="en-US" dirty="0"/>
              <a:t>, and Vision Transformer (</a:t>
            </a:r>
            <a:r>
              <a:rPr lang="en-US" dirty="0" err="1"/>
              <a:t>ViT</a:t>
            </a:r>
            <a:r>
              <a:rPr lang="en-US" dirty="0"/>
              <a:t>) models for improved feature extraction and classification. Advanced preprocessing techniques such as CLAHE and morphological operations are applied to enhance image quality and highlight tumor regions. Grad-CAM visualization is incorporated to provide explainable insights, helping clinicians understand the model’s decision-making process and improving reliability in medical diagnosis.</a:t>
            </a:r>
          </a:p>
        </p:txBody>
      </p:sp>
    </p:spTree>
    <p:extLst>
      <p:ext uri="{BB962C8B-B14F-4D97-AF65-F5344CB8AC3E}">
        <p14:creationId xmlns:p14="http://schemas.microsoft.com/office/powerpoint/2010/main" val="91443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dirty="0"/>
              <a:t>Bone tumors are abnormal growths of bone tissue that can be either benign or malignant, requiring early and accurate diagnosis to improve patient survival rates. Manual analysis of medical images is time-consuming and highly dependent on radiologist expertise, which may lead to diagnostic inconsistencies. Recent advancements in Artificial Intelligence (AI), particularly Deep Learning, have shown promising results in automating medical image analysis. However, many existing models lack transparency and struggle to generalize across diverse datasets. This project introduces an Explainable AI-driven hybrid deep learning framework to enhance accuracy, interpretability, and reliability in bone tumor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7335" y="289832"/>
            <a:ext cx="8775199" cy="1206236"/>
          </a:xfrm>
        </p:spPr>
        <p:txBody>
          <a:bodyPr/>
          <a:lstStyle/>
          <a:p>
            <a:pPr algn="ctr"/>
            <a:r>
              <a:rPr lang="en-US" b="1" dirty="0"/>
              <a:t>PROBLEM STATEMENT</a:t>
            </a:r>
          </a:p>
        </p:txBody>
      </p:sp>
      <p:sp>
        <p:nvSpPr>
          <p:cNvPr id="3" name="Content Placeholder 2"/>
          <p:cNvSpPr>
            <a:spLocks noGrp="1"/>
          </p:cNvSpPr>
          <p:nvPr>
            <p:ph idx="1"/>
          </p:nvPr>
        </p:nvSpPr>
        <p:spPr>
          <a:xfrm>
            <a:off x="1695286" y="1485453"/>
            <a:ext cx="9536620" cy="5066189"/>
          </a:xfrm>
        </p:spPr>
        <p:txBody>
          <a:bodyPr>
            <a:noAutofit/>
          </a:bodyPr>
          <a:lstStyle/>
          <a:p>
            <a:pPr algn="just">
              <a:lnSpc>
                <a:spcPct val="170000"/>
              </a:lnSpc>
            </a:pPr>
            <a:r>
              <a:rPr lang="en-US" dirty="0"/>
              <a:t>The detection and classification of bone tumors from MRI images is a challenging task that requires accurate analysis by medical experts. </a:t>
            </a:r>
          </a:p>
          <a:p>
            <a:pPr algn="just">
              <a:lnSpc>
                <a:spcPct val="170000"/>
              </a:lnSpc>
            </a:pPr>
            <a:r>
              <a:rPr lang="en-US" dirty="0"/>
              <a:t>Manual diagnosis can be time-consuming and may lead to errors due to the complexity of medical images. </a:t>
            </a:r>
          </a:p>
          <a:p>
            <a:pPr algn="just">
              <a:lnSpc>
                <a:spcPct val="170000"/>
              </a:lnSpc>
            </a:pPr>
            <a:r>
              <a:rPr lang="en-US" dirty="0"/>
              <a:t>Early identification of whether a tumor is benign, malignant, or absent is crucial for effective treatment planning. </a:t>
            </a:r>
          </a:p>
          <a:p>
            <a:pPr algn="just">
              <a:lnSpc>
                <a:spcPct val="170000"/>
              </a:lnSpc>
            </a:pPr>
            <a:r>
              <a:rPr lang="en-US" dirty="0"/>
              <a:t>However, traditional diagnostic methods rely heavily on radiologists and may not always provide quick results. </a:t>
            </a:r>
          </a:p>
          <a:p>
            <a:pPr algn="just">
              <a:lnSpc>
                <a:spcPct val="170000"/>
              </a:lnSpc>
            </a:pPr>
            <a:r>
              <a:rPr lang="en-US" dirty="0"/>
              <a:t>Therefore, there is a need for an automated system using deep learning techniques to assist in accurate and efficient bone tumor classification.</a:t>
            </a:r>
          </a:p>
          <a:p>
            <a:pPr algn="just">
              <a:lnSpc>
                <a:spcPct val="170000"/>
              </a:lnSpc>
            </a:pPr>
            <a:endParaRPr lang="en-US" dirty="0"/>
          </a:p>
        </p:txBody>
      </p:sp>
    </p:spTree>
    <p:extLst>
      <p:ext uri="{BB962C8B-B14F-4D97-AF65-F5344CB8AC3E}">
        <p14:creationId xmlns:p14="http://schemas.microsoft.com/office/powerpoint/2010/main" val="148239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a:t>
            </a:r>
          </a:p>
        </p:txBody>
      </p:sp>
      <p:sp>
        <p:nvSpPr>
          <p:cNvPr id="3" name="Content Placeholder 2"/>
          <p:cNvSpPr>
            <a:spLocks noGrp="1"/>
          </p:cNvSpPr>
          <p:nvPr>
            <p:ph idx="1"/>
          </p:nvPr>
        </p:nvSpPr>
        <p:spPr>
          <a:xfrm>
            <a:off x="1666258" y="1485453"/>
            <a:ext cx="9536620" cy="5066189"/>
          </a:xfrm>
        </p:spPr>
        <p:txBody>
          <a:bodyPr>
            <a:noAutofit/>
          </a:bodyPr>
          <a:lstStyle/>
          <a:p>
            <a:pPr algn="just">
              <a:lnSpc>
                <a:spcPct val="170000"/>
              </a:lnSpc>
            </a:pPr>
            <a:r>
              <a:rPr lang="en-US" dirty="0"/>
              <a:t>The main objective of this project is to develop an automated system for bone tumor classification using deep learning techniques. </a:t>
            </a:r>
          </a:p>
          <a:p>
            <a:pPr algn="just">
              <a:lnSpc>
                <a:spcPct val="170000"/>
              </a:lnSpc>
            </a:pPr>
            <a:r>
              <a:rPr lang="en-US" dirty="0"/>
              <a:t>The system aims to accurately classify MRI images into Benign, Malignant, and No Tumor categories. </a:t>
            </a:r>
          </a:p>
          <a:p>
            <a:pPr algn="just">
              <a:lnSpc>
                <a:spcPct val="170000"/>
              </a:lnSpc>
            </a:pPr>
            <a:r>
              <a:rPr lang="en-US" dirty="0"/>
              <a:t>It also focuses on improving diagnostic accuracy by using advanced neural network models such as ResNet-50. </a:t>
            </a:r>
          </a:p>
          <a:p>
            <a:pPr algn="just">
              <a:lnSpc>
                <a:spcPct val="170000"/>
              </a:lnSpc>
            </a:pPr>
            <a:r>
              <a:rPr lang="en-US" dirty="0"/>
              <a:t>Another objective is to integrate the trained model with a Flask-based web application for easy image upload and prediction. </a:t>
            </a:r>
          </a:p>
          <a:p>
            <a:pPr algn="just">
              <a:lnSpc>
                <a:spcPct val="170000"/>
              </a:lnSpc>
            </a:pPr>
            <a:r>
              <a:rPr lang="en-US" dirty="0"/>
              <a:t>The system ultimately aims to assist medical professionals in faster and more reliable tumor detection.</a:t>
            </a:r>
          </a:p>
        </p:txBody>
      </p:sp>
    </p:spTree>
    <p:extLst>
      <p:ext uri="{BB962C8B-B14F-4D97-AF65-F5344CB8AC3E}">
        <p14:creationId xmlns:p14="http://schemas.microsoft.com/office/powerpoint/2010/main" val="425444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SUMMARY OF LITERATURE</a:t>
            </a:r>
            <a:endParaRPr lang="en-IN" b="1" dirty="0"/>
          </a:p>
        </p:txBody>
      </p:sp>
      <p:graphicFrame>
        <p:nvGraphicFramePr>
          <p:cNvPr id="5" name="Content Placeholder 3"/>
          <p:cNvGraphicFramePr>
            <a:graphicFrameLocks/>
          </p:cNvGraphicFramePr>
          <p:nvPr>
            <p:extLst>
              <p:ext uri="{D42A27DB-BD31-4B8C-83A1-F6EECF244321}">
                <p14:modId xmlns:p14="http://schemas.microsoft.com/office/powerpoint/2010/main" val="302950610"/>
              </p:ext>
            </p:extLst>
          </p:nvPr>
        </p:nvGraphicFramePr>
        <p:xfrm>
          <a:off x="1516930" y="1669143"/>
          <a:ext cx="8989504" cy="4846059"/>
        </p:xfrm>
        <a:graphic>
          <a:graphicData uri="http://schemas.openxmlformats.org/drawingml/2006/table">
            <a:tbl>
              <a:tblPr>
                <a:tableStyleId>{616DA210-FB5B-4158-B5E0-FEB733F419BA}</a:tableStyleId>
              </a:tblPr>
              <a:tblGrid>
                <a:gridCol w="900812">
                  <a:extLst>
                    <a:ext uri="{9D8B030D-6E8A-4147-A177-3AD203B41FA5}">
                      <a16:colId xmlns:a16="http://schemas.microsoft.com/office/drawing/2014/main" val="20000"/>
                    </a:ext>
                  </a:extLst>
                </a:gridCol>
                <a:gridCol w="2694990">
                  <a:extLst>
                    <a:ext uri="{9D8B030D-6E8A-4147-A177-3AD203B41FA5}">
                      <a16:colId xmlns:a16="http://schemas.microsoft.com/office/drawing/2014/main" val="20001"/>
                    </a:ext>
                  </a:extLst>
                </a:gridCol>
                <a:gridCol w="1547472">
                  <a:extLst>
                    <a:ext uri="{9D8B030D-6E8A-4147-A177-3AD203B41FA5}">
                      <a16:colId xmlns:a16="http://schemas.microsoft.com/office/drawing/2014/main" val="20002"/>
                    </a:ext>
                  </a:extLst>
                </a:gridCol>
                <a:gridCol w="1268845">
                  <a:extLst>
                    <a:ext uri="{9D8B030D-6E8A-4147-A177-3AD203B41FA5}">
                      <a16:colId xmlns:a16="http://schemas.microsoft.com/office/drawing/2014/main" val="20003"/>
                    </a:ext>
                  </a:extLst>
                </a:gridCol>
                <a:gridCol w="2577385">
                  <a:extLst>
                    <a:ext uri="{9D8B030D-6E8A-4147-A177-3AD203B41FA5}">
                      <a16:colId xmlns:a16="http://schemas.microsoft.com/office/drawing/2014/main" val="20004"/>
                    </a:ext>
                  </a:extLst>
                </a:gridCol>
              </a:tblGrid>
              <a:tr h="375160">
                <a:tc>
                  <a:txBody>
                    <a:bodyPr/>
                    <a:lstStyle/>
                    <a:p>
                      <a:r>
                        <a:rPr lang="en-US" sz="2000" dirty="0" err="1">
                          <a:latin typeface="Times New Roman" pitchFamily="18" charset="0"/>
                          <a:cs typeface="Times New Roman" pitchFamily="18" charset="0"/>
                        </a:rPr>
                        <a:t>S.No</a:t>
                      </a:r>
                      <a:endParaRPr lang="en-US" sz="2000" b="1" dirty="0">
                        <a:latin typeface="Times New Roman" pitchFamily="18" charset="0"/>
                        <a:cs typeface="Times New Roman" pitchFamily="18" charset="0"/>
                      </a:endParaRPr>
                    </a:p>
                  </a:txBody>
                  <a:tcPr marL="99883" marR="99883" marT="44372" marB="44372" anchor="ctr"/>
                </a:tc>
                <a:tc>
                  <a:txBody>
                    <a:bodyPr/>
                    <a:lstStyle/>
                    <a:p>
                      <a:r>
                        <a:rPr lang="en-US" sz="2000">
                          <a:latin typeface="Times New Roman" pitchFamily="18" charset="0"/>
                          <a:cs typeface="Times New Roman" pitchFamily="18" charset="0"/>
                        </a:rPr>
                        <a:t>Title</a:t>
                      </a:r>
                    </a:p>
                  </a:txBody>
                  <a:tcPr marL="99883" marR="99883" marT="44372" marB="44372" anchor="ctr"/>
                </a:tc>
                <a:tc>
                  <a:txBody>
                    <a:bodyPr/>
                    <a:lstStyle/>
                    <a:p>
                      <a:r>
                        <a:rPr lang="en-US" sz="2000" dirty="0">
                          <a:latin typeface="Times New Roman" pitchFamily="18" charset="0"/>
                          <a:cs typeface="Times New Roman" pitchFamily="18" charset="0"/>
                        </a:rPr>
                        <a:t>Author</a:t>
                      </a:r>
                    </a:p>
                  </a:txBody>
                  <a:tcPr marL="99883" marR="99883" marT="44372" marB="44372" anchor="ctr"/>
                </a:tc>
                <a:tc>
                  <a:txBody>
                    <a:bodyPr/>
                    <a:lstStyle/>
                    <a:p>
                      <a:r>
                        <a:rPr lang="en-US" sz="2000">
                          <a:latin typeface="Times New Roman" pitchFamily="18" charset="0"/>
                          <a:cs typeface="Times New Roman" pitchFamily="18" charset="0"/>
                        </a:rPr>
                        <a:t>Year</a:t>
                      </a:r>
                    </a:p>
                  </a:txBody>
                  <a:tcPr marL="99883" marR="99883" marT="44372" marB="44372" anchor="ctr"/>
                </a:tc>
                <a:tc>
                  <a:txBody>
                    <a:bodyPr/>
                    <a:lstStyle/>
                    <a:p>
                      <a:r>
                        <a:rPr lang="en-US" sz="2000">
                          <a:latin typeface="Times New Roman" pitchFamily="18" charset="0"/>
                          <a:cs typeface="Times New Roman" pitchFamily="18" charset="0"/>
                        </a:rPr>
                        <a:t>Findings (6 words)</a:t>
                      </a:r>
                    </a:p>
                  </a:txBody>
                  <a:tcPr marL="99883" marR="99883" marT="44372" marB="44372" anchor="ctr"/>
                </a:tc>
                <a:extLst>
                  <a:ext uri="{0D108BD9-81ED-4DB2-BD59-A6C34878D82A}">
                    <a16:rowId xmlns:a16="http://schemas.microsoft.com/office/drawing/2014/main" val="10000"/>
                  </a:ext>
                </a:extLst>
              </a:tr>
              <a:tr h="917009">
                <a:tc>
                  <a:txBody>
                    <a:bodyPr/>
                    <a:lstStyle/>
                    <a:p>
                      <a:r>
                        <a:rPr lang="en-US" sz="2000" dirty="0">
                          <a:latin typeface="Times New Roman" pitchFamily="18" charset="0"/>
                          <a:cs typeface="Times New Roman" pitchFamily="18" charset="0"/>
                        </a:rPr>
                        <a:t>1</a:t>
                      </a:r>
                    </a:p>
                  </a:txBody>
                  <a:tcPr marL="99883" marR="99883" marT="44372" marB="44372" anchor="ctr"/>
                </a:tc>
                <a:tc>
                  <a:txBody>
                    <a:bodyPr/>
                    <a:lstStyle/>
                    <a:p>
                      <a:r>
                        <a:rPr lang="en-US" sz="2000">
                          <a:latin typeface="Times New Roman" pitchFamily="18" charset="0"/>
                          <a:cs typeface="Times New Roman" pitchFamily="18" charset="0"/>
                        </a:rPr>
                        <a:t>Bone Tumor Detection Using CNN</a:t>
                      </a:r>
                    </a:p>
                  </a:txBody>
                  <a:tcPr marL="99883" marR="99883" marT="44372" marB="44372" anchor="ctr"/>
                </a:tc>
                <a:tc>
                  <a:txBody>
                    <a:bodyPr/>
                    <a:lstStyle/>
                    <a:p>
                      <a:r>
                        <a:rPr lang="en-US" sz="2000">
                          <a:latin typeface="Times New Roman" pitchFamily="18" charset="0"/>
                          <a:cs typeface="Times New Roman" pitchFamily="18" charset="0"/>
                        </a:rPr>
                        <a:t>Zhang et al.</a:t>
                      </a:r>
                    </a:p>
                  </a:txBody>
                  <a:tcPr marL="99883" marR="99883" marT="44372" marB="44372" anchor="ctr"/>
                </a:tc>
                <a:tc>
                  <a:txBody>
                    <a:bodyPr/>
                    <a:lstStyle/>
                    <a:p>
                      <a:r>
                        <a:rPr lang="en-US" sz="2000">
                          <a:latin typeface="Times New Roman" pitchFamily="18" charset="0"/>
                          <a:cs typeface="Times New Roman" pitchFamily="18" charset="0"/>
                        </a:rPr>
                        <a:t>2019</a:t>
                      </a:r>
                    </a:p>
                  </a:txBody>
                  <a:tcPr marL="99883" marR="99883" marT="44372" marB="44372" anchor="ctr"/>
                </a:tc>
                <a:tc>
                  <a:txBody>
                    <a:bodyPr/>
                    <a:lstStyle/>
                    <a:p>
                      <a:r>
                        <a:rPr lang="en-US" sz="2000">
                          <a:latin typeface="Times New Roman" pitchFamily="18" charset="0"/>
                          <a:cs typeface="Times New Roman" pitchFamily="18" charset="0"/>
                        </a:rPr>
                        <a:t>CNN improves early tumor classification</a:t>
                      </a:r>
                    </a:p>
                  </a:txBody>
                  <a:tcPr marL="99883" marR="99883" marT="44372" marB="44372" anchor="ctr"/>
                </a:tc>
                <a:extLst>
                  <a:ext uri="{0D108BD9-81ED-4DB2-BD59-A6C34878D82A}">
                    <a16:rowId xmlns:a16="http://schemas.microsoft.com/office/drawing/2014/main" val="10001"/>
                  </a:ext>
                </a:extLst>
              </a:tr>
              <a:tr h="942078">
                <a:tc>
                  <a:txBody>
                    <a:bodyPr/>
                    <a:lstStyle/>
                    <a:p>
                      <a:r>
                        <a:rPr lang="en-US" sz="2000" dirty="0">
                          <a:latin typeface="Times New Roman" pitchFamily="18" charset="0"/>
                          <a:cs typeface="Times New Roman" pitchFamily="18" charset="0"/>
                        </a:rPr>
                        <a:t>2</a:t>
                      </a:r>
                    </a:p>
                  </a:txBody>
                  <a:tcPr marL="99883" marR="99883" marT="44372" marB="44372" anchor="ctr"/>
                </a:tc>
                <a:tc>
                  <a:txBody>
                    <a:bodyPr/>
                    <a:lstStyle/>
                    <a:p>
                      <a:r>
                        <a:rPr lang="en-US" sz="2000" dirty="0">
                          <a:latin typeface="Times New Roman" pitchFamily="18" charset="0"/>
                          <a:cs typeface="Times New Roman" pitchFamily="18" charset="0"/>
                        </a:rPr>
                        <a:t>Medical Image Analysis with </a:t>
                      </a:r>
                      <a:r>
                        <a:rPr lang="en-US" sz="2000" dirty="0" err="1">
                          <a:latin typeface="Times New Roman" pitchFamily="18" charset="0"/>
                          <a:cs typeface="Times New Roman" pitchFamily="18" charset="0"/>
                        </a:rPr>
                        <a:t>ResNet</a:t>
                      </a:r>
                      <a:endParaRPr lang="en-US" sz="2000" dirty="0">
                        <a:latin typeface="Times New Roman" pitchFamily="18" charset="0"/>
                        <a:cs typeface="Times New Roman" pitchFamily="18" charset="0"/>
                      </a:endParaRPr>
                    </a:p>
                  </a:txBody>
                  <a:tcPr marL="99883" marR="99883" marT="44372" marB="44372" anchor="ctr"/>
                </a:tc>
                <a:tc>
                  <a:txBody>
                    <a:bodyPr/>
                    <a:lstStyle/>
                    <a:p>
                      <a:r>
                        <a:rPr lang="en-US" sz="2000" dirty="0">
                          <a:latin typeface="Times New Roman" pitchFamily="18" charset="0"/>
                          <a:cs typeface="Times New Roman" pitchFamily="18" charset="0"/>
                        </a:rPr>
                        <a:t>He et al.</a:t>
                      </a:r>
                    </a:p>
                  </a:txBody>
                  <a:tcPr marL="99883" marR="99883" marT="44372" marB="44372" anchor="ctr"/>
                </a:tc>
                <a:tc>
                  <a:txBody>
                    <a:bodyPr/>
                    <a:lstStyle/>
                    <a:p>
                      <a:r>
                        <a:rPr lang="en-US" sz="2000">
                          <a:latin typeface="Times New Roman" pitchFamily="18" charset="0"/>
                          <a:cs typeface="Times New Roman" pitchFamily="18" charset="0"/>
                        </a:rPr>
                        <a:t>2018</a:t>
                      </a:r>
                    </a:p>
                  </a:txBody>
                  <a:tcPr marL="99883" marR="99883" marT="44372" marB="44372" anchor="ctr"/>
                </a:tc>
                <a:tc>
                  <a:txBody>
                    <a:bodyPr/>
                    <a:lstStyle/>
                    <a:p>
                      <a:r>
                        <a:rPr lang="en-US" sz="2000">
                          <a:latin typeface="Times New Roman" pitchFamily="18" charset="0"/>
                          <a:cs typeface="Times New Roman" pitchFamily="18" charset="0"/>
                        </a:rPr>
                        <a:t>Deep residual networks enhance accuracy</a:t>
                      </a:r>
                    </a:p>
                  </a:txBody>
                  <a:tcPr marL="99883" marR="99883" marT="44372" marB="44372" anchor="ctr"/>
                </a:tc>
                <a:extLst>
                  <a:ext uri="{0D108BD9-81ED-4DB2-BD59-A6C34878D82A}">
                    <a16:rowId xmlns:a16="http://schemas.microsoft.com/office/drawing/2014/main" val="10002"/>
                  </a:ext>
                </a:extLst>
              </a:tr>
              <a:tr h="917009">
                <a:tc>
                  <a:txBody>
                    <a:bodyPr/>
                    <a:lstStyle/>
                    <a:p>
                      <a:r>
                        <a:rPr lang="en-US" sz="2000" dirty="0">
                          <a:latin typeface="Times New Roman" pitchFamily="18" charset="0"/>
                          <a:cs typeface="Times New Roman" pitchFamily="18" charset="0"/>
                        </a:rPr>
                        <a:t>3</a:t>
                      </a:r>
                    </a:p>
                  </a:txBody>
                  <a:tcPr marL="99883" marR="99883" marT="44372" marB="44372" anchor="ctr"/>
                </a:tc>
                <a:tc>
                  <a:txBody>
                    <a:bodyPr/>
                    <a:lstStyle/>
                    <a:p>
                      <a:r>
                        <a:rPr lang="en-US" sz="2000">
                          <a:latin typeface="Times New Roman" pitchFamily="18" charset="0"/>
                          <a:cs typeface="Times New Roman" pitchFamily="18" charset="0"/>
                        </a:rPr>
                        <a:t>EfficientNet for Medical Imaging</a:t>
                      </a:r>
                    </a:p>
                  </a:txBody>
                  <a:tcPr marL="99883" marR="99883" marT="44372" marB="44372" anchor="ctr"/>
                </a:tc>
                <a:tc>
                  <a:txBody>
                    <a:bodyPr/>
                    <a:lstStyle/>
                    <a:p>
                      <a:r>
                        <a:rPr lang="en-US" sz="2000">
                          <a:latin typeface="Times New Roman" pitchFamily="18" charset="0"/>
                          <a:cs typeface="Times New Roman" pitchFamily="18" charset="0"/>
                        </a:rPr>
                        <a:t>Tan &amp; Le</a:t>
                      </a:r>
                    </a:p>
                  </a:txBody>
                  <a:tcPr marL="99883" marR="99883" marT="44372" marB="44372" anchor="ctr"/>
                </a:tc>
                <a:tc>
                  <a:txBody>
                    <a:bodyPr/>
                    <a:lstStyle/>
                    <a:p>
                      <a:r>
                        <a:rPr lang="en-US" sz="2000">
                          <a:latin typeface="Times New Roman" pitchFamily="18" charset="0"/>
                          <a:cs typeface="Times New Roman" pitchFamily="18" charset="0"/>
                        </a:rPr>
                        <a:t>2020</a:t>
                      </a:r>
                    </a:p>
                  </a:txBody>
                  <a:tcPr marL="99883" marR="99883" marT="44372" marB="44372" anchor="ctr"/>
                </a:tc>
                <a:tc>
                  <a:txBody>
                    <a:bodyPr/>
                    <a:lstStyle/>
                    <a:p>
                      <a:r>
                        <a:rPr lang="en-US" sz="2000">
                          <a:latin typeface="Times New Roman" pitchFamily="18" charset="0"/>
                          <a:cs typeface="Times New Roman" pitchFamily="18" charset="0"/>
                        </a:rPr>
                        <a:t>Efficient scaling improves performance</a:t>
                      </a:r>
                    </a:p>
                  </a:txBody>
                  <a:tcPr marL="99883" marR="99883" marT="44372" marB="44372" anchor="ctr"/>
                </a:tc>
                <a:extLst>
                  <a:ext uri="{0D108BD9-81ED-4DB2-BD59-A6C34878D82A}">
                    <a16:rowId xmlns:a16="http://schemas.microsoft.com/office/drawing/2014/main" val="10003"/>
                  </a:ext>
                </a:extLst>
              </a:tr>
              <a:tr h="658619">
                <a:tc>
                  <a:txBody>
                    <a:bodyPr/>
                    <a:lstStyle/>
                    <a:p>
                      <a:r>
                        <a:rPr lang="en-US" sz="2000" dirty="0">
                          <a:latin typeface="Times New Roman" pitchFamily="18" charset="0"/>
                          <a:cs typeface="Times New Roman" pitchFamily="18" charset="0"/>
                        </a:rPr>
                        <a:t>4</a:t>
                      </a:r>
                    </a:p>
                  </a:txBody>
                  <a:tcPr marL="99883" marR="99883" marT="44372" marB="44372" anchor="ctr"/>
                </a:tc>
                <a:tc>
                  <a:txBody>
                    <a:bodyPr/>
                    <a:lstStyle/>
                    <a:p>
                      <a:r>
                        <a:rPr lang="en-US" sz="2000">
                          <a:latin typeface="Times New Roman" pitchFamily="18" charset="0"/>
                          <a:cs typeface="Times New Roman" pitchFamily="18" charset="0"/>
                        </a:rPr>
                        <a:t>Vision Transformers in Healthcare</a:t>
                      </a:r>
                    </a:p>
                  </a:txBody>
                  <a:tcPr marL="99883" marR="99883" marT="44372" marB="44372" anchor="ctr"/>
                </a:tc>
                <a:tc>
                  <a:txBody>
                    <a:bodyPr/>
                    <a:lstStyle/>
                    <a:p>
                      <a:r>
                        <a:rPr lang="en-US" sz="2000">
                          <a:latin typeface="Times New Roman" pitchFamily="18" charset="0"/>
                          <a:cs typeface="Times New Roman" pitchFamily="18" charset="0"/>
                        </a:rPr>
                        <a:t>Dosovitskiy et al.</a:t>
                      </a:r>
                    </a:p>
                  </a:txBody>
                  <a:tcPr marL="99883" marR="99883" marT="44372" marB="44372" anchor="ctr"/>
                </a:tc>
                <a:tc>
                  <a:txBody>
                    <a:bodyPr/>
                    <a:lstStyle/>
                    <a:p>
                      <a:r>
                        <a:rPr lang="en-US" sz="2000">
                          <a:latin typeface="Times New Roman" pitchFamily="18" charset="0"/>
                          <a:cs typeface="Times New Roman" pitchFamily="18" charset="0"/>
                        </a:rPr>
                        <a:t>2021</a:t>
                      </a:r>
                    </a:p>
                  </a:txBody>
                  <a:tcPr marL="99883" marR="99883" marT="44372" marB="44372" anchor="ctr"/>
                </a:tc>
                <a:tc>
                  <a:txBody>
                    <a:bodyPr/>
                    <a:lstStyle/>
                    <a:p>
                      <a:r>
                        <a:rPr lang="fr-FR" sz="2000">
                          <a:latin typeface="Times New Roman" pitchFamily="18" charset="0"/>
                          <a:cs typeface="Times New Roman" pitchFamily="18" charset="0"/>
                        </a:rPr>
                        <a:t>ViT captures global image context</a:t>
                      </a:r>
                    </a:p>
                  </a:txBody>
                  <a:tcPr marL="99883" marR="99883" marT="44372" marB="44372" anchor="ctr"/>
                </a:tc>
                <a:extLst>
                  <a:ext uri="{0D108BD9-81ED-4DB2-BD59-A6C34878D82A}">
                    <a16:rowId xmlns:a16="http://schemas.microsoft.com/office/drawing/2014/main" val="10004"/>
                  </a:ext>
                </a:extLst>
              </a:tr>
              <a:tr h="917009">
                <a:tc>
                  <a:txBody>
                    <a:bodyPr/>
                    <a:lstStyle/>
                    <a:p>
                      <a:r>
                        <a:rPr lang="en-US" sz="2000" dirty="0">
                          <a:latin typeface="Times New Roman" pitchFamily="18" charset="0"/>
                          <a:cs typeface="Times New Roman" pitchFamily="18" charset="0"/>
                        </a:rPr>
                        <a:t>5</a:t>
                      </a:r>
                    </a:p>
                  </a:txBody>
                  <a:tcPr marL="99883" marR="99883" marT="44372" marB="44372" anchor="ctr"/>
                </a:tc>
                <a:tc>
                  <a:txBody>
                    <a:bodyPr/>
                    <a:lstStyle/>
                    <a:p>
                      <a:r>
                        <a:rPr lang="en-US" sz="2000" dirty="0">
                          <a:latin typeface="Times New Roman" pitchFamily="18" charset="0"/>
                          <a:cs typeface="Times New Roman" pitchFamily="18" charset="0"/>
                        </a:rPr>
                        <a:t>Explainable AI in Medical Diagnosis</a:t>
                      </a:r>
                    </a:p>
                  </a:txBody>
                  <a:tcPr marL="99883" marR="99883" marT="44372" marB="44372" anchor="ctr"/>
                </a:tc>
                <a:tc>
                  <a:txBody>
                    <a:bodyPr/>
                    <a:lstStyle/>
                    <a:p>
                      <a:r>
                        <a:rPr lang="en-US" sz="2000" dirty="0" err="1">
                          <a:latin typeface="Times New Roman" pitchFamily="18" charset="0"/>
                          <a:cs typeface="Times New Roman" pitchFamily="18" charset="0"/>
                        </a:rPr>
                        <a:t>Selvaraju</a:t>
                      </a:r>
                      <a:r>
                        <a:rPr lang="en-US" sz="2000" dirty="0">
                          <a:latin typeface="Times New Roman" pitchFamily="18" charset="0"/>
                          <a:cs typeface="Times New Roman" pitchFamily="18" charset="0"/>
                        </a:rPr>
                        <a:t> et al.</a:t>
                      </a:r>
                    </a:p>
                  </a:txBody>
                  <a:tcPr marL="99883" marR="99883" marT="44372" marB="44372" anchor="ctr"/>
                </a:tc>
                <a:tc>
                  <a:txBody>
                    <a:bodyPr/>
                    <a:lstStyle/>
                    <a:p>
                      <a:r>
                        <a:rPr lang="en-US" sz="2000">
                          <a:latin typeface="Times New Roman" pitchFamily="18" charset="0"/>
                          <a:cs typeface="Times New Roman" pitchFamily="18" charset="0"/>
                        </a:rPr>
                        <a:t>2020</a:t>
                      </a:r>
                    </a:p>
                  </a:txBody>
                  <a:tcPr marL="99883" marR="99883" marT="44372" marB="44372" anchor="ctr"/>
                </a:tc>
                <a:tc>
                  <a:txBody>
                    <a:bodyPr/>
                    <a:lstStyle/>
                    <a:p>
                      <a:r>
                        <a:rPr lang="en-US" sz="2000" dirty="0">
                          <a:latin typeface="Times New Roman" pitchFamily="18" charset="0"/>
                          <a:cs typeface="Times New Roman" pitchFamily="18" charset="0"/>
                        </a:rPr>
                        <a:t>Grad-CAM improves model interpretability</a:t>
                      </a:r>
                    </a:p>
                  </a:txBody>
                  <a:tcPr marL="99883" marR="99883" marT="44372" marB="44372"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EXISTING SYSTEM</a:t>
            </a:r>
          </a:p>
        </p:txBody>
      </p:sp>
      <p:sp>
        <p:nvSpPr>
          <p:cNvPr id="3" name="Content Placeholder 2"/>
          <p:cNvSpPr>
            <a:spLocks noGrp="1"/>
          </p:cNvSpPr>
          <p:nvPr>
            <p:ph idx="1"/>
          </p:nvPr>
        </p:nvSpPr>
        <p:spPr>
          <a:xfrm>
            <a:off x="1415043" y="1335334"/>
            <a:ext cx="9742511" cy="5668916"/>
          </a:xfrm>
        </p:spPr>
        <p:txBody>
          <a:bodyPr>
            <a:noAutofit/>
          </a:bodyPr>
          <a:lstStyle/>
          <a:p>
            <a:pPr algn="just">
              <a:lnSpc>
                <a:spcPct val="170000"/>
              </a:lnSpc>
            </a:pPr>
            <a:r>
              <a:rPr lang="en-US" sz="2000" dirty="0"/>
              <a:t>The existing system for bone tumor detection mainly relies on Convolutional Neural Networks (CNN) to analyze medical images and classify tumor presence. </a:t>
            </a:r>
          </a:p>
          <a:p>
            <a:pPr algn="just">
              <a:lnSpc>
                <a:spcPct val="170000"/>
              </a:lnSpc>
            </a:pPr>
            <a:r>
              <a:rPr lang="en-US" sz="2000" dirty="0"/>
              <a:t>Image preprocessing techniques such as OTSU </a:t>
            </a:r>
            <a:r>
              <a:rPr lang="en-US" sz="2000" dirty="0" err="1"/>
              <a:t>thresholding</a:t>
            </a:r>
            <a:r>
              <a:rPr lang="en-US" sz="2000" dirty="0"/>
              <a:t> are used to improve image clarity and identify the region of interest. </a:t>
            </a:r>
          </a:p>
          <a:p>
            <a:pPr algn="just">
              <a:lnSpc>
                <a:spcPct val="170000"/>
              </a:lnSpc>
            </a:pPr>
            <a:r>
              <a:rPr lang="en-US" sz="2000" dirty="0"/>
              <a:t>The processed images are then used to train the CNN model for detecting tumor patterns. </a:t>
            </a:r>
          </a:p>
          <a:p>
            <a:pPr algn="just">
              <a:lnSpc>
                <a:spcPct val="170000"/>
              </a:lnSpc>
            </a:pPr>
            <a:r>
              <a:rPr lang="en-US" sz="2000" dirty="0"/>
              <a:t>The system highlights suspected tumor areas to assist doctors in interpreting the results. </a:t>
            </a:r>
          </a:p>
          <a:p>
            <a:pPr algn="just">
              <a:lnSpc>
                <a:spcPct val="170000"/>
              </a:lnSpc>
            </a:pPr>
            <a:r>
              <a:rPr lang="en-US" sz="2000" dirty="0"/>
              <a:t>However, the approach achieves only moderate accuracy and lacks advanced feature extraction and </a:t>
            </a:r>
            <a:r>
              <a:rPr lang="en-US" sz="2000" dirty="0" err="1"/>
              <a:t>explainability</a:t>
            </a:r>
            <a:r>
              <a:rPr lang="en-US" sz="2000" dirty="0"/>
              <a:t> mechanisms.</a:t>
            </a:r>
          </a:p>
          <a:p>
            <a:pPr algn="just">
              <a:lnSpc>
                <a:spcPct val="170000"/>
              </a:lnSpc>
            </a:pPr>
            <a:endParaRPr lang="en-US" sz="2000" dirty="0"/>
          </a:p>
        </p:txBody>
      </p:sp>
    </p:spTree>
    <p:extLst>
      <p:ext uri="{BB962C8B-B14F-4D97-AF65-F5344CB8AC3E}">
        <p14:creationId xmlns:p14="http://schemas.microsoft.com/office/powerpoint/2010/main" val="3041562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DISADVANTAGES</a:t>
            </a:r>
          </a:p>
        </p:txBody>
      </p:sp>
      <p:sp>
        <p:nvSpPr>
          <p:cNvPr id="3" name="Content Placeholder 2"/>
          <p:cNvSpPr>
            <a:spLocks noGrp="1"/>
          </p:cNvSpPr>
          <p:nvPr>
            <p:ph idx="1"/>
          </p:nvPr>
        </p:nvSpPr>
        <p:spPr>
          <a:xfrm>
            <a:off x="2093405" y="1652590"/>
            <a:ext cx="9536620" cy="5066189"/>
          </a:xfrm>
        </p:spPr>
        <p:txBody>
          <a:bodyPr>
            <a:normAutofit/>
          </a:bodyPr>
          <a:lstStyle/>
          <a:p>
            <a:pPr>
              <a:lnSpc>
                <a:spcPct val="150000"/>
              </a:lnSpc>
            </a:pPr>
            <a:r>
              <a:rPr lang="en-US" sz="2000" dirty="0"/>
              <a:t>Limited accuracy in complex tumor detection</a:t>
            </a:r>
          </a:p>
          <a:p>
            <a:pPr>
              <a:lnSpc>
                <a:spcPct val="150000"/>
              </a:lnSpc>
            </a:pPr>
            <a:r>
              <a:rPr lang="en-US" sz="2000" dirty="0"/>
              <a:t>Depends only on basic CNN architecture</a:t>
            </a:r>
          </a:p>
          <a:p>
            <a:pPr>
              <a:lnSpc>
                <a:spcPct val="150000"/>
              </a:lnSpc>
            </a:pPr>
            <a:r>
              <a:rPr lang="en-US" sz="2000" dirty="0"/>
              <a:t>Uses simple OTSU threshold preprocessing</a:t>
            </a:r>
          </a:p>
          <a:p>
            <a:pPr>
              <a:lnSpc>
                <a:spcPct val="150000"/>
              </a:lnSpc>
            </a:pPr>
            <a:r>
              <a:rPr lang="en-US" sz="2000" dirty="0"/>
              <a:t>Poor generalization on diverse datasets</a:t>
            </a:r>
          </a:p>
          <a:p>
            <a:pPr>
              <a:lnSpc>
                <a:spcPct val="150000"/>
              </a:lnSpc>
            </a:pPr>
            <a:r>
              <a:rPr lang="en-US" sz="2000" dirty="0"/>
              <a:t>Cannot capture global image features</a:t>
            </a:r>
          </a:p>
          <a:p>
            <a:pPr>
              <a:lnSpc>
                <a:spcPct val="150000"/>
              </a:lnSpc>
            </a:pPr>
            <a:endParaRPr lang="en-US" sz="2000" dirty="0"/>
          </a:p>
        </p:txBody>
      </p:sp>
    </p:spTree>
    <p:extLst>
      <p:ext uri="{BB962C8B-B14F-4D97-AF65-F5344CB8AC3E}">
        <p14:creationId xmlns:p14="http://schemas.microsoft.com/office/powerpoint/2010/main" val="1389705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9619" y="393701"/>
            <a:ext cx="10924353" cy="1206236"/>
          </a:xfrm>
        </p:spPr>
        <p:txBody>
          <a:bodyPr/>
          <a:lstStyle/>
          <a:p>
            <a:pPr algn="ctr"/>
            <a:r>
              <a:rPr lang="en-US" b="1" dirty="0"/>
              <a:t>PROPOSED SYSTEM</a:t>
            </a:r>
          </a:p>
        </p:txBody>
      </p:sp>
      <p:sp>
        <p:nvSpPr>
          <p:cNvPr id="3" name="Content Placeholder 2"/>
          <p:cNvSpPr>
            <a:spLocks noGrp="1"/>
          </p:cNvSpPr>
          <p:nvPr>
            <p:ph idx="1"/>
          </p:nvPr>
        </p:nvSpPr>
        <p:spPr>
          <a:xfrm>
            <a:off x="1539619" y="1496068"/>
            <a:ext cx="9822915" cy="4744526"/>
          </a:xfrm>
        </p:spPr>
        <p:txBody>
          <a:bodyPr>
            <a:noAutofit/>
          </a:bodyPr>
          <a:lstStyle/>
          <a:p>
            <a:pPr algn="just">
              <a:lnSpc>
                <a:spcPct val="170000"/>
              </a:lnSpc>
            </a:pPr>
            <a:r>
              <a:rPr lang="en-US" sz="2000" dirty="0"/>
              <a:t>The proposed system introduces an explainable AI-driven framework for bone tumor detection using hybrid deep learning models. </a:t>
            </a:r>
          </a:p>
          <a:p>
            <a:pPr algn="just">
              <a:lnSpc>
                <a:spcPct val="170000"/>
              </a:lnSpc>
            </a:pPr>
            <a:r>
              <a:rPr lang="en-US" sz="2000" dirty="0"/>
              <a:t>It integrates advanced architectures such as ResNet-50, </a:t>
            </a:r>
            <a:r>
              <a:rPr lang="en-US" sz="2000" dirty="0" err="1"/>
              <a:t>EfficientNet</a:t>
            </a:r>
            <a:r>
              <a:rPr lang="en-US" sz="2000" dirty="0"/>
              <a:t>, and Vision Transformer (</a:t>
            </a:r>
            <a:r>
              <a:rPr lang="en-US" sz="2000" dirty="0" err="1"/>
              <a:t>ViT</a:t>
            </a:r>
            <a:r>
              <a:rPr lang="en-US" sz="2000" dirty="0"/>
              <a:t>) to improve feature extraction and classification accuracy. </a:t>
            </a:r>
          </a:p>
          <a:p>
            <a:pPr algn="just">
              <a:lnSpc>
                <a:spcPct val="170000"/>
              </a:lnSpc>
            </a:pPr>
            <a:r>
              <a:rPr lang="en-US" sz="2000" dirty="0"/>
              <a:t>Enhanced preprocessing techniques, including CLAHE and adaptive morphological operations, are applied to improve image quality and highlight tumor regions. </a:t>
            </a:r>
          </a:p>
          <a:p>
            <a:pPr algn="just">
              <a:lnSpc>
                <a:spcPct val="170000"/>
              </a:lnSpc>
            </a:pPr>
            <a:r>
              <a:rPr lang="en-US" sz="2000" dirty="0"/>
              <a:t>An ensemble approach is used to combine CNN and transformer-based models for better spatial and contextual understanding. </a:t>
            </a:r>
          </a:p>
        </p:txBody>
      </p:sp>
    </p:spTree>
    <p:extLst>
      <p:ext uri="{BB962C8B-B14F-4D97-AF65-F5344CB8AC3E}">
        <p14:creationId xmlns:p14="http://schemas.microsoft.com/office/powerpoint/2010/main" val="529701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ADVANTAGES</a:t>
            </a:r>
          </a:p>
        </p:txBody>
      </p:sp>
      <p:sp>
        <p:nvSpPr>
          <p:cNvPr id="3" name="Content Placeholder 2"/>
          <p:cNvSpPr>
            <a:spLocks noGrp="1"/>
          </p:cNvSpPr>
          <p:nvPr>
            <p:ph idx="1"/>
          </p:nvPr>
        </p:nvSpPr>
        <p:spPr/>
        <p:txBody>
          <a:bodyPr>
            <a:normAutofit/>
          </a:bodyPr>
          <a:lstStyle/>
          <a:p>
            <a:pPr>
              <a:lnSpc>
                <a:spcPct val="150000"/>
              </a:lnSpc>
            </a:pPr>
            <a:r>
              <a:rPr lang="en-US" sz="2000" dirty="0"/>
              <a:t>Higher accuracy in bone tumor detection</a:t>
            </a:r>
          </a:p>
          <a:p>
            <a:pPr>
              <a:lnSpc>
                <a:spcPct val="150000"/>
              </a:lnSpc>
            </a:pPr>
            <a:r>
              <a:rPr lang="en-US" sz="2000" dirty="0"/>
              <a:t>Hybrid deep learning improves feature extraction</a:t>
            </a:r>
          </a:p>
          <a:p>
            <a:pPr>
              <a:lnSpc>
                <a:spcPct val="150000"/>
              </a:lnSpc>
            </a:pPr>
            <a:r>
              <a:rPr lang="en-US" sz="2000" dirty="0"/>
              <a:t>Uses advanced models (</a:t>
            </a:r>
            <a:r>
              <a:rPr lang="en-US" sz="2000" dirty="0" err="1"/>
              <a:t>ResNet</a:t>
            </a:r>
            <a:r>
              <a:rPr lang="en-US" sz="2000" dirty="0"/>
              <a:t>, </a:t>
            </a:r>
            <a:r>
              <a:rPr lang="en-US" sz="2000" dirty="0" err="1"/>
              <a:t>EfficientNet</a:t>
            </a:r>
            <a:r>
              <a:rPr lang="en-US" sz="2000" dirty="0"/>
              <a:t>, </a:t>
            </a:r>
            <a:r>
              <a:rPr lang="en-US" sz="2000" dirty="0" err="1"/>
              <a:t>ViT</a:t>
            </a:r>
            <a:r>
              <a:rPr lang="en-US" sz="2000" dirty="0"/>
              <a:t>)</a:t>
            </a:r>
          </a:p>
          <a:p>
            <a:pPr>
              <a:lnSpc>
                <a:spcPct val="150000"/>
              </a:lnSpc>
            </a:pPr>
            <a:r>
              <a:rPr lang="en-US" sz="2000" dirty="0"/>
              <a:t>Better image enhancement using CLAHE</a:t>
            </a:r>
          </a:p>
          <a:p>
            <a:pPr>
              <a:lnSpc>
                <a:spcPct val="150000"/>
              </a:lnSpc>
            </a:pPr>
            <a:r>
              <a:rPr lang="en-US" sz="2000" dirty="0"/>
              <a:t>Captures both local and global features</a:t>
            </a:r>
          </a:p>
          <a:p>
            <a:pPr>
              <a:lnSpc>
                <a:spcPct val="150000"/>
              </a:lnSpc>
            </a:pPr>
            <a:endParaRPr lang="en-US" sz="2000" dirty="0"/>
          </a:p>
        </p:txBody>
      </p:sp>
    </p:spTree>
    <p:extLst>
      <p:ext uri="{BB962C8B-B14F-4D97-AF65-F5344CB8AC3E}">
        <p14:creationId xmlns:p14="http://schemas.microsoft.com/office/powerpoint/2010/main" val="1751056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ARCHITECTURE</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26289" r="2958" b="16712"/>
          <a:stretch/>
        </p:blipFill>
        <p:spPr>
          <a:xfrm>
            <a:off x="1205680" y="1640114"/>
            <a:ext cx="10220963" cy="3556000"/>
          </a:xfrm>
        </p:spPr>
      </p:pic>
    </p:spTree>
    <p:extLst>
      <p:ext uri="{BB962C8B-B14F-4D97-AF65-F5344CB8AC3E}">
        <p14:creationId xmlns:p14="http://schemas.microsoft.com/office/powerpoint/2010/main" val="1278668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a:xfrm>
            <a:off x="1825915" y="1277257"/>
            <a:ext cx="9519065" cy="6415314"/>
          </a:xfrm>
        </p:spPr>
        <p:txBody>
          <a:bodyPr>
            <a:noAutofit/>
          </a:bodyPr>
          <a:lstStyle/>
          <a:p>
            <a:pPr marL="90361" indent="0" algn="just">
              <a:buNone/>
            </a:pPr>
            <a:r>
              <a:rPr lang="en-US" b="1" dirty="0"/>
              <a:t>Development Model</a:t>
            </a:r>
          </a:p>
          <a:p>
            <a:pPr marL="90361" indent="0" algn="just">
              <a:buNone/>
            </a:pPr>
            <a:r>
              <a:rPr lang="en-US" dirty="0"/>
              <a:t>Deep learning-based development methodology is used for iterative model training, continuous evaluation, and performance optimization to improve bone tumor detection accuracy.</a:t>
            </a:r>
          </a:p>
          <a:p>
            <a:pPr marL="90361" indent="0" algn="just">
              <a:buNone/>
            </a:pPr>
            <a:r>
              <a:rPr lang="en-US" b="1" dirty="0"/>
              <a:t>System Architecture</a:t>
            </a:r>
          </a:p>
          <a:p>
            <a:pPr marL="90361" indent="0" algn="just">
              <a:buNone/>
            </a:pPr>
            <a:r>
              <a:rPr lang="en-US" dirty="0"/>
              <a:t>Medical Image Input → Image Preprocessing → Feature Extraction → Vision Transformer (</a:t>
            </a:r>
            <a:r>
              <a:rPr lang="en-US" dirty="0" err="1"/>
              <a:t>ViT</a:t>
            </a:r>
            <a:r>
              <a:rPr lang="en-US" dirty="0"/>
              <a:t>) Integration → Hybrid Classification Model → Detection Result </a:t>
            </a:r>
            <a:r>
              <a:rPr lang="en-US" b="1" dirty="0"/>
              <a:t>Working Flow</a:t>
            </a:r>
          </a:p>
          <a:p>
            <a:pPr marL="90361" indent="0" algn="just">
              <a:buNone/>
            </a:pPr>
            <a:r>
              <a:rPr lang="en-US" dirty="0"/>
              <a:t>User uploads bone X-ray or MRI image</a:t>
            </a:r>
          </a:p>
          <a:p>
            <a:pPr marL="90361" indent="0" algn="just">
              <a:buNone/>
            </a:pPr>
            <a:r>
              <a:rPr lang="en-US" dirty="0"/>
              <a:t>System performs image preprocessing and enhancement</a:t>
            </a:r>
          </a:p>
          <a:p>
            <a:pPr marL="90361" indent="0" algn="just">
              <a:buNone/>
            </a:pPr>
            <a:r>
              <a:rPr lang="en-US" dirty="0"/>
              <a:t>CLAHE improves contrast and highlights tumor region</a:t>
            </a:r>
          </a:p>
          <a:p>
            <a:pPr marL="90361" indent="0" algn="just">
              <a:buNone/>
            </a:pPr>
            <a:r>
              <a:rPr lang="en-US" dirty="0"/>
              <a:t>Deep features extracted using ResNet-50 and </a:t>
            </a:r>
            <a:r>
              <a:rPr lang="en-US" dirty="0" err="1"/>
              <a:t>EfficientNet</a:t>
            </a:r>
            <a:endParaRPr lang="en-US" dirty="0"/>
          </a:p>
          <a:p>
            <a:pPr marL="90361" indent="0" algn="just">
              <a:buNone/>
            </a:pPr>
            <a:r>
              <a:rPr lang="en-US" dirty="0"/>
              <a:t>Vision Transformer analyzes global image patterns</a:t>
            </a:r>
          </a:p>
          <a:p>
            <a:pPr marL="90361" indent="0" algn="just">
              <a:buNone/>
            </a:pPr>
            <a:r>
              <a:rPr lang="en-US" dirty="0"/>
              <a:t>Hybrid model classifies tumor or normal bone</a:t>
            </a:r>
          </a:p>
          <a:p>
            <a:pPr marL="90361" indent="0" algn="just">
              <a:buNone/>
            </a:pPr>
            <a:r>
              <a:rPr lang="en-US" dirty="0"/>
              <a:t>Grad-CAM generates </a:t>
            </a:r>
            <a:r>
              <a:rPr lang="en-US" dirty="0" err="1"/>
              <a:t>heatmap</a:t>
            </a:r>
            <a:r>
              <a:rPr lang="en-US" dirty="0"/>
              <a:t> showing tumor location</a:t>
            </a:r>
          </a:p>
          <a:p>
            <a:pPr marL="90361" indent="0" algn="just">
              <a:buNone/>
            </a:pPr>
            <a:r>
              <a:rPr lang="en-US" dirty="0"/>
              <a:t>Detection results displayed to the user</a:t>
            </a:r>
          </a:p>
          <a:p>
            <a:pPr marL="0" indent="0" algn="just">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MODULES</a:t>
            </a:r>
          </a:p>
        </p:txBody>
      </p:sp>
      <p:sp>
        <p:nvSpPr>
          <p:cNvPr id="3" name="Content Placeholder 2"/>
          <p:cNvSpPr>
            <a:spLocks noGrp="1"/>
          </p:cNvSpPr>
          <p:nvPr>
            <p:ph idx="1"/>
          </p:nvPr>
        </p:nvSpPr>
        <p:spPr/>
        <p:txBody>
          <a:bodyPr>
            <a:noAutofit/>
          </a:bodyPr>
          <a:lstStyle/>
          <a:p>
            <a:pPr algn="just">
              <a:lnSpc>
                <a:spcPct val="170000"/>
              </a:lnSpc>
            </a:pPr>
            <a:r>
              <a:rPr lang="en-US" b="1" dirty="0"/>
              <a:t>Dataset Collection Module</a:t>
            </a:r>
            <a:r>
              <a:rPr lang="en-US" dirty="0"/>
              <a:t> – Collects MRI bone images categorized as benign, malignant, and no tumor for model training.</a:t>
            </a:r>
          </a:p>
          <a:p>
            <a:pPr algn="just">
              <a:lnSpc>
                <a:spcPct val="170000"/>
              </a:lnSpc>
            </a:pPr>
            <a:r>
              <a:rPr lang="en-US" b="1" dirty="0"/>
              <a:t>Data Preprocessing Module</a:t>
            </a:r>
            <a:r>
              <a:rPr lang="en-US" dirty="0"/>
              <a:t> – Enhances and resizes images to improve data quality for deep learning training.</a:t>
            </a:r>
          </a:p>
          <a:p>
            <a:pPr algn="just">
              <a:lnSpc>
                <a:spcPct val="170000"/>
              </a:lnSpc>
            </a:pPr>
            <a:r>
              <a:rPr lang="en-US" b="1" dirty="0"/>
              <a:t>Model Training Module</a:t>
            </a:r>
            <a:r>
              <a:rPr lang="en-US" dirty="0"/>
              <a:t> – Trains the deep learning model (ResNet-50) to learn features and classify tumor types.</a:t>
            </a:r>
          </a:p>
          <a:p>
            <a:pPr algn="just">
              <a:lnSpc>
                <a:spcPct val="170000"/>
              </a:lnSpc>
            </a:pPr>
            <a:r>
              <a:rPr lang="en-US" b="1" dirty="0"/>
              <a:t>Prediction Module</a:t>
            </a:r>
            <a:r>
              <a:rPr lang="en-US" dirty="0"/>
              <a:t> – Analyzes the uploaded MRI image and predicts the tumor category.</a:t>
            </a:r>
          </a:p>
          <a:p>
            <a:pPr algn="just">
              <a:lnSpc>
                <a:spcPct val="170000"/>
              </a:lnSpc>
            </a:pPr>
            <a:r>
              <a:rPr lang="en-US" b="1" dirty="0"/>
              <a:t>Web Application Interface Module</a:t>
            </a:r>
            <a:r>
              <a:rPr lang="en-US" dirty="0"/>
              <a:t> – Provides a Flask-based interface for users to upload images and view prediction results.</a:t>
            </a:r>
          </a:p>
          <a:p>
            <a:pPr algn="just">
              <a:lnSpc>
                <a:spcPct val="170000"/>
              </a:lnSpc>
            </a:pPr>
            <a:endParaRPr lang="en-US" dirty="0"/>
          </a:p>
        </p:txBody>
      </p:sp>
    </p:spTree>
    <p:extLst>
      <p:ext uri="{BB962C8B-B14F-4D97-AF65-F5344CB8AC3E}">
        <p14:creationId xmlns:p14="http://schemas.microsoft.com/office/powerpoint/2010/main" val="1160513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6555" y="289832"/>
            <a:ext cx="8795980" cy="1206236"/>
          </a:xfrm>
        </p:spPr>
        <p:txBody>
          <a:bodyPr/>
          <a:lstStyle/>
          <a:p>
            <a:pPr algn="ctr"/>
            <a:r>
              <a:rPr lang="en-US" b="1" dirty="0"/>
              <a:t>SYSTEM REQUIREMENTS</a:t>
            </a:r>
          </a:p>
        </p:txBody>
      </p:sp>
      <p:sp>
        <p:nvSpPr>
          <p:cNvPr id="3" name="Content Placeholder 2"/>
          <p:cNvSpPr>
            <a:spLocks noGrp="1"/>
          </p:cNvSpPr>
          <p:nvPr>
            <p:ph idx="1"/>
          </p:nvPr>
        </p:nvSpPr>
        <p:spPr>
          <a:xfrm>
            <a:off x="1316626" y="1336411"/>
            <a:ext cx="10467022" cy="5118470"/>
          </a:xfrm>
        </p:spPr>
        <p:txBody>
          <a:bodyPr>
            <a:noAutofit/>
          </a:bodyPr>
          <a:lstStyle/>
          <a:p>
            <a:pPr marL="0" indent="0" algn="l">
              <a:lnSpc>
                <a:spcPct val="150000"/>
              </a:lnSpc>
              <a:buNone/>
            </a:pPr>
            <a:r>
              <a:rPr lang="en-US" b="1" dirty="0"/>
              <a:t>HARDWARE REQUIREMENTS</a:t>
            </a:r>
          </a:p>
          <a:p>
            <a:pPr lvl="1" algn="l">
              <a:lnSpc>
                <a:spcPct val="150000"/>
              </a:lnSpc>
              <a:buFont typeface="Arial" pitchFamily="34" charset="0"/>
              <a:buChar char="•"/>
            </a:pPr>
            <a:r>
              <a:rPr lang="en-US" b="1" dirty="0"/>
              <a:t>Processor</a:t>
            </a:r>
            <a:r>
              <a:rPr lang="en-US" dirty="0"/>
              <a:t> 		: Intel Core i5 / i7 processor or higher</a:t>
            </a:r>
          </a:p>
          <a:p>
            <a:pPr lvl="1" algn="l">
              <a:lnSpc>
                <a:spcPct val="150000"/>
              </a:lnSpc>
              <a:buFont typeface="Arial" pitchFamily="34" charset="0"/>
              <a:buChar char="•"/>
            </a:pPr>
            <a:r>
              <a:rPr lang="en-US" b="1" dirty="0"/>
              <a:t>RAM</a:t>
            </a:r>
            <a:r>
              <a:rPr lang="en-US" dirty="0"/>
              <a:t> 		: 16 GB</a:t>
            </a:r>
          </a:p>
          <a:p>
            <a:pPr lvl="1" algn="l">
              <a:lnSpc>
                <a:spcPct val="150000"/>
              </a:lnSpc>
              <a:buFont typeface="Arial" pitchFamily="34" charset="0"/>
              <a:buChar char="•"/>
            </a:pPr>
            <a:r>
              <a:rPr lang="en-US" b="1" dirty="0"/>
              <a:t>Disk Space</a:t>
            </a:r>
            <a:r>
              <a:rPr lang="en-US" dirty="0"/>
              <a:t> 	: 500 GB SSD</a:t>
            </a:r>
          </a:p>
          <a:p>
            <a:pPr lvl="1" algn="l">
              <a:lnSpc>
                <a:spcPct val="150000"/>
              </a:lnSpc>
              <a:buFont typeface="Arial" pitchFamily="34" charset="0"/>
              <a:buChar char="•"/>
            </a:pPr>
            <a:r>
              <a:rPr lang="en-US" b="1" dirty="0"/>
              <a:t>Display</a:t>
            </a:r>
            <a:r>
              <a:rPr lang="en-US" dirty="0"/>
              <a:t> 		: Standard Monitor</a:t>
            </a:r>
          </a:p>
          <a:p>
            <a:pPr marL="0" indent="0" algn="l">
              <a:lnSpc>
                <a:spcPct val="150000"/>
              </a:lnSpc>
              <a:buNone/>
            </a:pPr>
            <a:r>
              <a:rPr lang="en-US" b="1" dirty="0"/>
              <a:t>SOFTWARE REQUIREMENTS</a:t>
            </a:r>
          </a:p>
          <a:p>
            <a:pPr lvl="1" algn="l">
              <a:lnSpc>
                <a:spcPct val="150000"/>
              </a:lnSpc>
              <a:buFont typeface="Arial" pitchFamily="34" charset="0"/>
              <a:buChar char="•"/>
            </a:pPr>
            <a:r>
              <a:rPr lang="en-US" b="1" dirty="0"/>
              <a:t>Operating System</a:t>
            </a:r>
            <a:r>
              <a:rPr lang="en-US" dirty="0"/>
              <a:t> 		: Windows 10 / 11</a:t>
            </a:r>
          </a:p>
          <a:p>
            <a:pPr lvl="1" algn="l">
              <a:lnSpc>
                <a:spcPct val="150000"/>
              </a:lnSpc>
              <a:buFont typeface="Arial" pitchFamily="34" charset="0"/>
              <a:buChar char="•"/>
            </a:pPr>
            <a:r>
              <a:rPr lang="en-US" b="1" dirty="0"/>
              <a:t>Python</a:t>
            </a:r>
            <a:r>
              <a:rPr lang="en-US" dirty="0"/>
              <a:t> 			: Python 3.8 or higher</a:t>
            </a:r>
          </a:p>
          <a:p>
            <a:pPr lvl="1" algn="l">
              <a:lnSpc>
                <a:spcPct val="150000"/>
              </a:lnSpc>
              <a:buFont typeface="Arial" pitchFamily="34" charset="0"/>
              <a:buChar char="•"/>
            </a:pPr>
            <a:r>
              <a:rPr lang="en-US" b="1" dirty="0"/>
              <a:t>Front End 		</a:t>
            </a:r>
            <a:r>
              <a:rPr lang="en-US" dirty="0"/>
              <a:t>:</a:t>
            </a:r>
            <a:r>
              <a:rPr lang="en-US" b="1" dirty="0"/>
              <a:t> </a:t>
            </a:r>
            <a:r>
              <a:rPr lang="en-US" dirty="0"/>
              <a:t>HTML, CSS, JS</a:t>
            </a:r>
          </a:p>
          <a:p>
            <a:pPr lvl="1" algn="l">
              <a:lnSpc>
                <a:spcPct val="150000"/>
              </a:lnSpc>
              <a:buFont typeface="Arial" pitchFamily="34" charset="0"/>
              <a:buChar char="•"/>
            </a:pPr>
            <a:r>
              <a:rPr lang="en-US" b="1" dirty="0"/>
              <a:t>Database</a:t>
            </a:r>
            <a:r>
              <a:rPr lang="en-US" dirty="0"/>
              <a:t> 			: MySQL / SQLite</a:t>
            </a:r>
          </a:p>
          <a:p>
            <a:pPr lvl="1" algn="l">
              <a:lnSpc>
                <a:spcPct val="150000"/>
              </a:lnSpc>
              <a:buFont typeface="Arial" pitchFamily="34" charset="0"/>
              <a:buChar char="•"/>
            </a:pPr>
            <a:r>
              <a:rPr lang="en-US" b="1" dirty="0"/>
              <a:t>Development Environment</a:t>
            </a:r>
            <a:r>
              <a:rPr lang="en-US" dirty="0"/>
              <a:t> : VS Code</a:t>
            </a:r>
          </a:p>
        </p:txBody>
      </p:sp>
    </p:spTree>
    <p:extLst>
      <p:ext uri="{BB962C8B-B14F-4D97-AF65-F5344CB8AC3E}">
        <p14:creationId xmlns:p14="http://schemas.microsoft.com/office/powerpoint/2010/main" val="154836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APPLICATIONS</a:t>
            </a:r>
          </a:p>
        </p:txBody>
      </p:sp>
      <p:sp>
        <p:nvSpPr>
          <p:cNvPr id="3" name="Content Placeholder 2"/>
          <p:cNvSpPr>
            <a:spLocks noGrp="1"/>
          </p:cNvSpPr>
          <p:nvPr>
            <p:ph idx="1"/>
          </p:nvPr>
        </p:nvSpPr>
        <p:spPr/>
        <p:txBody>
          <a:bodyPr>
            <a:normAutofit fontScale="92500"/>
          </a:bodyPr>
          <a:lstStyle/>
          <a:p>
            <a:pPr algn="just">
              <a:lnSpc>
                <a:spcPct val="170000"/>
              </a:lnSpc>
            </a:pPr>
            <a:r>
              <a:rPr lang="en-US" b="1" dirty="0"/>
              <a:t>Medical Diagnosis Support</a:t>
            </a:r>
            <a:r>
              <a:rPr lang="en-US" dirty="0"/>
              <a:t> – Assists doctors in identifying bone tumors from MRI images.</a:t>
            </a:r>
          </a:p>
          <a:p>
            <a:pPr algn="just">
              <a:lnSpc>
                <a:spcPct val="170000"/>
              </a:lnSpc>
            </a:pPr>
            <a:r>
              <a:rPr lang="en-US" b="1" dirty="0"/>
              <a:t>Early Tumor Detection</a:t>
            </a:r>
            <a:r>
              <a:rPr lang="en-US" dirty="0"/>
              <a:t> – Helps detect bone tumors at an early stage for better treatment planning.</a:t>
            </a:r>
          </a:p>
          <a:p>
            <a:pPr algn="just">
              <a:lnSpc>
                <a:spcPct val="170000"/>
              </a:lnSpc>
            </a:pPr>
            <a:r>
              <a:rPr lang="en-US" b="1" dirty="0"/>
              <a:t>Hospital Decision Support Systems</a:t>
            </a:r>
            <a:r>
              <a:rPr lang="en-US" dirty="0"/>
              <a:t> – Can be integrated into hospital systems to support radiologists in diagnosis.</a:t>
            </a:r>
          </a:p>
          <a:p>
            <a:pPr algn="just">
              <a:lnSpc>
                <a:spcPct val="170000"/>
              </a:lnSpc>
            </a:pPr>
            <a:r>
              <a:rPr lang="en-US" b="1" dirty="0"/>
              <a:t>Medical Research</a:t>
            </a:r>
            <a:r>
              <a:rPr lang="en-US" dirty="0"/>
              <a:t> – Useful for researchers studying tumor patterns using medical imaging.</a:t>
            </a:r>
          </a:p>
          <a:p>
            <a:pPr algn="just">
              <a:lnSpc>
                <a:spcPct val="170000"/>
              </a:lnSpc>
            </a:pPr>
            <a:r>
              <a:rPr lang="en-US" b="1" dirty="0"/>
              <a:t>Healthcare Automation</a:t>
            </a:r>
            <a:r>
              <a:rPr lang="en-US" dirty="0"/>
              <a:t> – Enables automated analysis of MRI images to reduce manual workload for medical professionals.</a:t>
            </a:r>
          </a:p>
          <a:p>
            <a:pPr algn="just">
              <a:lnSpc>
                <a:spcPct val="170000"/>
              </a:lnSpc>
            </a:pPr>
            <a:endParaRPr lang="en-US" dirty="0"/>
          </a:p>
        </p:txBody>
      </p:sp>
    </p:spTree>
    <p:extLst>
      <p:ext uri="{BB962C8B-B14F-4D97-AF65-F5344CB8AC3E}">
        <p14:creationId xmlns:p14="http://schemas.microsoft.com/office/powerpoint/2010/main" val="2911222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3" name="Content Placeholder 2"/>
          <p:cNvSpPr>
            <a:spLocks noGrp="1"/>
          </p:cNvSpPr>
          <p:nvPr>
            <p:ph idx="1"/>
          </p:nvPr>
        </p:nvSpPr>
        <p:spPr/>
        <p:txBody>
          <a:bodyPr>
            <a:noAutofit/>
          </a:bodyPr>
          <a:lstStyle/>
          <a:p>
            <a:pPr algn="just">
              <a:lnSpc>
                <a:spcPct val="170000"/>
              </a:lnSpc>
            </a:pPr>
            <a:r>
              <a:rPr lang="en-US" dirty="0"/>
              <a:t>The system's accuracy depends on the quality and size of the training dataset.</a:t>
            </a:r>
          </a:p>
          <a:p>
            <a:pPr algn="just">
              <a:lnSpc>
                <a:spcPct val="170000"/>
              </a:lnSpc>
            </a:pPr>
            <a:r>
              <a:rPr lang="en-US" dirty="0"/>
              <a:t>The model may produce incorrect predictions if the MRI image quality is poor or unclear.</a:t>
            </a:r>
          </a:p>
          <a:p>
            <a:pPr algn="just">
              <a:lnSpc>
                <a:spcPct val="170000"/>
              </a:lnSpc>
            </a:pPr>
            <a:r>
              <a:rPr lang="en-US" dirty="0"/>
              <a:t>It can only classify images into benign, malignant, or no tumor, and cannot detect other medical conditions.</a:t>
            </a:r>
          </a:p>
          <a:p>
            <a:pPr algn="just">
              <a:lnSpc>
                <a:spcPct val="170000"/>
              </a:lnSpc>
            </a:pPr>
            <a:r>
              <a:rPr lang="en-US" dirty="0"/>
              <a:t>The system requires sufficient computational resources for training the deep learning model.</a:t>
            </a:r>
          </a:p>
          <a:p>
            <a:pPr algn="just">
              <a:lnSpc>
                <a:spcPct val="170000"/>
              </a:lnSpc>
            </a:pPr>
            <a:endParaRPr lang="en-US" dirty="0"/>
          </a:p>
        </p:txBody>
      </p:sp>
    </p:spTree>
    <p:extLst>
      <p:ext uri="{BB962C8B-B14F-4D97-AF65-F5344CB8AC3E}">
        <p14:creationId xmlns:p14="http://schemas.microsoft.com/office/powerpoint/2010/main" val="3580620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SCOPE</a:t>
            </a:r>
          </a:p>
        </p:txBody>
      </p:sp>
      <p:sp>
        <p:nvSpPr>
          <p:cNvPr id="3" name="Content Placeholder 2"/>
          <p:cNvSpPr>
            <a:spLocks noGrp="1"/>
          </p:cNvSpPr>
          <p:nvPr>
            <p:ph idx="1"/>
          </p:nvPr>
        </p:nvSpPr>
        <p:spPr/>
        <p:txBody>
          <a:bodyPr>
            <a:normAutofit/>
          </a:bodyPr>
          <a:lstStyle/>
          <a:p>
            <a:pPr algn="just">
              <a:lnSpc>
                <a:spcPct val="150000"/>
              </a:lnSpc>
            </a:pPr>
            <a:r>
              <a:rPr lang="en-US" sz="2000" dirty="0"/>
              <a:t>The system can be improved by using larger and more diverse MRI datasets to increase prediction accuracy.</a:t>
            </a:r>
          </a:p>
          <a:p>
            <a:pPr algn="just">
              <a:lnSpc>
                <a:spcPct val="150000"/>
              </a:lnSpc>
            </a:pPr>
            <a:r>
              <a:rPr lang="en-US" sz="2000" dirty="0"/>
              <a:t>Advanced deep learning models can be integrated to achieve better tumor detection and classification performance.</a:t>
            </a:r>
          </a:p>
          <a:p>
            <a:pPr algn="just">
              <a:lnSpc>
                <a:spcPct val="150000"/>
              </a:lnSpc>
            </a:pPr>
            <a:r>
              <a:rPr lang="en-US" sz="2000" dirty="0"/>
              <a:t>The system can be expanded to detect different types of bone diseases and abnormalities.</a:t>
            </a:r>
          </a:p>
          <a:p>
            <a:pPr algn="just">
              <a:lnSpc>
                <a:spcPct val="150000"/>
              </a:lnSpc>
            </a:pPr>
            <a:r>
              <a:rPr lang="en-US" sz="2000" dirty="0"/>
              <a:t>Integration with hospital management systems and medical databases can enhance real-time clinical usage.</a:t>
            </a:r>
          </a:p>
          <a:p>
            <a:pPr algn="just">
              <a:lnSpc>
                <a:spcPct val="150000"/>
              </a:lnSpc>
            </a:pPr>
            <a:r>
              <a:rPr lang="en-US" sz="2000" dirty="0"/>
              <a:t>A mobile or cloud-based application can be developed to make the system accessible to doctors and healthcare centers anywhere.</a:t>
            </a:r>
          </a:p>
          <a:p>
            <a:pPr algn="just">
              <a:lnSpc>
                <a:spcPct val="150000"/>
              </a:lnSpc>
            </a:pPr>
            <a:endParaRPr lang="en-US" sz="2000" dirty="0"/>
          </a:p>
        </p:txBody>
      </p:sp>
    </p:spTree>
    <p:extLst>
      <p:ext uri="{BB962C8B-B14F-4D97-AF65-F5344CB8AC3E}">
        <p14:creationId xmlns:p14="http://schemas.microsoft.com/office/powerpoint/2010/main" val="1744967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dirty="0"/>
              <a:t>PERFORMANCE AND RESULTS</a:t>
            </a:r>
          </a:p>
        </p:txBody>
      </p:sp>
      <p:sp>
        <p:nvSpPr>
          <p:cNvPr id="3" name="Content Placeholder 2"/>
          <p:cNvSpPr>
            <a:spLocks noGrp="1"/>
          </p:cNvSpPr>
          <p:nvPr>
            <p:ph idx="1"/>
          </p:nvPr>
        </p:nvSpPr>
        <p:spPr/>
        <p:txBody>
          <a:bodyPr>
            <a:noAutofit/>
          </a:bodyPr>
          <a:lstStyle/>
          <a:p>
            <a:pPr algn="just">
              <a:lnSpc>
                <a:spcPct val="170000"/>
              </a:lnSpc>
            </a:pPr>
            <a:r>
              <a:rPr lang="en-US" dirty="0"/>
              <a:t>The proposed system classifies bone tumor MRI images into Benign, Malignant, and No Tumor using a deep learning model based on the ResNet-50 architecture. </a:t>
            </a:r>
          </a:p>
          <a:p>
            <a:pPr algn="just">
              <a:lnSpc>
                <a:spcPct val="170000"/>
              </a:lnSpc>
            </a:pPr>
            <a:r>
              <a:rPr lang="en-US" dirty="0"/>
              <a:t>The model was trained using preprocessed and augmented MRI images to improve learning and generalization. </a:t>
            </a:r>
          </a:p>
          <a:p>
            <a:pPr algn="just">
              <a:lnSpc>
                <a:spcPct val="170000"/>
              </a:lnSpc>
            </a:pPr>
            <a:r>
              <a:rPr lang="en-US" dirty="0"/>
              <a:t>During evaluation, the model achieved an overall accuracy of about 95%, showing strong performance in distinguishing different tumor types. </a:t>
            </a:r>
          </a:p>
          <a:p>
            <a:pPr algn="just">
              <a:lnSpc>
                <a:spcPct val="170000"/>
              </a:lnSpc>
            </a:pPr>
            <a:r>
              <a:rPr lang="en-US" dirty="0"/>
              <a:t>Performance metrics such as precision, recall, and F1-score indicate reliable classification results. </a:t>
            </a:r>
          </a:p>
          <a:p>
            <a:pPr algn="just">
              <a:lnSpc>
                <a:spcPct val="170000"/>
              </a:lnSpc>
            </a:pPr>
            <a:r>
              <a:rPr lang="en-US" dirty="0"/>
              <a:t>The trained model is integrated with a Flask-based web application, allowing users to upload MRI images and receive instant tumor prediction with confidence scores.</a:t>
            </a:r>
          </a:p>
          <a:p>
            <a:pPr algn="just">
              <a:lnSpc>
                <a:spcPct val="170000"/>
              </a:lnSpc>
            </a:pPr>
            <a:endParaRPr lang="en-US" dirty="0"/>
          </a:p>
        </p:txBody>
      </p:sp>
    </p:spTree>
    <p:extLst>
      <p:ext uri="{BB962C8B-B14F-4D97-AF65-F5344CB8AC3E}">
        <p14:creationId xmlns:p14="http://schemas.microsoft.com/office/powerpoint/2010/main" val="491524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a:xfrm>
            <a:off x="1578004" y="1597668"/>
            <a:ext cx="9612223" cy="4776358"/>
          </a:xfrm>
        </p:spPr>
        <p:txBody>
          <a:bodyPr>
            <a:noAutofit/>
          </a:bodyPr>
          <a:lstStyle/>
          <a:p>
            <a:pPr algn="just">
              <a:lnSpc>
                <a:spcPct val="150000"/>
              </a:lnSpc>
            </a:pPr>
            <a:r>
              <a:rPr lang="en-US" sz="2000" dirty="0"/>
              <a:t>This project proposes an advanced Explainable AI-based framework for bone tumor detection using hybrid deep learning architectures. </a:t>
            </a:r>
          </a:p>
          <a:p>
            <a:pPr algn="just">
              <a:lnSpc>
                <a:spcPct val="150000"/>
              </a:lnSpc>
            </a:pPr>
            <a:r>
              <a:rPr lang="en-US" sz="2000" dirty="0"/>
              <a:t>By integrating </a:t>
            </a:r>
            <a:r>
              <a:rPr lang="en-US" sz="2000" dirty="0" err="1"/>
              <a:t>ResNet</a:t>
            </a:r>
            <a:r>
              <a:rPr lang="en-US" sz="2000" dirty="0"/>
              <a:t>, </a:t>
            </a:r>
            <a:r>
              <a:rPr lang="en-US" sz="2000" dirty="0" err="1"/>
              <a:t>EfficientNet</a:t>
            </a:r>
            <a:r>
              <a:rPr lang="en-US" sz="2000" dirty="0"/>
              <a:t>, and Vision Transformers with enhanced preprocessing and visualization techniques, the system addresses limitations of existing methods. </a:t>
            </a:r>
          </a:p>
          <a:p>
            <a:pPr algn="just">
              <a:lnSpc>
                <a:spcPct val="150000"/>
              </a:lnSpc>
            </a:pPr>
            <a:r>
              <a:rPr lang="en-US" sz="2000" dirty="0"/>
              <a:t>The proposed solution aims to deliver higher accuracy, interpretability, and reliability, making it a valuable clinical decision-support tool for early bone tumor diagnosis.</a:t>
            </a:r>
          </a:p>
        </p:txBody>
      </p:sp>
    </p:spTree>
    <p:extLst>
      <p:ext uri="{BB962C8B-B14F-4D97-AF65-F5344CB8AC3E}">
        <p14:creationId xmlns:p14="http://schemas.microsoft.com/office/powerpoint/2010/main" val="2614999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25195" y="2012318"/>
            <a:ext cx="8237934" cy="1929977"/>
          </a:xfrm>
        </p:spPr>
        <p:txBody>
          <a:bodyPr/>
          <a:lstStyle/>
          <a:p>
            <a:r>
              <a:rPr lang="en-US" b="1" dirty="0"/>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193</TotalTime>
  <Words>1477</Words>
  <Application>Microsoft Office PowerPoint</Application>
  <PresentationFormat>Custom</PresentationFormat>
  <Paragraphs>142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Gill Sans MT</vt:lpstr>
      <vt:lpstr>Times New Roman</vt:lpstr>
      <vt:lpstr>Verdana</vt:lpstr>
      <vt:lpstr>Wingdings 2</vt:lpstr>
      <vt:lpstr>Solstice</vt:lpstr>
      <vt:lpstr>Explainable AI-Driven Bone Tumor Detection Using Hybrid ResNet, EfficientNet, and ViT Models</vt:lpstr>
      <vt:lpstr>ABSTRACT</vt:lpstr>
      <vt:lpstr>INTRODUCTION</vt:lpstr>
      <vt:lpstr>PROBLEM STATEMENT</vt:lpstr>
      <vt:lpstr>OBJECTIVE</vt:lpstr>
      <vt:lpstr>SUMMARY OF LITERATURE</vt:lpstr>
      <vt:lpstr>EXISTING SYSTEM</vt:lpstr>
      <vt:lpstr>DISADVANTAGES</vt:lpstr>
      <vt:lpstr>PROPOSED SYSTEM</vt:lpstr>
      <vt:lpstr>ADVANTAGES</vt:lpstr>
      <vt:lpstr>SYSTEM ARCHITECTURE</vt:lpstr>
      <vt:lpstr>METHODOLOGY</vt:lpstr>
      <vt:lpstr>SYSTEM MODULES</vt:lpstr>
      <vt:lpstr>SYSTEM REQUIREMENTS</vt:lpstr>
      <vt:lpstr>APPLICATIONS</vt:lpstr>
      <vt:lpstr>LIMITATIONS</vt:lpstr>
      <vt:lpstr>FUTURE SCOPE</vt:lpstr>
      <vt:lpstr>PERFORMANCE AND RESULTS</vt:lpstr>
      <vt:lpstr>CONCLUSION</vt:lpstr>
      <vt:lpstr>THANK YOU</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dc:description>generated using python-pptx</dc:description>
  <cp:lastModifiedBy>shrimathikannaiyan1809@outlook.com</cp:lastModifiedBy>
  <cp:revision>27</cp:revision>
  <dcterms:created xsi:type="dcterms:W3CDTF">2013-01-27T09:14:16Z</dcterms:created>
  <dcterms:modified xsi:type="dcterms:W3CDTF">2026-03-17T16:31:21Z</dcterms:modified>
</cp:coreProperties>
</file>