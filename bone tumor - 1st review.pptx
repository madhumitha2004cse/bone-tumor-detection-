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77" r:id="rId2"/>
    <p:sldId id="480" r:id="rId3"/>
    <p:sldId id="257" r:id="rId4"/>
    <p:sldId id="258" r:id="rId5"/>
    <p:sldId id="259" r:id="rId6"/>
    <p:sldId id="474" r:id="rId7"/>
    <p:sldId id="260" r:id="rId8"/>
    <p:sldId id="261" r:id="rId9"/>
    <p:sldId id="262" r:id="rId10"/>
    <p:sldId id="263" r:id="rId11"/>
    <p:sldId id="481" r:id="rId12"/>
    <p:sldId id="264" r:id="rId13"/>
    <p:sldId id="478" r:id="rId14"/>
    <p:sldId id="479" r:id="rId15"/>
    <p:sldId id="26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6" d="100"/>
          <a:sy n="76" d="100"/>
        </p:scale>
        <p:origin x="-12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2800" b="1" kern="1200">
          <a:solidFill>
            <a:schemeClr val="tx1"/>
          </a:solidFill>
          <a:latin typeface="Times New Roman" pitchFamily="18" charset="0"/>
          <a:ea typeface="+mj-ea"/>
          <a:cs typeface="Times New Roman" pitchFamily="18" charset="0"/>
        </a:defRPr>
      </a:lvl1pPr>
    </p:titleStyle>
    <p:bodyStyle>
      <a:lvl1pPr marL="342900" indent="-342900" algn="just" defTabSz="457200" rtl="0" eaLnBrk="1" latinLnBrk="0" hangingPunct="1">
        <a:lnSpc>
          <a:spcPct val="150000"/>
        </a:lnSpc>
        <a:spcBef>
          <a:spcPct val="20000"/>
        </a:spcBef>
        <a:buFont typeface="Arial"/>
        <a:buChar char="•"/>
        <a:defRPr sz="2000" kern="1200">
          <a:solidFill>
            <a:schemeClr val="tx1"/>
          </a:solidFill>
          <a:latin typeface="Times New Roman" pitchFamily="18" charset="0"/>
          <a:ea typeface="+mn-ea"/>
          <a:cs typeface="Times New Roman" pitchFamily="18" charset="0"/>
        </a:defRPr>
      </a:lvl1pPr>
      <a:lvl2pPr marL="742950" indent="-285750" algn="just" defTabSz="457200" rtl="0" eaLnBrk="1" latinLnBrk="0" hangingPunct="1">
        <a:lnSpc>
          <a:spcPct val="150000"/>
        </a:lnSpc>
        <a:spcBef>
          <a:spcPct val="20000"/>
        </a:spcBef>
        <a:buFont typeface="Arial"/>
        <a:buChar char="–"/>
        <a:defRPr sz="2000" kern="1200">
          <a:solidFill>
            <a:schemeClr val="tx1"/>
          </a:solidFill>
          <a:latin typeface="Times New Roman" pitchFamily="18" charset="0"/>
          <a:ea typeface="+mn-ea"/>
          <a:cs typeface="Times New Roman" pitchFamily="18" charset="0"/>
        </a:defRPr>
      </a:lvl2pPr>
      <a:lvl3pPr marL="1143000" indent="-228600" algn="just" defTabSz="457200" rtl="0" eaLnBrk="1" latinLnBrk="0" hangingPunct="1">
        <a:lnSpc>
          <a:spcPct val="150000"/>
        </a:lnSpc>
        <a:spcBef>
          <a:spcPct val="20000"/>
        </a:spcBef>
        <a:buFont typeface="Arial"/>
        <a:buChar char="•"/>
        <a:defRPr sz="2000" kern="1200">
          <a:solidFill>
            <a:schemeClr val="tx1"/>
          </a:solidFill>
          <a:latin typeface="Times New Roman" pitchFamily="18" charset="0"/>
          <a:ea typeface="+mn-ea"/>
          <a:cs typeface="Times New Roman" pitchFamily="18" charset="0"/>
        </a:defRPr>
      </a:lvl3pPr>
      <a:lvl4pPr marL="1600200" indent="-228600" algn="just" defTabSz="457200" rtl="0" eaLnBrk="1" latinLnBrk="0" hangingPunct="1">
        <a:lnSpc>
          <a:spcPct val="150000"/>
        </a:lnSpc>
        <a:spcBef>
          <a:spcPct val="20000"/>
        </a:spcBef>
        <a:buFont typeface="Arial"/>
        <a:buChar char="–"/>
        <a:defRPr sz="2000" kern="1200">
          <a:solidFill>
            <a:schemeClr val="tx1"/>
          </a:solidFill>
          <a:latin typeface="Times New Roman" pitchFamily="18" charset="0"/>
          <a:ea typeface="+mn-ea"/>
          <a:cs typeface="Times New Roman" pitchFamily="18" charset="0"/>
        </a:defRPr>
      </a:lvl4pPr>
      <a:lvl5pPr marL="2057400" indent="-228600" algn="just" defTabSz="457200" rtl="0" eaLnBrk="1" latinLnBrk="0" hangingPunct="1">
        <a:lnSpc>
          <a:spcPct val="150000"/>
        </a:lnSpc>
        <a:spcBef>
          <a:spcPct val="20000"/>
        </a:spcBef>
        <a:buFont typeface="Arial"/>
        <a:buChar char="»"/>
        <a:defRPr sz="200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9572" y="1776305"/>
            <a:ext cx="7772400" cy="1470025"/>
          </a:xfrm>
        </p:spPr>
        <p:txBody>
          <a:bodyPr>
            <a:noAutofit/>
          </a:bodyPr>
          <a:lstStyle/>
          <a:p>
            <a:r>
              <a:rPr lang="en-US" sz="2400" b="1" dirty="0">
                <a:latin typeface="Times New Roman" pitchFamily="18" charset="0"/>
                <a:cs typeface="Times New Roman" pitchFamily="18" charset="0"/>
              </a:rPr>
              <a:t>Explainable AI-Driven Bone Tumor Detection Using Hybrid </a:t>
            </a:r>
            <a:r>
              <a:rPr lang="en-US" sz="2400" b="1" dirty="0" err="1">
                <a:latin typeface="Times New Roman" pitchFamily="18" charset="0"/>
                <a:cs typeface="Times New Roman" pitchFamily="18" charset="0"/>
              </a:rPr>
              <a:t>ResNet</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EfficientNet</a:t>
            </a:r>
            <a:r>
              <a:rPr lang="en-US" sz="2400" b="1" dirty="0">
                <a:latin typeface="Times New Roman" pitchFamily="18" charset="0"/>
                <a:cs typeface="Times New Roman" pitchFamily="18" charset="0"/>
              </a:rPr>
              <a:t>, and </a:t>
            </a:r>
            <a:r>
              <a:rPr lang="en-US" sz="2400" b="1" dirty="0" err="1">
                <a:latin typeface="Times New Roman" pitchFamily="18" charset="0"/>
                <a:cs typeface="Times New Roman" pitchFamily="18" charset="0"/>
              </a:rPr>
              <a:t>ViT</a:t>
            </a:r>
            <a:r>
              <a:rPr lang="en-US" sz="2400" b="1" dirty="0">
                <a:latin typeface="Times New Roman" pitchFamily="18" charset="0"/>
                <a:cs typeface="Times New Roman" pitchFamily="18" charset="0"/>
              </a:rPr>
              <a:t> Models</a:t>
            </a:r>
          </a:p>
        </p:txBody>
      </p:sp>
      <p:pic>
        <p:nvPicPr>
          <p:cNvPr id="3" name="Image 1"/>
          <p:cNvPicPr/>
          <p:nvPr/>
        </p:nvPicPr>
        <p:blipFill>
          <a:blip r:embed="rId2" cstate="print"/>
          <a:stretch>
            <a:fillRect/>
          </a:stretch>
        </p:blipFill>
        <p:spPr>
          <a:xfrm>
            <a:off x="323529" y="116632"/>
            <a:ext cx="8136904" cy="1440160"/>
          </a:xfrm>
          <a:prstGeom prst="rect">
            <a:avLst/>
          </a:prstGeom>
        </p:spPr>
      </p:pic>
      <p:sp>
        <p:nvSpPr>
          <p:cNvPr id="4" name="TextBox 3"/>
          <p:cNvSpPr txBox="1"/>
          <p:nvPr/>
        </p:nvSpPr>
        <p:spPr>
          <a:xfrm>
            <a:off x="1907704" y="1776304"/>
            <a:ext cx="5616624" cy="369332"/>
          </a:xfrm>
          <a:prstGeom prst="rect">
            <a:avLst/>
          </a:prstGeom>
          <a:noFill/>
        </p:spPr>
        <p:txBody>
          <a:bodyPr wrap="square" rtlCol="0">
            <a:spAutoFit/>
          </a:bodyPr>
          <a:lstStyle/>
          <a:p>
            <a:r>
              <a:rPr lang="en-US" b="1" dirty="0">
                <a:solidFill>
                  <a:schemeClr val="bg1">
                    <a:lumMod val="50000"/>
                  </a:schemeClr>
                </a:solidFill>
                <a:latin typeface="Times New Roman" pitchFamily="18" charset="0"/>
                <a:cs typeface="Times New Roman" pitchFamily="18" charset="0"/>
              </a:rPr>
              <a:t>Department of Computer Science and Engineering</a:t>
            </a:r>
            <a:endParaRPr lang="en-US" dirty="0">
              <a:latin typeface="Times New Roman" pitchFamily="18" charset="0"/>
              <a:cs typeface="Times New Roman" pitchFamily="18" charset="0"/>
            </a:endParaRPr>
          </a:p>
        </p:txBody>
      </p:sp>
      <p:sp>
        <p:nvSpPr>
          <p:cNvPr id="5" name="TextBox 4"/>
          <p:cNvSpPr txBox="1"/>
          <p:nvPr/>
        </p:nvSpPr>
        <p:spPr>
          <a:xfrm>
            <a:off x="719572" y="3573018"/>
            <a:ext cx="2916324" cy="2031325"/>
          </a:xfrm>
          <a:prstGeom prst="rect">
            <a:avLst/>
          </a:prstGeom>
          <a:noFill/>
        </p:spPr>
        <p:txBody>
          <a:bodyPr wrap="square" rtlCol="0">
            <a:spAutoFit/>
          </a:bodyPr>
          <a:lstStyle/>
          <a:p>
            <a:pPr algn="just">
              <a:lnSpc>
                <a:spcPct val="150000"/>
              </a:lnSpc>
            </a:pPr>
            <a:r>
              <a:rPr lang="en-US" b="1" dirty="0" smtClean="0">
                <a:latin typeface="Times New Roman" pitchFamily="18" charset="0"/>
                <a:cs typeface="Times New Roman" pitchFamily="18" charset="0"/>
              </a:rPr>
              <a:t>First Review</a:t>
            </a:r>
          </a:p>
          <a:p>
            <a:pPr algn="just">
              <a:lnSpc>
                <a:spcPct val="150000"/>
              </a:lnSpc>
            </a:pPr>
            <a:r>
              <a:rPr lang="en-US" b="1" dirty="0" smtClean="0">
                <a:latin typeface="Times New Roman" pitchFamily="18" charset="0"/>
                <a:cs typeface="Times New Roman" pitchFamily="18" charset="0"/>
              </a:rPr>
              <a:t>Presented by:</a:t>
            </a:r>
          </a:p>
          <a:p>
            <a:pPr algn="just"/>
            <a:r>
              <a:rPr lang="en-US" dirty="0" err="1">
                <a:latin typeface="Times New Roman" pitchFamily="18" charset="0"/>
                <a:cs typeface="Times New Roman" pitchFamily="18" charset="0"/>
              </a:rPr>
              <a:t>Vidhya</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G</a:t>
            </a:r>
          </a:p>
          <a:p>
            <a:pPr algn="just"/>
            <a:r>
              <a:rPr lang="en-US" dirty="0" err="1" smtClean="0">
                <a:latin typeface="Times New Roman" pitchFamily="18" charset="0"/>
                <a:cs typeface="Times New Roman" pitchFamily="18" charset="0"/>
              </a:rPr>
              <a:t>Madhumitha</a:t>
            </a:r>
            <a:r>
              <a:rPr lang="en-US" dirty="0" smtClean="0">
                <a:latin typeface="Times New Roman" pitchFamily="18" charset="0"/>
                <a:cs typeface="Times New Roman" pitchFamily="18" charset="0"/>
              </a:rPr>
              <a:t> R</a:t>
            </a:r>
          </a:p>
          <a:p>
            <a:pPr algn="just"/>
            <a:r>
              <a:rPr lang="en-US" dirty="0" err="1" smtClean="0">
                <a:latin typeface="Times New Roman" pitchFamily="18" charset="0"/>
                <a:cs typeface="Times New Roman" pitchFamily="18" charset="0"/>
              </a:rPr>
              <a:t>Shrimathi</a:t>
            </a:r>
            <a:r>
              <a:rPr lang="en-US" dirty="0" smtClean="0">
                <a:latin typeface="Times New Roman" pitchFamily="18" charset="0"/>
                <a:cs typeface="Times New Roman" pitchFamily="18" charset="0"/>
              </a:rPr>
              <a:t> K</a:t>
            </a:r>
          </a:p>
          <a:p>
            <a:pPr algn="just"/>
            <a:r>
              <a:rPr lang="en-US" dirty="0" err="1" smtClean="0">
                <a:latin typeface="Times New Roman" pitchFamily="18" charset="0"/>
                <a:cs typeface="Times New Roman" pitchFamily="18" charset="0"/>
              </a:rPr>
              <a:t>Shobana</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R</a:t>
            </a:r>
          </a:p>
        </p:txBody>
      </p:sp>
      <p:sp>
        <p:nvSpPr>
          <p:cNvPr id="6" name="TextBox 5"/>
          <p:cNvSpPr txBox="1"/>
          <p:nvPr/>
        </p:nvSpPr>
        <p:spPr>
          <a:xfrm>
            <a:off x="5652120" y="3717033"/>
            <a:ext cx="2808312" cy="1477328"/>
          </a:xfrm>
          <a:prstGeom prst="rect">
            <a:avLst/>
          </a:prstGeom>
          <a:noFill/>
        </p:spPr>
        <p:txBody>
          <a:bodyPr wrap="square" rtlCol="0">
            <a:spAutoFit/>
          </a:bodyPr>
          <a:lstStyle/>
          <a:p>
            <a:r>
              <a:rPr lang="en-US" b="1" dirty="0" smtClean="0">
                <a:latin typeface="Times New Roman" pitchFamily="18" charset="0"/>
                <a:cs typeface="Times New Roman" pitchFamily="18" charset="0"/>
              </a:rPr>
              <a:t>Date</a:t>
            </a:r>
            <a:r>
              <a:rPr lang="en-US" b="1" smtClean="0">
                <a:latin typeface="Times New Roman" pitchFamily="18" charset="0"/>
                <a:cs typeface="Times New Roman" pitchFamily="18" charset="0"/>
              </a:rPr>
              <a:t>:  </a:t>
            </a:r>
            <a:r>
              <a:rPr lang="en-US" smtClean="0">
                <a:latin typeface="Times New Roman" pitchFamily="18" charset="0"/>
                <a:cs typeface="Times New Roman" pitchFamily="18" charset="0"/>
              </a:rPr>
              <a:t>30/01/26</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b="1" dirty="0" smtClean="0">
                <a:latin typeface="Times New Roman" pitchFamily="18" charset="0"/>
                <a:cs typeface="Times New Roman" pitchFamily="18" charset="0"/>
              </a:rPr>
              <a:t>Guided By</a:t>
            </a:r>
          </a:p>
          <a:p>
            <a:r>
              <a:rPr lang="en-US" dirty="0">
                <a:latin typeface="Times New Roman" pitchFamily="18" charset="0"/>
                <a:cs typeface="Times New Roman" pitchFamily="18" charset="0"/>
              </a:rPr>
              <a:t>Mrs. </a:t>
            </a:r>
            <a:r>
              <a:rPr lang="en-US" dirty="0" err="1">
                <a:latin typeface="Times New Roman" pitchFamily="18" charset="0"/>
                <a:cs typeface="Times New Roman" pitchFamily="18" charset="0"/>
              </a:rPr>
              <a:t>Bhuvanesawari</a:t>
            </a:r>
            <a:r>
              <a:rPr lang="en-US" dirty="0">
                <a:latin typeface="Times New Roman" pitchFamily="18" charset="0"/>
                <a:cs typeface="Times New Roman" pitchFamily="18" charset="0"/>
              </a:rPr>
              <a:t> R (A/P CSE)</a:t>
            </a:r>
          </a:p>
        </p:txBody>
      </p:sp>
    </p:spTree>
    <p:extLst>
      <p:ext uri="{BB962C8B-B14F-4D97-AF65-F5344CB8AC3E}">
        <p14:creationId xmlns:p14="http://schemas.microsoft.com/office/powerpoint/2010/main" val="3193942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latin typeface="Times New Roman" pitchFamily="18" charset="0"/>
                <a:cs typeface="Times New Roman" pitchFamily="18" charset="0"/>
              </a:rPr>
              <a:t>CONTENT</a:t>
            </a:r>
          </a:p>
        </p:txBody>
      </p:sp>
      <p:sp>
        <p:nvSpPr>
          <p:cNvPr id="3" name="Content Placeholder 2"/>
          <p:cNvSpPr>
            <a:spLocks noGrp="1"/>
          </p:cNvSpPr>
          <p:nvPr>
            <p:ph idx="1"/>
          </p:nvPr>
        </p:nvSpPr>
        <p:spPr>
          <a:xfrm>
            <a:off x="1428728" y="1142984"/>
            <a:ext cx="7258072" cy="5286412"/>
          </a:xfrm>
        </p:spPr>
        <p:txBody>
          <a:bodyPr>
            <a:normAutofit lnSpcReduction="10000"/>
          </a:bodyPr>
          <a:lstStyle/>
          <a:p>
            <a:r>
              <a:rPr lang="en-IN" sz="2400" dirty="0"/>
              <a:t> </a:t>
            </a:r>
            <a:r>
              <a:rPr lang="en-IN" sz="1800" dirty="0"/>
              <a:t>Introduction</a:t>
            </a:r>
            <a:r>
              <a:rPr lang="en-IN" sz="1800" dirty="0">
                <a:latin typeface="Times New Roman" pitchFamily="18" charset="0"/>
                <a:cs typeface="Times New Roman" pitchFamily="18" charset="0"/>
              </a:rPr>
              <a:t> </a:t>
            </a:r>
          </a:p>
          <a:p>
            <a:r>
              <a:rPr lang="en-IN" sz="1800" dirty="0"/>
              <a:t>Project Title Justification</a:t>
            </a:r>
          </a:p>
          <a:p>
            <a:r>
              <a:rPr lang="en-US" altLang="en-US" sz="1800" dirty="0"/>
              <a:t>Summary of Literature</a:t>
            </a:r>
          </a:p>
          <a:p>
            <a:r>
              <a:rPr lang="en-IN" sz="1800" dirty="0"/>
              <a:t>Identified Problem Statement</a:t>
            </a:r>
          </a:p>
          <a:p>
            <a:r>
              <a:rPr lang="en-IN" sz="1800" dirty="0"/>
              <a:t>Problem Analysis</a:t>
            </a:r>
          </a:p>
          <a:p>
            <a:r>
              <a:rPr lang="en-IN" sz="1800" dirty="0"/>
              <a:t>Objectives of the Project</a:t>
            </a:r>
          </a:p>
          <a:p>
            <a:r>
              <a:rPr lang="en-IN" sz="1800" dirty="0"/>
              <a:t>Scope of the Project</a:t>
            </a:r>
          </a:p>
          <a:p>
            <a:r>
              <a:rPr lang="en-GB" sz="1800" dirty="0"/>
              <a:t>Basic Concepts Related to the Project</a:t>
            </a:r>
          </a:p>
          <a:p>
            <a:r>
              <a:rPr lang="en-IN" sz="1800" dirty="0"/>
              <a:t>Methodology – Flow Chart</a:t>
            </a:r>
          </a:p>
          <a:p>
            <a:r>
              <a:rPr lang="en-GB" sz="1800" dirty="0"/>
              <a:t>Work progress up to 1</a:t>
            </a:r>
            <a:r>
              <a:rPr lang="en-GB" sz="1800" baseline="30000" dirty="0"/>
              <a:t>st</a:t>
            </a:r>
            <a:r>
              <a:rPr lang="en-GB" sz="1800" dirty="0"/>
              <a:t> Review</a:t>
            </a:r>
          </a:p>
          <a:p>
            <a:r>
              <a:rPr lang="en-GB" sz="1800" dirty="0"/>
              <a:t>Work to be done before 2</a:t>
            </a:r>
            <a:r>
              <a:rPr lang="en-GB" sz="1800" baseline="30000" dirty="0"/>
              <a:t>nd</a:t>
            </a:r>
            <a:r>
              <a:rPr lang="en-GB" sz="1800" dirty="0"/>
              <a:t> Review</a:t>
            </a:r>
            <a:endParaRPr lang="en-IN" sz="1800" dirty="0"/>
          </a:p>
          <a:p>
            <a:pPr>
              <a:buFont typeface="Wingdings" pitchFamily="2" charset="2"/>
              <a:buChar char="Ø"/>
            </a:pPr>
            <a:endParaRPr lang="en-IN" sz="1800" dirty="0">
              <a:latin typeface="Times New Roman" pitchFamily="18" charset="0"/>
              <a:cs typeface="Times New Roman" pitchFamily="18" charset="0"/>
            </a:endParaRPr>
          </a:p>
          <a:p>
            <a:pPr>
              <a:buFont typeface="Wingdings" pitchFamily="2" charset="2"/>
              <a:buChar char="Ø"/>
            </a:pPr>
            <a:endParaRPr lang="en-IN" sz="1800" dirty="0">
              <a:latin typeface="Times New Roman" pitchFamily="18" charset="0"/>
              <a:cs typeface="Times New Roman" pitchFamily="18" charset="0"/>
            </a:endParaRPr>
          </a:p>
          <a:p>
            <a:pPr>
              <a:buFont typeface="Wingdings" pitchFamily="2" charset="2"/>
              <a:buChar char="Ø"/>
            </a:pPr>
            <a:endParaRPr lang="en-IN" sz="1800" dirty="0">
              <a:latin typeface="Times New Roman" pitchFamily="18" charset="0"/>
              <a:cs typeface="Times New Roman" pitchFamily="18" charset="0"/>
            </a:endParaRPr>
          </a:p>
          <a:p>
            <a:pPr>
              <a:buNone/>
            </a:pPr>
            <a:endParaRPr lang="en-IN" sz="2400" dirty="0">
              <a:latin typeface="Times New Roman" pitchFamily="18" charset="0"/>
              <a:cs typeface="Times New Roman" pitchFamily="18" charset="0"/>
            </a:endParaRPr>
          </a:p>
          <a:p>
            <a:pPr>
              <a:buNone/>
            </a:pPr>
            <a:endParaRPr lang="en-IN" sz="2400" dirty="0">
              <a:latin typeface="Times New Roman" pitchFamily="18" charset="0"/>
              <a:cs typeface="Times New Roman" pitchFamily="18" charset="0"/>
            </a:endParaRPr>
          </a:p>
          <a:p>
            <a:pPr>
              <a:buNone/>
            </a:pPr>
            <a:endParaRPr lang="en-IN" sz="2400" dirty="0"/>
          </a:p>
          <a:p>
            <a:pPr>
              <a:buNone/>
            </a:pPr>
            <a:endParaRPr lang="en-IN" dirty="0"/>
          </a:p>
          <a:p>
            <a:pPr>
              <a:buNone/>
            </a:pPr>
            <a:endParaRPr lang="en-IN" dirty="0"/>
          </a:p>
        </p:txBody>
      </p:sp>
    </p:spTree>
    <p:extLst>
      <p:ext uri="{BB962C8B-B14F-4D97-AF65-F5344CB8AC3E}">
        <p14:creationId xmlns:p14="http://schemas.microsoft.com/office/powerpoint/2010/main" val="975110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Bone tumors are abnormal growths of bone tissue that can be either benign or malignant, requiring early and accurate diagnosis to improve patient survival rates. Manual analysis of medical images is time-consuming and highly dependent on radiologist expertise, which may lead to diagnostic inconsistencies. Recent advancements in Artificial Intelligence (AI), particularly Deep Learning, have shown promising results in automating medical image analysis. However, many existing models lack transparency and struggle to generalize across diverse datasets. This project introduces an Explainable AI-driven hybrid deep learning framework to enhance accuracy, interpretability, and reliability in bone tumor detection.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TITLE JUSTIFICATION</a:t>
            </a:r>
            <a:endParaRPr lang="en-US" dirty="0"/>
          </a:p>
        </p:txBody>
      </p:sp>
      <p:sp>
        <p:nvSpPr>
          <p:cNvPr id="3" name="Content Placeholder 2"/>
          <p:cNvSpPr>
            <a:spLocks noGrp="1"/>
          </p:cNvSpPr>
          <p:nvPr>
            <p:ph idx="1"/>
          </p:nvPr>
        </p:nvSpPr>
        <p:spPr/>
        <p:txBody>
          <a:bodyPr>
            <a:normAutofit fontScale="92500" lnSpcReduction="10000"/>
          </a:bodyPr>
          <a:lstStyle/>
          <a:p>
            <a:pPr algn="l"/>
            <a:r>
              <a:rPr lang="en-US" dirty="0"/>
              <a:t>The title “Explainable AI-Driven Bone Tumor Detection Using Hybrid </a:t>
            </a:r>
            <a:r>
              <a:rPr lang="en-US" dirty="0" err="1"/>
              <a:t>ResNet</a:t>
            </a:r>
            <a:r>
              <a:rPr lang="en-US" dirty="0"/>
              <a:t>, </a:t>
            </a:r>
            <a:r>
              <a:rPr lang="en-US" dirty="0" err="1"/>
              <a:t>EfficientNet</a:t>
            </a:r>
            <a:r>
              <a:rPr lang="en-US" dirty="0"/>
              <a:t>, and </a:t>
            </a:r>
            <a:r>
              <a:rPr lang="en-US" dirty="0" err="1"/>
              <a:t>ViT</a:t>
            </a:r>
            <a:r>
              <a:rPr lang="en-US" dirty="0"/>
              <a:t> Models” accurately reflects the core aspects of the </a:t>
            </a:r>
            <a:r>
              <a:rPr lang="en-US" dirty="0" smtClean="0"/>
              <a:t>project.</a:t>
            </a:r>
          </a:p>
          <a:p>
            <a:pPr algn="l"/>
            <a:r>
              <a:rPr lang="en-US" dirty="0" smtClean="0"/>
              <a:t>It </a:t>
            </a:r>
            <a:r>
              <a:rPr lang="en-US" dirty="0"/>
              <a:t>emphasizes Explainable AI, highlighting transparency through visualization techniques like </a:t>
            </a:r>
            <a:r>
              <a:rPr lang="en-US" dirty="0" smtClean="0"/>
              <a:t>Grad-CAM.</a:t>
            </a:r>
          </a:p>
          <a:p>
            <a:pPr algn="l"/>
            <a:r>
              <a:rPr lang="en-US" dirty="0" smtClean="0"/>
              <a:t>The </a:t>
            </a:r>
            <a:r>
              <a:rPr lang="en-US" dirty="0"/>
              <a:t>term Hybrid Models signifies the integration of CNN-based architectures (</a:t>
            </a:r>
            <a:r>
              <a:rPr lang="en-US" dirty="0" err="1"/>
              <a:t>ResNet</a:t>
            </a:r>
            <a:r>
              <a:rPr lang="en-US" dirty="0"/>
              <a:t>, </a:t>
            </a:r>
            <a:r>
              <a:rPr lang="en-US" dirty="0" err="1"/>
              <a:t>EfficientNet</a:t>
            </a:r>
            <a:r>
              <a:rPr lang="en-US" dirty="0"/>
              <a:t>) with Vision Transformers (</a:t>
            </a:r>
            <a:r>
              <a:rPr lang="en-US" dirty="0" err="1"/>
              <a:t>ViT</a:t>
            </a:r>
            <a:r>
              <a:rPr lang="en-US" dirty="0"/>
              <a:t>) for improved feature </a:t>
            </a:r>
            <a:r>
              <a:rPr lang="en-US" dirty="0" smtClean="0"/>
              <a:t>extraction.</a:t>
            </a:r>
          </a:p>
          <a:p>
            <a:pPr algn="l"/>
            <a:r>
              <a:rPr lang="en-US" dirty="0" smtClean="0"/>
              <a:t>Finally</a:t>
            </a:r>
            <a:r>
              <a:rPr lang="en-US" dirty="0"/>
              <a:t>, Bone Tumor Detection clearly states the medical application domain, making the title precise, relevant, and research-oriented.</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SUMMARY OF LITERATURE</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95250537"/>
              </p:ext>
            </p:extLst>
          </p:nvPr>
        </p:nvGraphicFramePr>
        <p:xfrm>
          <a:off x="578504" y="1600200"/>
          <a:ext cx="7986990" cy="4525964"/>
        </p:xfrm>
        <a:graphic>
          <a:graphicData uri="http://schemas.openxmlformats.org/drawingml/2006/table">
            <a:tbl>
              <a:tblPr>
                <a:tableStyleId>{616DA210-FB5B-4158-B5E0-FEB733F419BA}</a:tableStyleId>
              </a:tblPr>
              <a:tblGrid>
                <a:gridCol w="661573"/>
                <a:gridCol w="2533223"/>
                <a:gridCol w="1374897"/>
                <a:gridCol w="1127343"/>
                <a:gridCol w="2289954"/>
              </a:tblGrid>
              <a:tr h="354977">
                <a:tc>
                  <a:txBody>
                    <a:bodyPr/>
                    <a:lstStyle/>
                    <a:p>
                      <a:r>
                        <a:rPr lang="en-US" sz="1700" dirty="0" err="1" smtClean="0">
                          <a:latin typeface="Times New Roman" pitchFamily="18" charset="0"/>
                          <a:cs typeface="Times New Roman" pitchFamily="18" charset="0"/>
                        </a:rPr>
                        <a:t>S.No</a:t>
                      </a:r>
                      <a:endParaRPr lang="en-US" sz="1700" b="1" dirty="0">
                        <a:latin typeface="Times New Roman" pitchFamily="18" charset="0"/>
                        <a:cs typeface="Times New Roman" pitchFamily="18" charset="0"/>
                      </a:endParaRPr>
                    </a:p>
                  </a:txBody>
                  <a:tcPr marL="88744" marR="88744" marT="44372" marB="44372" anchor="ctr"/>
                </a:tc>
                <a:tc>
                  <a:txBody>
                    <a:bodyPr/>
                    <a:lstStyle/>
                    <a:p>
                      <a:r>
                        <a:rPr lang="en-US" sz="1700">
                          <a:latin typeface="Times New Roman" pitchFamily="18" charset="0"/>
                          <a:cs typeface="Times New Roman" pitchFamily="18" charset="0"/>
                        </a:rPr>
                        <a:t>Title</a:t>
                      </a:r>
                    </a:p>
                  </a:txBody>
                  <a:tcPr marL="88744" marR="88744" marT="44372" marB="44372" anchor="ctr"/>
                </a:tc>
                <a:tc>
                  <a:txBody>
                    <a:bodyPr/>
                    <a:lstStyle/>
                    <a:p>
                      <a:r>
                        <a:rPr lang="en-US" sz="1700" dirty="0">
                          <a:latin typeface="Times New Roman" pitchFamily="18" charset="0"/>
                          <a:cs typeface="Times New Roman" pitchFamily="18" charset="0"/>
                        </a:rPr>
                        <a:t>Author</a:t>
                      </a:r>
                    </a:p>
                  </a:txBody>
                  <a:tcPr marL="88744" marR="88744" marT="44372" marB="44372" anchor="ctr"/>
                </a:tc>
                <a:tc>
                  <a:txBody>
                    <a:bodyPr/>
                    <a:lstStyle/>
                    <a:p>
                      <a:r>
                        <a:rPr lang="en-US" sz="1700">
                          <a:latin typeface="Times New Roman" pitchFamily="18" charset="0"/>
                          <a:cs typeface="Times New Roman" pitchFamily="18" charset="0"/>
                        </a:rPr>
                        <a:t>Year</a:t>
                      </a:r>
                    </a:p>
                  </a:txBody>
                  <a:tcPr marL="88744" marR="88744" marT="44372" marB="44372" anchor="ctr"/>
                </a:tc>
                <a:tc>
                  <a:txBody>
                    <a:bodyPr/>
                    <a:lstStyle/>
                    <a:p>
                      <a:r>
                        <a:rPr lang="en-US" sz="1700">
                          <a:latin typeface="Times New Roman" pitchFamily="18" charset="0"/>
                          <a:cs typeface="Times New Roman" pitchFamily="18" charset="0"/>
                        </a:rPr>
                        <a:t>Findings (6 words)</a:t>
                      </a:r>
                    </a:p>
                  </a:txBody>
                  <a:tcPr marL="88744" marR="88744" marT="44372" marB="44372" anchor="ctr"/>
                </a:tc>
              </a:tr>
              <a:tr h="887444">
                <a:tc>
                  <a:txBody>
                    <a:bodyPr/>
                    <a:lstStyle/>
                    <a:p>
                      <a:r>
                        <a:rPr lang="en-US" sz="1700" dirty="0" smtClean="0">
                          <a:latin typeface="Times New Roman" pitchFamily="18" charset="0"/>
                          <a:cs typeface="Times New Roman" pitchFamily="18" charset="0"/>
                        </a:rPr>
                        <a:t>1</a:t>
                      </a:r>
                      <a:endParaRPr lang="en-US" sz="1700" dirty="0">
                        <a:latin typeface="Times New Roman" pitchFamily="18" charset="0"/>
                        <a:cs typeface="Times New Roman" pitchFamily="18" charset="0"/>
                      </a:endParaRPr>
                    </a:p>
                  </a:txBody>
                  <a:tcPr marL="88744" marR="88744" marT="44372" marB="44372" anchor="ctr"/>
                </a:tc>
                <a:tc>
                  <a:txBody>
                    <a:bodyPr/>
                    <a:lstStyle/>
                    <a:p>
                      <a:r>
                        <a:rPr lang="en-US" sz="1700">
                          <a:latin typeface="Times New Roman" pitchFamily="18" charset="0"/>
                          <a:cs typeface="Times New Roman" pitchFamily="18" charset="0"/>
                        </a:rPr>
                        <a:t>Bone Tumor Detection Using CNN</a:t>
                      </a:r>
                    </a:p>
                  </a:txBody>
                  <a:tcPr marL="88744" marR="88744" marT="44372" marB="44372" anchor="ctr"/>
                </a:tc>
                <a:tc>
                  <a:txBody>
                    <a:bodyPr/>
                    <a:lstStyle/>
                    <a:p>
                      <a:r>
                        <a:rPr lang="en-US" sz="1700">
                          <a:latin typeface="Times New Roman" pitchFamily="18" charset="0"/>
                          <a:cs typeface="Times New Roman" pitchFamily="18" charset="0"/>
                        </a:rPr>
                        <a:t>Zhang et al.</a:t>
                      </a:r>
                    </a:p>
                  </a:txBody>
                  <a:tcPr marL="88744" marR="88744" marT="44372" marB="44372" anchor="ctr"/>
                </a:tc>
                <a:tc>
                  <a:txBody>
                    <a:bodyPr/>
                    <a:lstStyle/>
                    <a:p>
                      <a:r>
                        <a:rPr lang="en-US" sz="1700">
                          <a:latin typeface="Times New Roman" pitchFamily="18" charset="0"/>
                          <a:cs typeface="Times New Roman" pitchFamily="18" charset="0"/>
                        </a:rPr>
                        <a:t>2019</a:t>
                      </a:r>
                    </a:p>
                  </a:txBody>
                  <a:tcPr marL="88744" marR="88744" marT="44372" marB="44372" anchor="ctr"/>
                </a:tc>
                <a:tc>
                  <a:txBody>
                    <a:bodyPr/>
                    <a:lstStyle/>
                    <a:p>
                      <a:r>
                        <a:rPr lang="en-US" sz="1700">
                          <a:latin typeface="Times New Roman" pitchFamily="18" charset="0"/>
                          <a:cs typeface="Times New Roman" pitchFamily="18" charset="0"/>
                        </a:rPr>
                        <a:t>CNN improves early tumor classification</a:t>
                      </a:r>
                    </a:p>
                  </a:txBody>
                  <a:tcPr marL="88744" marR="88744" marT="44372" marB="44372" anchor="ctr"/>
                </a:tc>
              </a:tr>
              <a:tr h="887444">
                <a:tc>
                  <a:txBody>
                    <a:bodyPr/>
                    <a:lstStyle/>
                    <a:p>
                      <a:r>
                        <a:rPr lang="en-US" sz="1700" dirty="0" smtClean="0">
                          <a:latin typeface="Times New Roman" pitchFamily="18" charset="0"/>
                          <a:cs typeface="Times New Roman" pitchFamily="18" charset="0"/>
                        </a:rPr>
                        <a:t>2</a:t>
                      </a:r>
                      <a:endParaRPr lang="en-US" sz="1700" dirty="0">
                        <a:latin typeface="Times New Roman" pitchFamily="18" charset="0"/>
                        <a:cs typeface="Times New Roman" pitchFamily="18" charset="0"/>
                      </a:endParaRPr>
                    </a:p>
                  </a:txBody>
                  <a:tcPr marL="88744" marR="88744" marT="44372" marB="44372" anchor="ctr"/>
                </a:tc>
                <a:tc>
                  <a:txBody>
                    <a:bodyPr/>
                    <a:lstStyle/>
                    <a:p>
                      <a:r>
                        <a:rPr lang="en-US" sz="1700">
                          <a:latin typeface="Times New Roman" pitchFamily="18" charset="0"/>
                          <a:cs typeface="Times New Roman" pitchFamily="18" charset="0"/>
                        </a:rPr>
                        <a:t>Medical Image Analysis with ResNet</a:t>
                      </a:r>
                    </a:p>
                  </a:txBody>
                  <a:tcPr marL="88744" marR="88744" marT="44372" marB="44372" anchor="ctr"/>
                </a:tc>
                <a:tc>
                  <a:txBody>
                    <a:bodyPr/>
                    <a:lstStyle/>
                    <a:p>
                      <a:r>
                        <a:rPr lang="en-US" sz="1700">
                          <a:latin typeface="Times New Roman" pitchFamily="18" charset="0"/>
                          <a:cs typeface="Times New Roman" pitchFamily="18" charset="0"/>
                        </a:rPr>
                        <a:t>He et al.</a:t>
                      </a:r>
                    </a:p>
                  </a:txBody>
                  <a:tcPr marL="88744" marR="88744" marT="44372" marB="44372" anchor="ctr"/>
                </a:tc>
                <a:tc>
                  <a:txBody>
                    <a:bodyPr/>
                    <a:lstStyle/>
                    <a:p>
                      <a:r>
                        <a:rPr lang="en-US" sz="1700">
                          <a:latin typeface="Times New Roman" pitchFamily="18" charset="0"/>
                          <a:cs typeface="Times New Roman" pitchFamily="18" charset="0"/>
                        </a:rPr>
                        <a:t>2018</a:t>
                      </a:r>
                    </a:p>
                  </a:txBody>
                  <a:tcPr marL="88744" marR="88744" marT="44372" marB="44372" anchor="ctr"/>
                </a:tc>
                <a:tc>
                  <a:txBody>
                    <a:bodyPr/>
                    <a:lstStyle/>
                    <a:p>
                      <a:r>
                        <a:rPr lang="en-US" sz="1700">
                          <a:latin typeface="Times New Roman" pitchFamily="18" charset="0"/>
                          <a:cs typeface="Times New Roman" pitchFamily="18" charset="0"/>
                        </a:rPr>
                        <a:t>Deep residual networks enhance accuracy</a:t>
                      </a:r>
                    </a:p>
                  </a:txBody>
                  <a:tcPr marL="88744" marR="88744" marT="44372" marB="44372" anchor="ctr"/>
                </a:tc>
              </a:tr>
              <a:tr h="887444">
                <a:tc>
                  <a:txBody>
                    <a:bodyPr/>
                    <a:lstStyle/>
                    <a:p>
                      <a:r>
                        <a:rPr lang="en-US" sz="1700" dirty="0" smtClean="0">
                          <a:latin typeface="Times New Roman" pitchFamily="18" charset="0"/>
                          <a:cs typeface="Times New Roman" pitchFamily="18" charset="0"/>
                        </a:rPr>
                        <a:t>3</a:t>
                      </a:r>
                      <a:endParaRPr lang="en-US" sz="1700" dirty="0">
                        <a:latin typeface="Times New Roman" pitchFamily="18" charset="0"/>
                        <a:cs typeface="Times New Roman" pitchFamily="18" charset="0"/>
                      </a:endParaRPr>
                    </a:p>
                  </a:txBody>
                  <a:tcPr marL="88744" marR="88744" marT="44372" marB="44372" anchor="ctr"/>
                </a:tc>
                <a:tc>
                  <a:txBody>
                    <a:bodyPr/>
                    <a:lstStyle/>
                    <a:p>
                      <a:r>
                        <a:rPr lang="en-US" sz="1700">
                          <a:latin typeface="Times New Roman" pitchFamily="18" charset="0"/>
                          <a:cs typeface="Times New Roman" pitchFamily="18" charset="0"/>
                        </a:rPr>
                        <a:t>EfficientNet for Medical Imaging</a:t>
                      </a:r>
                    </a:p>
                  </a:txBody>
                  <a:tcPr marL="88744" marR="88744" marT="44372" marB="44372" anchor="ctr"/>
                </a:tc>
                <a:tc>
                  <a:txBody>
                    <a:bodyPr/>
                    <a:lstStyle/>
                    <a:p>
                      <a:r>
                        <a:rPr lang="en-US" sz="1700">
                          <a:latin typeface="Times New Roman" pitchFamily="18" charset="0"/>
                          <a:cs typeface="Times New Roman" pitchFamily="18" charset="0"/>
                        </a:rPr>
                        <a:t>Tan &amp; Le</a:t>
                      </a:r>
                    </a:p>
                  </a:txBody>
                  <a:tcPr marL="88744" marR="88744" marT="44372" marB="44372" anchor="ctr"/>
                </a:tc>
                <a:tc>
                  <a:txBody>
                    <a:bodyPr/>
                    <a:lstStyle/>
                    <a:p>
                      <a:r>
                        <a:rPr lang="en-US" sz="1700">
                          <a:latin typeface="Times New Roman" pitchFamily="18" charset="0"/>
                          <a:cs typeface="Times New Roman" pitchFamily="18" charset="0"/>
                        </a:rPr>
                        <a:t>2020</a:t>
                      </a:r>
                    </a:p>
                  </a:txBody>
                  <a:tcPr marL="88744" marR="88744" marT="44372" marB="44372" anchor="ctr"/>
                </a:tc>
                <a:tc>
                  <a:txBody>
                    <a:bodyPr/>
                    <a:lstStyle/>
                    <a:p>
                      <a:r>
                        <a:rPr lang="en-US" sz="1700">
                          <a:latin typeface="Times New Roman" pitchFamily="18" charset="0"/>
                          <a:cs typeface="Times New Roman" pitchFamily="18" charset="0"/>
                        </a:rPr>
                        <a:t>Efficient scaling improves performance</a:t>
                      </a:r>
                    </a:p>
                  </a:txBody>
                  <a:tcPr marL="88744" marR="88744" marT="44372" marB="44372" anchor="ctr"/>
                </a:tc>
              </a:tr>
              <a:tr h="621211">
                <a:tc>
                  <a:txBody>
                    <a:bodyPr/>
                    <a:lstStyle/>
                    <a:p>
                      <a:r>
                        <a:rPr lang="en-US" sz="1700" dirty="0" smtClean="0">
                          <a:latin typeface="Times New Roman" pitchFamily="18" charset="0"/>
                          <a:cs typeface="Times New Roman" pitchFamily="18" charset="0"/>
                        </a:rPr>
                        <a:t>4</a:t>
                      </a:r>
                      <a:endParaRPr lang="en-US" sz="1700" dirty="0">
                        <a:latin typeface="Times New Roman" pitchFamily="18" charset="0"/>
                        <a:cs typeface="Times New Roman" pitchFamily="18" charset="0"/>
                      </a:endParaRPr>
                    </a:p>
                  </a:txBody>
                  <a:tcPr marL="88744" marR="88744" marT="44372" marB="44372" anchor="ctr"/>
                </a:tc>
                <a:tc>
                  <a:txBody>
                    <a:bodyPr/>
                    <a:lstStyle/>
                    <a:p>
                      <a:r>
                        <a:rPr lang="en-US" sz="1700">
                          <a:latin typeface="Times New Roman" pitchFamily="18" charset="0"/>
                          <a:cs typeface="Times New Roman" pitchFamily="18" charset="0"/>
                        </a:rPr>
                        <a:t>Vision Transformers in Healthcare</a:t>
                      </a:r>
                    </a:p>
                  </a:txBody>
                  <a:tcPr marL="88744" marR="88744" marT="44372" marB="44372" anchor="ctr"/>
                </a:tc>
                <a:tc>
                  <a:txBody>
                    <a:bodyPr/>
                    <a:lstStyle/>
                    <a:p>
                      <a:r>
                        <a:rPr lang="en-US" sz="1700">
                          <a:latin typeface="Times New Roman" pitchFamily="18" charset="0"/>
                          <a:cs typeface="Times New Roman" pitchFamily="18" charset="0"/>
                        </a:rPr>
                        <a:t>Dosovitskiy et al.</a:t>
                      </a:r>
                    </a:p>
                  </a:txBody>
                  <a:tcPr marL="88744" marR="88744" marT="44372" marB="44372" anchor="ctr"/>
                </a:tc>
                <a:tc>
                  <a:txBody>
                    <a:bodyPr/>
                    <a:lstStyle/>
                    <a:p>
                      <a:r>
                        <a:rPr lang="en-US" sz="1700">
                          <a:latin typeface="Times New Roman" pitchFamily="18" charset="0"/>
                          <a:cs typeface="Times New Roman" pitchFamily="18" charset="0"/>
                        </a:rPr>
                        <a:t>2021</a:t>
                      </a:r>
                    </a:p>
                  </a:txBody>
                  <a:tcPr marL="88744" marR="88744" marT="44372" marB="44372" anchor="ctr"/>
                </a:tc>
                <a:tc>
                  <a:txBody>
                    <a:bodyPr/>
                    <a:lstStyle/>
                    <a:p>
                      <a:r>
                        <a:rPr lang="fr-FR" sz="1700">
                          <a:latin typeface="Times New Roman" pitchFamily="18" charset="0"/>
                          <a:cs typeface="Times New Roman" pitchFamily="18" charset="0"/>
                        </a:rPr>
                        <a:t>ViT captures global image context</a:t>
                      </a:r>
                    </a:p>
                  </a:txBody>
                  <a:tcPr marL="88744" marR="88744" marT="44372" marB="44372" anchor="ctr"/>
                </a:tc>
              </a:tr>
              <a:tr h="887444">
                <a:tc>
                  <a:txBody>
                    <a:bodyPr/>
                    <a:lstStyle/>
                    <a:p>
                      <a:r>
                        <a:rPr lang="en-US" sz="1700" dirty="0" smtClean="0">
                          <a:latin typeface="Times New Roman" pitchFamily="18" charset="0"/>
                          <a:cs typeface="Times New Roman" pitchFamily="18" charset="0"/>
                        </a:rPr>
                        <a:t>5</a:t>
                      </a:r>
                      <a:endParaRPr lang="en-US" sz="1700" dirty="0">
                        <a:latin typeface="Times New Roman" pitchFamily="18" charset="0"/>
                        <a:cs typeface="Times New Roman" pitchFamily="18" charset="0"/>
                      </a:endParaRPr>
                    </a:p>
                  </a:txBody>
                  <a:tcPr marL="88744" marR="88744" marT="44372" marB="44372" anchor="ctr"/>
                </a:tc>
                <a:tc>
                  <a:txBody>
                    <a:bodyPr/>
                    <a:lstStyle/>
                    <a:p>
                      <a:r>
                        <a:rPr lang="en-US" sz="1700" dirty="0">
                          <a:latin typeface="Times New Roman" pitchFamily="18" charset="0"/>
                          <a:cs typeface="Times New Roman" pitchFamily="18" charset="0"/>
                        </a:rPr>
                        <a:t>Explainable AI in Medical Diagnosis</a:t>
                      </a:r>
                    </a:p>
                  </a:txBody>
                  <a:tcPr marL="88744" marR="88744" marT="44372" marB="44372" anchor="ctr"/>
                </a:tc>
                <a:tc>
                  <a:txBody>
                    <a:bodyPr/>
                    <a:lstStyle/>
                    <a:p>
                      <a:r>
                        <a:rPr lang="en-US" sz="1700" dirty="0" err="1">
                          <a:latin typeface="Times New Roman" pitchFamily="18" charset="0"/>
                          <a:cs typeface="Times New Roman" pitchFamily="18" charset="0"/>
                        </a:rPr>
                        <a:t>Selvaraju</a:t>
                      </a:r>
                      <a:r>
                        <a:rPr lang="en-US" sz="1700" dirty="0">
                          <a:latin typeface="Times New Roman" pitchFamily="18" charset="0"/>
                          <a:cs typeface="Times New Roman" pitchFamily="18" charset="0"/>
                        </a:rPr>
                        <a:t> et al.</a:t>
                      </a:r>
                    </a:p>
                  </a:txBody>
                  <a:tcPr marL="88744" marR="88744" marT="44372" marB="44372" anchor="ctr"/>
                </a:tc>
                <a:tc>
                  <a:txBody>
                    <a:bodyPr/>
                    <a:lstStyle/>
                    <a:p>
                      <a:r>
                        <a:rPr lang="en-US" sz="1700">
                          <a:latin typeface="Times New Roman" pitchFamily="18" charset="0"/>
                          <a:cs typeface="Times New Roman" pitchFamily="18" charset="0"/>
                        </a:rPr>
                        <a:t>2020</a:t>
                      </a:r>
                    </a:p>
                  </a:txBody>
                  <a:tcPr marL="88744" marR="88744" marT="44372" marB="44372" anchor="ctr"/>
                </a:tc>
                <a:tc>
                  <a:txBody>
                    <a:bodyPr/>
                    <a:lstStyle/>
                    <a:p>
                      <a:r>
                        <a:rPr lang="en-US" sz="1700" dirty="0">
                          <a:latin typeface="Times New Roman" pitchFamily="18" charset="0"/>
                          <a:cs typeface="Times New Roman" pitchFamily="18" charset="0"/>
                        </a:rPr>
                        <a:t>Grad-CAM improves model interpretability</a:t>
                      </a:r>
                    </a:p>
                  </a:txBody>
                  <a:tcPr marL="88744" marR="88744" marT="44372" marB="44372"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08030E9-46F0-D78B-2805-671D0D421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AB842E9-7D6D-6FA8-2ECF-674ACB2C5B50}"/>
              </a:ext>
            </a:extLst>
          </p:cNvPr>
          <p:cNvSpPr>
            <a:spLocks noGrp="1"/>
          </p:cNvSpPr>
          <p:nvPr>
            <p:ph type="title"/>
          </p:nvPr>
        </p:nvSpPr>
        <p:spPr/>
        <p:txBody>
          <a:bodyPr/>
          <a:lstStyle/>
          <a:p>
            <a:r>
              <a:rPr lang="en-US" dirty="0" smtClean="0"/>
              <a:t>IDENTIFIED PROBLEM STATEMENT</a:t>
            </a:r>
            <a:endParaRPr lang="en-US" dirty="0"/>
          </a:p>
        </p:txBody>
      </p:sp>
      <p:sp>
        <p:nvSpPr>
          <p:cNvPr id="3" name="Content Placeholder 2">
            <a:extLst>
              <a:ext uri="{FF2B5EF4-FFF2-40B4-BE49-F238E27FC236}">
                <a16:creationId xmlns:a16="http://schemas.microsoft.com/office/drawing/2014/main" xmlns="" id="{E747C160-CB01-89CC-3725-411781C70D13}"/>
              </a:ext>
            </a:extLst>
          </p:cNvPr>
          <p:cNvSpPr>
            <a:spLocks noGrp="1"/>
          </p:cNvSpPr>
          <p:nvPr>
            <p:ph idx="1"/>
          </p:nvPr>
        </p:nvSpPr>
        <p:spPr/>
        <p:txBody>
          <a:bodyPr/>
          <a:lstStyle/>
          <a:p>
            <a:pPr marL="0" indent="0">
              <a:buNone/>
            </a:pPr>
            <a:r>
              <a:rPr lang="en-US" dirty="0"/>
              <a:t>Existing bone tumor detection systems rely primarily on traditional CNN architectures and basic preprocessing methods, resulting in limited accuracy, poor generalization, and insufficient </a:t>
            </a:r>
            <a:r>
              <a:rPr lang="en-US" dirty="0" err="1"/>
              <a:t>explainability</a:t>
            </a:r>
            <a:r>
              <a:rPr lang="en-US" dirty="0"/>
              <a:t>, which restricts clinical trust and adoption.</a:t>
            </a:r>
          </a:p>
        </p:txBody>
      </p:sp>
    </p:spTree>
    <p:extLst>
      <p:ext uri="{BB962C8B-B14F-4D97-AF65-F5344CB8AC3E}">
        <p14:creationId xmlns:p14="http://schemas.microsoft.com/office/powerpoint/2010/main" val="3815486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ANALYSIS</a:t>
            </a:r>
            <a:endParaRPr lang="en-US" dirty="0"/>
          </a:p>
        </p:txBody>
      </p:sp>
      <p:sp>
        <p:nvSpPr>
          <p:cNvPr id="3" name="Content Placeholder 2"/>
          <p:cNvSpPr>
            <a:spLocks noGrp="1"/>
          </p:cNvSpPr>
          <p:nvPr>
            <p:ph idx="1"/>
          </p:nvPr>
        </p:nvSpPr>
        <p:spPr/>
        <p:txBody>
          <a:bodyPr>
            <a:normAutofit/>
          </a:bodyPr>
          <a:lstStyle/>
          <a:p>
            <a:r>
              <a:rPr lang="en-US" dirty="0"/>
              <a:t>CNN-only models focus mainly on local spatial features</a:t>
            </a:r>
          </a:p>
          <a:p>
            <a:r>
              <a:rPr lang="en-US" dirty="0"/>
              <a:t>Basic preprocessing techniques may miss subtle tumor boundaries</a:t>
            </a:r>
          </a:p>
          <a:p>
            <a:r>
              <a:rPr lang="en-US" dirty="0"/>
              <a:t>Lack of explainable outputs reduces doctor confidence</a:t>
            </a:r>
          </a:p>
          <a:p>
            <a:r>
              <a:rPr lang="en-US" dirty="0"/>
              <a:t>Lower accuracy limits real-world clinical usage</a:t>
            </a:r>
          </a:p>
          <a:p>
            <a:r>
              <a:rPr lang="en-US" dirty="0"/>
              <a:t>High dependency on manual interpretation still exists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OF THE PROJECT</a:t>
            </a:r>
            <a:endParaRPr lang="en-US" dirty="0"/>
          </a:p>
        </p:txBody>
      </p:sp>
      <p:sp>
        <p:nvSpPr>
          <p:cNvPr id="3" name="Content Placeholder 2"/>
          <p:cNvSpPr>
            <a:spLocks noGrp="1"/>
          </p:cNvSpPr>
          <p:nvPr>
            <p:ph idx="1"/>
          </p:nvPr>
        </p:nvSpPr>
        <p:spPr/>
        <p:txBody>
          <a:bodyPr/>
          <a:lstStyle/>
          <a:p>
            <a:r>
              <a:rPr lang="en-US" dirty="0"/>
              <a:t>To improve bone tumor detection accuracy using hybrid deep learning models</a:t>
            </a:r>
          </a:p>
          <a:p>
            <a:r>
              <a:rPr lang="en-US" dirty="0"/>
              <a:t>To integrate </a:t>
            </a:r>
            <a:r>
              <a:rPr lang="en-US" dirty="0" err="1"/>
              <a:t>ResNet</a:t>
            </a:r>
            <a:r>
              <a:rPr lang="en-US" dirty="0"/>
              <a:t>, </a:t>
            </a:r>
            <a:r>
              <a:rPr lang="en-US" dirty="0" err="1"/>
              <a:t>EfficientNet</a:t>
            </a:r>
            <a:r>
              <a:rPr lang="en-US" dirty="0"/>
              <a:t>, and Vision Transformers effectively</a:t>
            </a:r>
          </a:p>
          <a:p>
            <a:r>
              <a:rPr lang="en-US" dirty="0"/>
              <a:t>To enhance image quality using advanced preprocessing techniques</a:t>
            </a:r>
          </a:p>
          <a:p>
            <a:r>
              <a:rPr lang="en-US" dirty="0"/>
              <a:t>To provide explainable AI outputs using Grad-CAM visualization</a:t>
            </a:r>
          </a:p>
          <a:p>
            <a:r>
              <a:rPr lang="en-US" dirty="0"/>
              <a:t>To support reliable and interpretable clinical decision-making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OF THE PROJECT</a:t>
            </a:r>
            <a:endParaRPr lang="en-US" dirty="0"/>
          </a:p>
        </p:txBody>
      </p:sp>
      <p:sp>
        <p:nvSpPr>
          <p:cNvPr id="3" name="Content Placeholder 2"/>
          <p:cNvSpPr>
            <a:spLocks noGrp="1"/>
          </p:cNvSpPr>
          <p:nvPr>
            <p:ph idx="1"/>
          </p:nvPr>
        </p:nvSpPr>
        <p:spPr/>
        <p:txBody>
          <a:bodyPr/>
          <a:lstStyle/>
          <a:p>
            <a:pPr marL="0" indent="0">
              <a:buNone/>
            </a:pPr>
            <a:r>
              <a:rPr lang="en-US" dirty="0"/>
              <a:t>The project focuses on automated bone tumor detection from medical images using deep learning. It covers preprocessing, feature extraction, classification, and </a:t>
            </a:r>
            <a:r>
              <a:rPr lang="en-US" dirty="0" err="1"/>
              <a:t>explainability</a:t>
            </a:r>
            <a:r>
              <a:rPr lang="en-US" dirty="0"/>
              <a:t>. The system is intended as a </a:t>
            </a:r>
            <a:r>
              <a:rPr lang="en-US" b="1" dirty="0"/>
              <a:t>decision-support tool</a:t>
            </a:r>
            <a:r>
              <a:rPr lang="en-US" dirty="0"/>
              <a:t> for doctors and does not replace medical professionals. The scope is limited to image-based tumor detection and does not include treatment planning.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423753" cy="1143000"/>
          </a:xfrm>
        </p:spPr>
        <p:txBody>
          <a:bodyPr>
            <a:normAutofit/>
          </a:bodyPr>
          <a:lstStyle/>
          <a:p>
            <a:r>
              <a:rPr lang="en-US" dirty="0" smtClean="0"/>
              <a:t>BASIC CONCEPTS RELATED TO THE PROJECT</a:t>
            </a:r>
            <a:endParaRPr lang="en-US" dirty="0"/>
          </a:p>
        </p:txBody>
      </p:sp>
      <p:sp>
        <p:nvSpPr>
          <p:cNvPr id="3" name="Content Placeholder 2"/>
          <p:cNvSpPr>
            <a:spLocks noGrp="1"/>
          </p:cNvSpPr>
          <p:nvPr>
            <p:ph idx="1"/>
          </p:nvPr>
        </p:nvSpPr>
        <p:spPr/>
        <p:txBody>
          <a:bodyPr>
            <a:normAutofit/>
          </a:bodyPr>
          <a:lstStyle/>
          <a:p>
            <a:r>
              <a:rPr lang="en-US" b="1" dirty="0"/>
              <a:t>Convolutional Neural Networks (CNN)</a:t>
            </a:r>
            <a:r>
              <a:rPr lang="en-US" dirty="0"/>
              <a:t> – Feature extraction from images</a:t>
            </a:r>
          </a:p>
          <a:p>
            <a:r>
              <a:rPr lang="en-US" b="1" dirty="0"/>
              <a:t>Transfer Learning</a:t>
            </a:r>
            <a:r>
              <a:rPr lang="en-US" dirty="0"/>
              <a:t> – Using </a:t>
            </a:r>
            <a:r>
              <a:rPr lang="en-US" dirty="0" err="1"/>
              <a:t>pretrained</a:t>
            </a:r>
            <a:r>
              <a:rPr lang="en-US" dirty="0"/>
              <a:t> deep models</a:t>
            </a:r>
          </a:p>
          <a:p>
            <a:r>
              <a:rPr lang="en-US" b="1" dirty="0" err="1"/>
              <a:t>ResNet</a:t>
            </a:r>
            <a:r>
              <a:rPr lang="en-US" b="1" dirty="0"/>
              <a:t> &amp; </a:t>
            </a:r>
            <a:r>
              <a:rPr lang="en-US" b="1" dirty="0" err="1"/>
              <a:t>EfficientNet</a:t>
            </a:r>
            <a:r>
              <a:rPr lang="en-US" dirty="0"/>
              <a:t> – Advanced CNN architectures</a:t>
            </a:r>
          </a:p>
          <a:p>
            <a:r>
              <a:rPr lang="en-US" b="1" dirty="0"/>
              <a:t>Vision Transformers (</a:t>
            </a:r>
            <a:r>
              <a:rPr lang="en-US" b="1" dirty="0" err="1"/>
              <a:t>ViT</a:t>
            </a:r>
            <a:r>
              <a:rPr lang="en-US" b="1" dirty="0"/>
              <a:t>)</a:t>
            </a:r>
            <a:r>
              <a:rPr lang="en-US" dirty="0"/>
              <a:t> – Global contextual feature learning</a:t>
            </a:r>
          </a:p>
          <a:p>
            <a:r>
              <a:rPr lang="en-US" b="1" dirty="0"/>
              <a:t>CLAHE</a:t>
            </a:r>
            <a:r>
              <a:rPr lang="en-US" dirty="0"/>
              <a:t> – Image contrast enhancement technique</a:t>
            </a:r>
          </a:p>
          <a:p>
            <a:r>
              <a:rPr lang="en-US" b="1" dirty="0"/>
              <a:t>Explainable AI (XAI)</a:t>
            </a:r>
            <a:r>
              <a:rPr lang="en-US" dirty="0"/>
              <a:t> – Model transparency using Grad-CAM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HEALTH AND WELL-BEING</a:t>
            </a:r>
            <a:endParaRPr lang="en-US" dirty="0"/>
          </a:p>
        </p:txBody>
      </p:sp>
      <p:sp>
        <p:nvSpPr>
          <p:cNvPr id="3" name="Content Placeholder 2"/>
          <p:cNvSpPr>
            <a:spLocks noGrp="1"/>
          </p:cNvSpPr>
          <p:nvPr>
            <p:ph idx="1"/>
          </p:nvPr>
        </p:nvSpPr>
        <p:spPr/>
        <p:txBody>
          <a:bodyPr/>
          <a:lstStyle/>
          <a:p>
            <a:r>
              <a:rPr lang="en-US" dirty="0"/>
              <a:t>SDG 3, which focuses on ensuring healthy lives and promoting well-being for all, by improving medical diagnosis through advanced technology.</a:t>
            </a:r>
          </a:p>
        </p:txBody>
      </p:sp>
    </p:spTree>
    <p:extLst>
      <p:ext uri="{BB962C8B-B14F-4D97-AF65-F5344CB8AC3E}">
        <p14:creationId xmlns:p14="http://schemas.microsoft.com/office/powerpoint/2010/main" val="1318755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 – FLOW CHART</a:t>
            </a:r>
            <a:endParaRPr lang="en-US" dirty="0"/>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18287"/>
          <a:stretch/>
        </p:blipFill>
        <p:spPr>
          <a:xfrm>
            <a:off x="2336836" y="1324627"/>
            <a:ext cx="4414692" cy="5411081"/>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PROGRESS UP TO 1ST REVIEW</a:t>
            </a:r>
            <a:endParaRPr lang="en-US" dirty="0"/>
          </a:p>
        </p:txBody>
      </p:sp>
      <p:sp>
        <p:nvSpPr>
          <p:cNvPr id="3" name="Content Placeholder 2"/>
          <p:cNvSpPr>
            <a:spLocks noGrp="1"/>
          </p:cNvSpPr>
          <p:nvPr>
            <p:ph idx="1"/>
          </p:nvPr>
        </p:nvSpPr>
        <p:spPr>
          <a:xfrm>
            <a:off x="457200" y="1261997"/>
            <a:ext cx="8229600" cy="5289115"/>
          </a:xfrm>
        </p:spPr>
        <p:txBody>
          <a:bodyPr>
            <a:noAutofit/>
          </a:bodyPr>
          <a:lstStyle/>
          <a:p>
            <a:r>
              <a:rPr lang="en-US" sz="1600" dirty="0"/>
              <a:t>Problem identification → Identification of bone tumor misclassification issues in existing CNN-based medical imaging systems.</a:t>
            </a:r>
          </a:p>
          <a:p>
            <a:r>
              <a:rPr lang="en-US" sz="1600" dirty="0"/>
              <a:t>Literature survey → Detailed study of CNN, </a:t>
            </a:r>
            <a:r>
              <a:rPr lang="en-US" sz="1600" dirty="0" err="1"/>
              <a:t>ResNet</a:t>
            </a:r>
            <a:r>
              <a:rPr lang="en-US" sz="1600" dirty="0"/>
              <a:t>, </a:t>
            </a:r>
            <a:r>
              <a:rPr lang="en-US" sz="1600" dirty="0" err="1"/>
              <a:t>EfficientNet</a:t>
            </a:r>
            <a:r>
              <a:rPr lang="en-US" sz="1600" dirty="0"/>
              <a:t>, Vision Transformer, and Explainable AI approaches for bone tumor detection.</a:t>
            </a:r>
          </a:p>
          <a:p>
            <a:r>
              <a:rPr lang="en-US" sz="1600" dirty="0"/>
              <a:t>Dataset collection → Collection of publicly available bone X-ray / MRI image datasets for tumor classification.</a:t>
            </a:r>
          </a:p>
          <a:p>
            <a:r>
              <a:rPr lang="en-US" sz="1600" dirty="0"/>
              <a:t>Data preprocessing → Initial image preprocessing using resizing, normalization, and OTSU </a:t>
            </a:r>
            <a:r>
              <a:rPr lang="en-US" sz="1600" dirty="0" err="1"/>
              <a:t>thresholding</a:t>
            </a:r>
            <a:r>
              <a:rPr lang="en-US" sz="1600" dirty="0"/>
              <a:t> techniques.</a:t>
            </a:r>
          </a:p>
          <a:p>
            <a:r>
              <a:rPr lang="en-US" sz="1600" dirty="0"/>
              <a:t>Baseline model implementation → Development of a basic CNN model for bone tumor detection to establish baseline performance.</a:t>
            </a:r>
          </a:p>
          <a:p>
            <a:r>
              <a:rPr lang="en-US" sz="1600" dirty="0"/>
              <a:t>Performance analysis → Initial evaluation of baseline CNN model using accuracy, precision, recall, and F1-score metrics.</a:t>
            </a:r>
          </a:p>
        </p:txBody>
      </p:sp>
    </p:spTree>
    <p:extLst>
      <p:ext uri="{BB962C8B-B14F-4D97-AF65-F5344CB8AC3E}">
        <p14:creationId xmlns:p14="http://schemas.microsoft.com/office/powerpoint/2010/main" val="2603213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TO BE DONE BEFORE 2ND REVIEW</a:t>
            </a:r>
            <a:endParaRPr lang="en-US" dirty="0"/>
          </a:p>
        </p:txBody>
      </p:sp>
      <p:sp>
        <p:nvSpPr>
          <p:cNvPr id="3" name="Content Placeholder 2"/>
          <p:cNvSpPr>
            <a:spLocks noGrp="1"/>
          </p:cNvSpPr>
          <p:nvPr>
            <p:ph idx="1"/>
          </p:nvPr>
        </p:nvSpPr>
        <p:spPr>
          <a:xfrm>
            <a:off x="457200" y="1301772"/>
            <a:ext cx="8229600" cy="5101225"/>
          </a:xfrm>
        </p:spPr>
        <p:txBody>
          <a:bodyPr>
            <a:noAutofit/>
          </a:bodyPr>
          <a:lstStyle/>
          <a:p>
            <a:r>
              <a:rPr lang="en-US" sz="1800" dirty="0"/>
              <a:t>Advanced preprocessing → Implementation of CLAHE and adaptive morphological operations to enhance tumor visibility.</a:t>
            </a:r>
          </a:p>
          <a:p>
            <a:r>
              <a:rPr lang="en-US" sz="1800" dirty="0"/>
              <a:t>Feature extraction → Extraction of deep features using hybrid ResNet-50 and </a:t>
            </a:r>
            <a:r>
              <a:rPr lang="en-US" sz="1800" dirty="0" err="1"/>
              <a:t>EfficientNet</a:t>
            </a:r>
            <a:r>
              <a:rPr lang="en-US" sz="1800" dirty="0"/>
              <a:t> architectures with transfer learning.</a:t>
            </a:r>
          </a:p>
          <a:p>
            <a:r>
              <a:rPr lang="en-US" sz="1800" dirty="0"/>
              <a:t>Transformer integration → Integration of Vision Transformer (</a:t>
            </a:r>
            <a:r>
              <a:rPr lang="en-US" sz="1800" dirty="0" err="1"/>
              <a:t>ViT</a:t>
            </a:r>
            <a:r>
              <a:rPr lang="en-US" sz="1800" dirty="0"/>
              <a:t>) to capture global contextual image features.</a:t>
            </a:r>
          </a:p>
          <a:p>
            <a:r>
              <a:rPr lang="en-US" sz="1800" dirty="0"/>
              <a:t>Hybrid model development → Development of an ensemble framework combining CNN-based models and </a:t>
            </a:r>
            <a:r>
              <a:rPr lang="en-US" sz="1800" dirty="0" err="1"/>
              <a:t>ViT</a:t>
            </a:r>
            <a:r>
              <a:rPr lang="en-US" sz="1800" dirty="0"/>
              <a:t> predictions.</a:t>
            </a:r>
          </a:p>
          <a:p>
            <a:r>
              <a:rPr lang="en-US" sz="1800" dirty="0" err="1"/>
              <a:t>Explainability</a:t>
            </a:r>
            <a:r>
              <a:rPr lang="en-US" sz="1800" dirty="0"/>
              <a:t> integration → Implementation of Grad-CAM visualization for CNN models and attention maps for </a:t>
            </a:r>
            <a:r>
              <a:rPr lang="en-US" sz="1800" dirty="0" err="1"/>
              <a:t>ViT</a:t>
            </a:r>
            <a:r>
              <a:rPr lang="en-US" sz="1800" dirty="0"/>
              <a:t>-based interpretability.</a:t>
            </a:r>
          </a:p>
          <a:p>
            <a:r>
              <a:rPr lang="en-US" sz="1800" dirty="0"/>
              <a:t>Model optimization and evaluation → </a:t>
            </a:r>
            <a:r>
              <a:rPr lang="en-US" sz="1800" dirty="0" err="1"/>
              <a:t>Hyperparameter</a:t>
            </a:r>
            <a:r>
              <a:rPr lang="en-US" sz="1800" dirty="0"/>
              <a:t> tuning, cross-validation, and performance comparison with baseline CNN models.</a:t>
            </a:r>
          </a:p>
        </p:txBody>
      </p:sp>
    </p:spTree>
    <p:extLst>
      <p:ext uri="{BB962C8B-B14F-4D97-AF65-F5344CB8AC3E}">
        <p14:creationId xmlns:p14="http://schemas.microsoft.com/office/powerpoint/2010/main" val="4209629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THANK YOU</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373</TotalTime>
  <Words>880</Words>
  <Application>Microsoft Office PowerPoint</Application>
  <PresentationFormat>On-screen Show (4:3)</PresentationFormat>
  <Paragraphs>109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Explainable AI-Driven Bone Tumor Detection Using Hybrid ResNet, EfficientNet, and ViT Models</vt:lpstr>
      <vt:lpstr>CONTENT</vt:lpstr>
      <vt:lpstr>INTRODUCTION</vt:lpstr>
      <vt:lpstr>PROJECT TITLE JUSTIFICATION</vt:lpstr>
      <vt:lpstr>SUMMARY OF LITERATURE</vt:lpstr>
      <vt:lpstr>IDENTIFIED PROBLEM STATEMENT</vt:lpstr>
      <vt:lpstr>PROBLEM ANALYSIS</vt:lpstr>
      <vt:lpstr>OBJECTIVES OF THE PROJECT</vt:lpstr>
      <vt:lpstr>SCOPE OF THE PROJECT</vt:lpstr>
      <vt:lpstr>BASIC CONCEPTS RELATED TO THE PROJECT</vt:lpstr>
      <vt:lpstr>GOOD HEALTH AND WELL-BEING</vt:lpstr>
      <vt:lpstr>METHODOLOGY – FLOW CHART</vt:lpstr>
      <vt:lpstr>WORK PROGRESS UP TO 1ST REVIEW</vt:lpstr>
      <vt:lpstr>WORK TO BE DONE BEFORE 2ND REVIEW</vt:lpstr>
      <vt:lpstr>THANK YOU</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dc:description>generated using python-pptx</dc:description>
  <cp:lastModifiedBy>HP</cp:lastModifiedBy>
  <cp:revision>18</cp:revision>
  <dcterms:created xsi:type="dcterms:W3CDTF">2013-01-27T09:14:16Z</dcterms:created>
  <dcterms:modified xsi:type="dcterms:W3CDTF">2026-01-30T08:53:59Z</dcterms:modified>
</cp:coreProperties>
</file>